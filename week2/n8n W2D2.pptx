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1676b083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1676b083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9d146eff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19d146eff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2e82097e8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b2e82097e8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2e82097e8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b2e82097e8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2e82097e8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b2e82097e8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2e82097e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b2e82097e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7656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Two integration patterns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Voice + Workflow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70475" y="1222675"/>
            <a:ext cx="2588700" cy="2088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Montserrat"/>
                <a:ea typeface="Montserrat"/>
                <a:cs typeface="Montserrat"/>
                <a:sym typeface="Montserrat"/>
              </a:rPr>
              <a:t>n8n orchestration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End-to-end workflow in n8n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Call ElevenLabs API for TTS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Call ElevenLabs API for STT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2891325" y="1222675"/>
            <a:ext cx="2588700" cy="208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ElevenLabs</a:t>
            </a:r>
            <a:r>
              <a:rPr b="1"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orchestration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</a:t>
            </a: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Agent in ElevenLabs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Have a tool that calls n8n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workflow in n8n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219200" y="3541675"/>
            <a:ext cx="2539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Benefits:</a:t>
            </a:r>
            <a:endParaRPr b="1" sz="12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Simple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All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workflow in one place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More switchable API 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2940225" y="3523725"/>
            <a:ext cx="2539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Benefits:</a:t>
            </a:r>
            <a:endParaRPr b="1" sz="12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Low latency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Best of both products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Advanced Voice features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311658" y="4030292"/>
            <a:ext cx="66000" cy="508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025908" y="4030292"/>
            <a:ext cx="66000" cy="508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Refresher on</a:t>
            </a: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Webhooks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APIs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893681" y="1868935"/>
            <a:ext cx="1002900" cy="100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Node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2" name="Google Shape;112;p17"/>
          <p:cNvGrpSpPr/>
          <p:nvPr/>
        </p:nvGrpSpPr>
        <p:grpSpPr>
          <a:xfrm>
            <a:off x="3780831" y="1868935"/>
            <a:ext cx="1002900" cy="1002900"/>
            <a:chOff x="148477" y="3657563"/>
            <a:chExt cx="1002900" cy="1002900"/>
          </a:xfrm>
        </p:grpSpPr>
        <p:sp>
          <p:nvSpPr>
            <p:cNvPr id="113" name="Google Shape;113;p17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noFill/>
            <a:ln cap="flat" cmpd="sng" w="19050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4" name="Google Shape;114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3856115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5" name="Google Shape;115;p17"/>
          <p:cNvCxnSpPr>
            <a:stCxn id="111" idx="6"/>
            <a:endCxn id="113" idx="2"/>
          </p:cNvCxnSpPr>
          <p:nvPr/>
        </p:nvCxnSpPr>
        <p:spPr>
          <a:xfrm>
            <a:off x="2896581" y="2370385"/>
            <a:ext cx="884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" name="Google Shape;116;p17"/>
          <p:cNvSpPr txBox="1"/>
          <p:nvPr/>
        </p:nvSpPr>
        <p:spPr>
          <a:xfrm>
            <a:off x="2846779" y="2047023"/>
            <a:ext cx="8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Endpoint</a:t>
            </a:r>
            <a:endParaRPr b="1" sz="800">
              <a:solidFill>
                <a:schemeClr val="accent1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2846779" y="2370396"/>
            <a:ext cx="88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Request /</a:t>
            </a:r>
            <a:endParaRPr sz="8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Response to carry out an action</a:t>
            </a:r>
            <a:endParaRPr sz="800">
              <a:solidFill>
                <a:schemeClr val="accent1"/>
              </a:solidFill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3780981" y="1868935"/>
            <a:ext cx="1002900" cy="1002900"/>
            <a:chOff x="148477" y="3657563"/>
            <a:chExt cx="1002900" cy="1002900"/>
          </a:xfrm>
        </p:grpSpPr>
        <p:sp>
          <p:nvSpPr>
            <p:cNvPr id="119" name="Google Shape;119;p17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noFill/>
            <a:ln cap="flat" cmpd="sng" w="19050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0" name="Google Shape;12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3856115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7"/>
          <p:cNvGrpSpPr/>
          <p:nvPr/>
        </p:nvGrpSpPr>
        <p:grpSpPr>
          <a:xfrm>
            <a:off x="254781" y="1868935"/>
            <a:ext cx="1002900" cy="1002900"/>
            <a:chOff x="148477" y="3657563"/>
            <a:chExt cx="1002900" cy="1002900"/>
          </a:xfrm>
        </p:grpSpPr>
        <p:sp>
          <p:nvSpPr>
            <p:cNvPr id="122" name="Google Shape;122;p17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noFill/>
            <a:ln cap="flat" cmpd="sng" w="19050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3" name="Google Shape;12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3856115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24" name="Google Shape;124;p17"/>
          <p:cNvCxnSpPr>
            <a:stCxn id="122" idx="6"/>
            <a:endCxn id="111" idx="2"/>
          </p:cNvCxnSpPr>
          <p:nvPr/>
        </p:nvCxnSpPr>
        <p:spPr>
          <a:xfrm>
            <a:off x="1257681" y="2370385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5" name="Google Shape;125;p17"/>
          <p:cNvSpPr txBox="1"/>
          <p:nvPr/>
        </p:nvSpPr>
        <p:spPr>
          <a:xfrm>
            <a:off x="1132429" y="2047023"/>
            <a:ext cx="8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Webhook</a:t>
            </a:r>
            <a:endParaRPr b="1" sz="800">
              <a:solidFill>
                <a:schemeClr val="accent1"/>
              </a:solidFill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1140074" y="2370396"/>
            <a:ext cx="88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Trigger that an event has happened</a:t>
            </a:r>
            <a:endParaRPr sz="8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316814" y="1484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Deeper terminology on APIs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316824" y="710000"/>
            <a:ext cx="46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12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You don’t need to remember this! We will review often.</a:t>
            </a:r>
            <a:endParaRPr b="0" i="0" sz="12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145150" y="1210925"/>
            <a:ext cx="5369400" cy="1293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Calling an API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” is achieved by making a web request using HTTP, the language of the internet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URL is known as an 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Endpoint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“I’m calling an API by making an HTTP request to an Endpoint”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145150" y="2591411"/>
            <a:ext cx="5369400" cy="12930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When you’re on the receiving end, and you want someone to call your URL when they have information for you, that endpoint is known as a 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Webhook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“I’ve set up a Webhook - make an HTTP request there to notify me about X” or “Tell me your Webhook so I can notify you”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145150" y="4004947"/>
            <a:ext cx="5369400" cy="923400"/>
          </a:xfrm>
          <a:prstGeom prst="rect">
            <a:avLst/>
          </a:prstGeom>
          <a:noFill/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There are different flavors of HTTP Request, called the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Method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are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GET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POST</a:t>
            </a:r>
            <a:endParaRPr b="1" sz="12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GET is usually used to fetch information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POST is usually used to send information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Generic Nodes in n8n for APIs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APIs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1893681" y="1631238"/>
            <a:ext cx="1002900" cy="100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Node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3" name="Google Shape;143;p19"/>
          <p:cNvGrpSpPr/>
          <p:nvPr/>
        </p:nvGrpSpPr>
        <p:grpSpPr>
          <a:xfrm>
            <a:off x="3780831" y="1631238"/>
            <a:ext cx="1002900" cy="1002900"/>
            <a:chOff x="148477" y="3657563"/>
            <a:chExt cx="1002900" cy="1002900"/>
          </a:xfrm>
        </p:grpSpPr>
        <p:sp>
          <p:nvSpPr>
            <p:cNvPr id="144" name="Google Shape;144;p19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noFill/>
            <a:ln cap="flat" cmpd="sng" w="19050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5" name="Google Shape;145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3856115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6" name="Google Shape;146;p19"/>
          <p:cNvCxnSpPr>
            <a:stCxn id="142" idx="6"/>
            <a:endCxn id="144" idx="2"/>
          </p:cNvCxnSpPr>
          <p:nvPr/>
        </p:nvCxnSpPr>
        <p:spPr>
          <a:xfrm>
            <a:off x="2896581" y="2132688"/>
            <a:ext cx="884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7" name="Google Shape;147;p19"/>
          <p:cNvSpPr txBox="1"/>
          <p:nvPr/>
        </p:nvSpPr>
        <p:spPr>
          <a:xfrm>
            <a:off x="2846779" y="1809326"/>
            <a:ext cx="8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Endpoint</a:t>
            </a:r>
            <a:endParaRPr b="1" sz="800">
              <a:solidFill>
                <a:schemeClr val="accent1"/>
              </a:solidFill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2846779" y="2132699"/>
            <a:ext cx="886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Request /</a:t>
            </a:r>
            <a:endParaRPr sz="8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Response to carry out an action</a:t>
            </a:r>
            <a:endParaRPr sz="800">
              <a:solidFill>
                <a:schemeClr val="accent1"/>
              </a:solidFill>
            </a:endParaRPr>
          </a:p>
        </p:txBody>
      </p:sp>
      <p:grpSp>
        <p:nvGrpSpPr>
          <p:cNvPr id="149" name="Google Shape;149;p19"/>
          <p:cNvGrpSpPr/>
          <p:nvPr/>
        </p:nvGrpSpPr>
        <p:grpSpPr>
          <a:xfrm>
            <a:off x="3780981" y="1631238"/>
            <a:ext cx="1002900" cy="1002900"/>
            <a:chOff x="148477" y="3657563"/>
            <a:chExt cx="1002900" cy="1002900"/>
          </a:xfrm>
        </p:grpSpPr>
        <p:sp>
          <p:nvSpPr>
            <p:cNvPr id="150" name="Google Shape;150;p19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noFill/>
            <a:ln cap="flat" cmpd="sng" w="19050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1" name="Google Shape;15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3856115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19"/>
          <p:cNvGrpSpPr/>
          <p:nvPr/>
        </p:nvGrpSpPr>
        <p:grpSpPr>
          <a:xfrm>
            <a:off x="254781" y="1631238"/>
            <a:ext cx="1002900" cy="1002900"/>
            <a:chOff x="148477" y="3657563"/>
            <a:chExt cx="1002900" cy="1002900"/>
          </a:xfrm>
        </p:grpSpPr>
        <p:sp>
          <p:nvSpPr>
            <p:cNvPr id="153" name="Google Shape;153;p19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noFill/>
            <a:ln cap="flat" cmpd="sng" w="19050">
              <a:solidFill>
                <a:srgbClr val="209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4" name="Google Shape;15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3856115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5" name="Google Shape;155;p19"/>
          <p:cNvCxnSpPr>
            <a:stCxn id="153" idx="6"/>
            <a:endCxn id="142" idx="2"/>
          </p:cNvCxnSpPr>
          <p:nvPr/>
        </p:nvCxnSpPr>
        <p:spPr>
          <a:xfrm>
            <a:off x="1257681" y="2132688"/>
            <a:ext cx="636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" name="Google Shape;156;p19"/>
          <p:cNvSpPr txBox="1"/>
          <p:nvPr/>
        </p:nvSpPr>
        <p:spPr>
          <a:xfrm>
            <a:off x="1132429" y="1809326"/>
            <a:ext cx="88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Webhook</a:t>
            </a:r>
            <a:endParaRPr b="1" sz="800">
              <a:solidFill>
                <a:schemeClr val="accent1"/>
              </a:solidFill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140074" y="2132699"/>
            <a:ext cx="88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Trigger that an event has happened</a:t>
            </a:r>
            <a:endParaRPr sz="800">
              <a:solidFill>
                <a:schemeClr val="accent1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406097" y="2841200"/>
            <a:ext cx="23247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rPr>
              <a:t>Generic version:</a:t>
            </a:r>
            <a:br>
              <a:rPr b="1" lang="uk" sz="12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200">
              <a:solidFill>
                <a:srgbClr val="209DD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rPr>
              <a:t>HTTP Request Node</a:t>
            </a:r>
            <a:endParaRPr b="1" sz="1200">
              <a:solidFill>
                <a:srgbClr val="209DD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09DD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Calls a URL endpoint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node output is based on the result</a:t>
            </a:r>
            <a:endParaRPr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174650" y="2841188"/>
            <a:ext cx="3042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rPr>
              <a:t>Generic version:</a:t>
            </a:r>
            <a:br>
              <a:rPr b="1" lang="uk" sz="12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200">
              <a:solidFill>
                <a:srgbClr val="209DD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rPr>
              <a:t>Webhook Node</a:t>
            </a:r>
            <a:endParaRPr b="1" sz="1200">
              <a:solidFill>
                <a:srgbClr val="209DD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Has a test URL and prod URL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Triggered by someone hitting URL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Returns immediately, or after a </a:t>
            </a:r>
            <a:r>
              <a:rPr b="1" lang="uk" sz="12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rPr>
              <a:t>Respond to Webhook 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node is run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87" name="Google Shape;187;p20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190" name="Google Shape;190;p20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92" name="Google Shape;192;p20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93" name="Google Shape;193;p20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47%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