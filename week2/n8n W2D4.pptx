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7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2f4f2e7e1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2f4f2e7e1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2f4f2e7e1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b2f4f2e7e1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2f4f2e7e1_0_4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b2f4f2e7e1_0_4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2f4f2e7e1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b2f4f2e7e1_0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2f4f2e7e1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b2f4f2e7e1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310af643e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b310af643e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310af643e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b310af643e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310af643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b310af643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148438"/>
            <a:ext cx="844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Recap: RAG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Give LLMs expertise by adding information to the prompt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sp>
          <p:nvSpPr>
            <p:cNvPr id="99" name="Google Shape;99;p16"/>
            <p:cNvSpPr txBox="1"/>
            <p:nvPr/>
          </p:nvSpPr>
          <p:spPr>
            <a:xfrm>
              <a:off x="1216450" y="153170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Make your LLM more knowledgeable</a:t>
              </a:r>
              <a:endPara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1216450" y="1753474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“Retrieval Augmented Generation” is a clever trick that works well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2" name="Google Shape;102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7962" y="1500210"/>
              <a:ext cx="603924" cy="603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148477" y="2479125"/>
            <a:ext cx="5961873" cy="1002900"/>
            <a:chOff x="148477" y="2479125"/>
            <a:chExt cx="5961873" cy="1002900"/>
          </a:xfrm>
        </p:grpSpPr>
        <p:sp>
          <p:nvSpPr>
            <p:cNvPr id="104" name="Google Shape;104;p16"/>
            <p:cNvSpPr txBox="1"/>
            <p:nvPr/>
          </p:nvSpPr>
          <p:spPr>
            <a:xfrm>
              <a:off x="1216450" y="2701650"/>
              <a:ext cx="489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Small idea: simply add information to the Prompt</a:t>
              </a:r>
              <a:endPara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1216450" y="2923426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“Here is some context that you might find useful in answering the question”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148477" y="2479125"/>
              <a:ext cx="1002900" cy="100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7" name="Google Shape;107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6825" y="2678635"/>
              <a:ext cx="603924" cy="6039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16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sp>
          <p:nvSpPr>
            <p:cNvPr id="109" name="Google Shape;109;p16"/>
            <p:cNvSpPr txBox="1"/>
            <p:nvPr/>
          </p:nvSpPr>
          <p:spPr>
            <a:xfrm>
              <a:off x="1216450" y="388009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rgbClr val="B181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Big idea: a trick to get a relevant subset of data </a:t>
              </a:r>
              <a:endParaRPr b="0" i="0" sz="1100" u="none" cap="none" strike="noStrike">
                <a:solidFill>
                  <a:srgbClr val="B181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1216450" y="4101863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use an LLM to do it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2" name="Google Shape;112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6827" y="3821075"/>
              <a:ext cx="603924" cy="60389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/>
        </p:nvSpPr>
        <p:spPr>
          <a:xfrm>
            <a:off x="316814" y="148438"/>
            <a:ext cx="844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Recap: The Embedding Model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</a:t>
            </a:r>
            <a:r>
              <a:rPr lang="uk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special kind of LLM that turns language into numbers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sp>
          <p:nvSpPr>
            <p:cNvPr id="119" name="Google Shape;119;p17"/>
            <p:cNvSpPr txBox="1"/>
            <p:nvPr/>
          </p:nvSpPr>
          <p:spPr>
            <a:xfrm>
              <a:off x="1216450" y="153170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Outputs a list of numbers (“vector”) to represent text</a:t>
              </a:r>
              <a:endPara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1216450" y="1753474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Can think of it as a point in space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2" name="Google Shape;122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7962" y="1500210"/>
              <a:ext cx="603924" cy="603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17"/>
          <p:cNvGrpSpPr/>
          <p:nvPr/>
        </p:nvGrpSpPr>
        <p:grpSpPr>
          <a:xfrm>
            <a:off x="148477" y="2479125"/>
            <a:ext cx="5961873" cy="1002900"/>
            <a:chOff x="148477" y="2479125"/>
            <a:chExt cx="5961873" cy="1002900"/>
          </a:xfrm>
        </p:grpSpPr>
        <p:sp>
          <p:nvSpPr>
            <p:cNvPr id="124" name="Google Shape;124;p17"/>
            <p:cNvSpPr txBox="1"/>
            <p:nvPr/>
          </p:nvSpPr>
          <p:spPr>
            <a:xfrm>
              <a:off x="1216450" y="2701650"/>
              <a:ext cx="489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Text with similar numbers represent similar things</a:t>
              </a:r>
              <a:endPara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1216450" y="2923426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“Close to each other in vector space”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148477" y="2479125"/>
              <a:ext cx="1002900" cy="100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7" name="Google Shape;127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6825" y="2678635"/>
              <a:ext cx="603924" cy="6039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" name="Google Shape;128;p17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sp>
          <p:nvSpPr>
            <p:cNvPr id="129" name="Google Shape;129;p17"/>
            <p:cNvSpPr txBox="1"/>
            <p:nvPr/>
          </p:nvSpPr>
          <p:spPr>
            <a:xfrm>
              <a:off x="1216450" y="388009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rgbClr val="B181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gives us an elegant way to do a fuzzy search</a:t>
              </a:r>
              <a:endParaRPr b="0" i="0" sz="1100" u="none" cap="none" strike="noStrike">
                <a:solidFill>
                  <a:srgbClr val="B181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216450" y="4101863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“Semantic Search”: find text with vectors that are close by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2" name="Google Shape;132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6827" y="3821075"/>
              <a:ext cx="603924" cy="60389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316814" y="148438"/>
            <a:ext cx="8448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big idea behind RAG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2098473" y="2221150"/>
            <a:ext cx="1071300" cy="1071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8"/>
          <p:cNvGrpSpPr/>
          <p:nvPr/>
        </p:nvGrpSpPr>
        <p:grpSpPr>
          <a:xfrm>
            <a:off x="2098473" y="2221150"/>
            <a:ext cx="1071300" cy="1312836"/>
            <a:chOff x="2098473" y="2221151"/>
            <a:chExt cx="1071300" cy="1312836"/>
          </a:xfrm>
        </p:grpSpPr>
        <p:pic>
          <p:nvPicPr>
            <p:cNvPr descr="Code (1).png" id="140" name="Google Shape;14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98473" y="2221150"/>
              <a:ext cx="1071300" cy="1071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41" name="Google Shape;141;p18"/>
            <p:cNvSpPr/>
            <p:nvPr/>
          </p:nvSpPr>
          <p:spPr>
            <a:xfrm>
              <a:off x="2433788" y="3361187"/>
              <a:ext cx="400800" cy="1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100"/>
                <a:buFont typeface="Montserrat"/>
                <a:buNone/>
              </a:pPr>
              <a:r>
                <a:rPr lang="uk" sz="110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n8n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18"/>
          <p:cNvSpPr/>
          <p:nvPr/>
        </p:nvSpPr>
        <p:spPr>
          <a:xfrm>
            <a:off x="4174309" y="2164016"/>
            <a:ext cx="1071300" cy="1071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LM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4309" y="2164016"/>
            <a:ext cx="1071300" cy="1071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4544977" y="3304051"/>
            <a:ext cx="3300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100"/>
              <a:buFont typeface="Montserrat"/>
              <a:buNone/>
            </a:pPr>
            <a:r>
              <a:rPr b="0" i="0" lang="uk" sz="11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74993" y="2221150"/>
            <a:ext cx="1071300" cy="1071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18"/>
          <p:cNvGrpSpPr/>
          <p:nvPr/>
        </p:nvGrpSpPr>
        <p:grpSpPr>
          <a:xfrm>
            <a:off x="74993" y="2221150"/>
            <a:ext cx="1071300" cy="1312836"/>
            <a:chOff x="74993" y="2221151"/>
            <a:chExt cx="1071300" cy="1312836"/>
          </a:xfrm>
        </p:grpSpPr>
        <p:pic>
          <p:nvPicPr>
            <p:cNvPr descr="Chat.png" id="147" name="Google Shape;147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993" y="2221150"/>
              <a:ext cx="1071300" cy="1071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48" name="Google Shape;148;p18"/>
            <p:cNvSpPr/>
            <p:nvPr/>
          </p:nvSpPr>
          <p:spPr>
            <a:xfrm>
              <a:off x="257113" y="3361187"/>
              <a:ext cx="706800" cy="1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100"/>
                <a:buFont typeface="Montserrat"/>
                <a:buNone/>
              </a:pPr>
              <a:r>
                <a:rPr b="0" i="0" lang="uk" sz="110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Chat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18"/>
          <p:cNvSpPr/>
          <p:nvPr/>
        </p:nvSpPr>
        <p:spPr>
          <a:xfrm>
            <a:off x="2255597" y="4020926"/>
            <a:ext cx="799800" cy="7998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ectore Databas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5597" y="4020926"/>
            <a:ext cx="799800" cy="799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1" name="Google Shape;151;p18"/>
          <p:cNvSpPr/>
          <p:nvPr/>
        </p:nvSpPr>
        <p:spPr>
          <a:xfrm>
            <a:off x="2081149" y="4910993"/>
            <a:ext cx="12885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100"/>
              <a:buFont typeface="Montserrat"/>
              <a:buNone/>
            </a:pPr>
            <a:r>
              <a:rPr b="0" i="0" lang="uk" sz="11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Vector Datastore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18"/>
          <p:cNvGrpSpPr/>
          <p:nvPr/>
        </p:nvGrpSpPr>
        <p:grpSpPr>
          <a:xfrm>
            <a:off x="3170920" y="2432620"/>
            <a:ext cx="929635" cy="235385"/>
            <a:chOff x="7146725" y="3243493"/>
            <a:chExt cx="1239513" cy="313847"/>
          </a:xfrm>
        </p:grpSpPr>
        <p:cxnSp>
          <p:nvCxnSpPr>
            <p:cNvPr id="153" name="Google Shape;153;p18"/>
            <p:cNvCxnSpPr/>
            <p:nvPr/>
          </p:nvCxnSpPr>
          <p:spPr>
            <a:xfrm>
              <a:off x="7270308" y="3488820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4" name="Google Shape;154;p18"/>
            <p:cNvSpPr/>
            <p:nvPr/>
          </p:nvSpPr>
          <p:spPr>
            <a:xfrm rot="5400000">
              <a:off x="8249138" y="342024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7146725" y="3243493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Prompt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18"/>
          <p:cNvGrpSpPr/>
          <p:nvPr/>
        </p:nvGrpSpPr>
        <p:grpSpPr>
          <a:xfrm>
            <a:off x="1200614" y="2850904"/>
            <a:ext cx="887099" cy="232333"/>
            <a:chOff x="4011650" y="3801205"/>
            <a:chExt cx="1182799" cy="309777"/>
          </a:xfrm>
        </p:grpSpPr>
        <p:cxnSp>
          <p:nvCxnSpPr>
            <p:cNvPr id="157" name="Google Shape;157;p18"/>
            <p:cNvCxnSpPr/>
            <p:nvPr/>
          </p:nvCxnSpPr>
          <p:spPr>
            <a:xfrm>
              <a:off x="4080230" y="3869725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8" name="Google Shape;158;p18"/>
            <p:cNvSpPr/>
            <p:nvPr/>
          </p:nvSpPr>
          <p:spPr>
            <a:xfrm rot="-5400000">
              <a:off x="4011650" y="380120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4251849" y="3930982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Answer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18"/>
          <p:cNvGrpSpPr/>
          <p:nvPr/>
        </p:nvGrpSpPr>
        <p:grpSpPr>
          <a:xfrm>
            <a:off x="2594717" y="3610997"/>
            <a:ext cx="757066" cy="354234"/>
            <a:chOff x="6175255" y="4814663"/>
            <a:chExt cx="1009422" cy="472312"/>
          </a:xfrm>
        </p:grpSpPr>
        <p:cxnSp>
          <p:nvCxnSpPr>
            <p:cNvPr id="161" name="Google Shape;161;p18"/>
            <p:cNvCxnSpPr/>
            <p:nvPr/>
          </p:nvCxnSpPr>
          <p:spPr>
            <a:xfrm rot="5400000">
              <a:off x="6076285" y="5050793"/>
              <a:ext cx="3351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2" name="Google Shape;162;p18"/>
            <p:cNvSpPr/>
            <p:nvPr/>
          </p:nvSpPr>
          <p:spPr>
            <a:xfrm>
              <a:off x="6175255" y="4814663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 rot="10800000">
              <a:off x="6175315" y="514987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6242077" y="4978470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Retrieve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18"/>
          <p:cNvGrpSpPr/>
          <p:nvPr/>
        </p:nvGrpSpPr>
        <p:grpSpPr>
          <a:xfrm>
            <a:off x="1195072" y="2432620"/>
            <a:ext cx="893925" cy="235385"/>
            <a:chOff x="4004261" y="3243493"/>
            <a:chExt cx="1191900" cy="313847"/>
          </a:xfrm>
        </p:grpSpPr>
        <p:cxnSp>
          <p:nvCxnSpPr>
            <p:cNvPr id="166" name="Google Shape;166;p18"/>
            <p:cNvCxnSpPr/>
            <p:nvPr/>
          </p:nvCxnSpPr>
          <p:spPr>
            <a:xfrm>
              <a:off x="4080230" y="3488820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7" name="Google Shape;167;p18"/>
            <p:cNvSpPr/>
            <p:nvPr/>
          </p:nvSpPr>
          <p:spPr>
            <a:xfrm rot="5400000">
              <a:off x="5059061" y="342024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4004261" y="3243493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Question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18"/>
          <p:cNvGrpSpPr/>
          <p:nvPr/>
        </p:nvGrpSpPr>
        <p:grpSpPr>
          <a:xfrm>
            <a:off x="3212172" y="2850904"/>
            <a:ext cx="908525" cy="238079"/>
            <a:chOff x="7201728" y="3801205"/>
            <a:chExt cx="1211366" cy="317439"/>
          </a:xfrm>
        </p:grpSpPr>
        <p:cxnSp>
          <p:nvCxnSpPr>
            <p:cNvPr id="170" name="Google Shape;170;p18"/>
            <p:cNvCxnSpPr/>
            <p:nvPr/>
          </p:nvCxnSpPr>
          <p:spPr>
            <a:xfrm>
              <a:off x="7270308" y="3869725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1" name="Google Shape;171;p18"/>
            <p:cNvSpPr/>
            <p:nvPr/>
          </p:nvSpPr>
          <p:spPr>
            <a:xfrm rot="-5400000">
              <a:off x="7201728" y="380120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7470494" y="3938644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Response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2001947" y="768654"/>
            <a:ext cx="1349836" cy="1411086"/>
            <a:chOff x="2001947" y="768654"/>
            <a:chExt cx="1349836" cy="1411086"/>
          </a:xfrm>
        </p:grpSpPr>
        <p:grpSp>
          <p:nvGrpSpPr>
            <p:cNvPr id="174" name="Google Shape;174;p18"/>
            <p:cNvGrpSpPr/>
            <p:nvPr/>
          </p:nvGrpSpPr>
          <p:grpSpPr>
            <a:xfrm>
              <a:off x="2001947" y="768654"/>
              <a:ext cx="1288350" cy="995387"/>
              <a:chOff x="5384895" y="1024872"/>
              <a:chExt cx="1717800" cy="1327182"/>
            </a:xfrm>
          </p:grpSpPr>
          <p:sp>
            <p:nvSpPr>
              <p:cNvPr id="175" name="Google Shape;175;p18"/>
              <p:cNvSpPr/>
              <p:nvPr/>
            </p:nvSpPr>
            <p:spPr>
              <a:xfrm>
                <a:off x="5682001" y="1285554"/>
                <a:ext cx="1066500" cy="1066500"/>
              </a:xfrm>
              <a:prstGeom prst="ellipse">
                <a:avLst/>
              </a:prstGeom>
              <a:solidFill>
                <a:srgbClr val="FFFFFF">
                  <a:alpha val="29800"/>
                </a:srgbClr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Encoding LLM.png" id="176" name="Google Shape;176;p1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682001" y="1285554"/>
                <a:ext cx="1066500" cy="10665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177" name="Google Shape;177;p18"/>
              <p:cNvSpPr/>
              <p:nvPr/>
            </p:nvSpPr>
            <p:spPr>
              <a:xfrm>
                <a:off x="5384895" y="1024872"/>
                <a:ext cx="17178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A2921"/>
                  </a:buClr>
                  <a:buSzPts val="1100"/>
                  <a:buFont typeface="Montserrat"/>
                  <a:buNone/>
                </a:pPr>
                <a:r>
                  <a:rPr lang="uk" sz="1100">
                    <a:solidFill>
                      <a:srgbClr val="2A292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Embedding</a:t>
                </a:r>
                <a:r>
                  <a:rPr b="0" i="0" lang="uk" sz="1100" u="none" cap="none" strike="noStrike">
                    <a:solidFill>
                      <a:srgbClr val="2A292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LLM</a:t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" name="Google Shape;178;p18"/>
            <p:cNvGrpSpPr/>
            <p:nvPr/>
          </p:nvGrpSpPr>
          <p:grpSpPr>
            <a:xfrm>
              <a:off x="2594717" y="1825506"/>
              <a:ext cx="757066" cy="354234"/>
              <a:chOff x="6175255" y="2434008"/>
              <a:chExt cx="1009422" cy="472312"/>
            </a:xfrm>
          </p:grpSpPr>
          <p:sp>
            <p:nvSpPr>
              <p:cNvPr id="179" name="Google Shape;179;p18"/>
              <p:cNvSpPr/>
              <p:nvPr/>
            </p:nvSpPr>
            <p:spPr>
              <a:xfrm>
                <a:off x="6242077" y="2597815"/>
                <a:ext cx="9426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60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66922"/>
                  </a:buClr>
                  <a:buSzPts val="800"/>
                  <a:buFont typeface="Montserrat"/>
                  <a:buNone/>
                </a:pPr>
                <a:r>
                  <a:rPr b="1" i="0" lang="uk" sz="800" u="none" cap="none" strike="noStrike">
                    <a:solidFill>
                      <a:srgbClr val="E6692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Vectorize</a:t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0" name="Google Shape;180;p18"/>
              <p:cNvCxnSpPr/>
              <p:nvPr/>
            </p:nvCxnSpPr>
            <p:spPr>
              <a:xfrm rot="5400000">
                <a:off x="6076285" y="2670138"/>
                <a:ext cx="335100" cy="0"/>
              </a:xfrm>
              <a:prstGeom prst="straightConnector1">
                <a:avLst/>
              </a:prstGeom>
              <a:noFill/>
              <a:ln cap="flat" cmpd="sng" w="476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81" name="Google Shape;181;p18"/>
              <p:cNvSpPr/>
              <p:nvPr/>
            </p:nvSpPr>
            <p:spPr>
              <a:xfrm>
                <a:off x="6175255" y="2434008"/>
                <a:ext cx="137100" cy="1371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 rot="10800000">
                <a:off x="6175315" y="2769220"/>
                <a:ext cx="137100" cy="1371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9"/>
          <p:cNvGrpSpPr/>
          <p:nvPr/>
        </p:nvGrpSpPr>
        <p:grpSpPr>
          <a:xfrm>
            <a:off x="270975" y="2731075"/>
            <a:ext cx="4409700" cy="2301900"/>
            <a:chOff x="270975" y="2731075"/>
            <a:chExt cx="4409700" cy="2301900"/>
          </a:xfrm>
        </p:grpSpPr>
        <p:sp>
          <p:nvSpPr>
            <p:cNvPr id="188" name="Google Shape;188;p19"/>
            <p:cNvSpPr/>
            <p:nvPr/>
          </p:nvSpPr>
          <p:spPr>
            <a:xfrm>
              <a:off x="270975" y="2731075"/>
              <a:ext cx="4409700" cy="2301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298000" y="2770575"/>
              <a:ext cx="434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200">
                  <a:solidFill>
                    <a:srgbClr val="CAA5D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Agentic</a:t>
              </a:r>
              <a:r>
                <a:rPr b="1" lang="uk" sz="1200">
                  <a:solidFill>
                    <a:srgbClr val="CAA5D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RAG</a:t>
              </a:r>
              <a:endParaRPr b="1" sz="1200">
                <a:solidFill>
                  <a:srgbClr val="CAA5D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0" name="Google Shape;190;p19"/>
          <p:cNvGrpSpPr/>
          <p:nvPr/>
        </p:nvGrpSpPr>
        <p:grpSpPr>
          <a:xfrm>
            <a:off x="270975" y="805400"/>
            <a:ext cx="4409700" cy="1766400"/>
            <a:chOff x="270975" y="805400"/>
            <a:chExt cx="4409700" cy="1766400"/>
          </a:xfrm>
        </p:grpSpPr>
        <p:sp>
          <p:nvSpPr>
            <p:cNvPr id="191" name="Google Shape;191;p19"/>
            <p:cNvSpPr/>
            <p:nvPr/>
          </p:nvSpPr>
          <p:spPr>
            <a:xfrm>
              <a:off x="270975" y="805400"/>
              <a:ext cx="4409700" cy="1766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298000" y="861850"/>
              <a:ext cx="434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200">
                  <a:solidFill>
                    <a:srgbClr val="D0EB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Traditional RAG</a:t>
              </a:r>
              <a:endParaRPr b="1" sz="1200">
                <a:solidFill>
                  <a:srgbClr val="D0EB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3" name="Google Shape;193;p19"/>
          <p:cNvSpPr txBox="1"/>
          <p:nvPr/>
        </p:nvSpPr>
        <p:spPr>
          <a:xfrm>
            <a:off x="297989" y="1319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RAG vs Agentic RAG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03775" y="1442000"/>
            <a:ext cx="759000" cy="759000"/>
          </a:xfrm>
          <a:prstGeom prst="ellipse">
            <a:avLst/>
          </a:prstGeom>
          <a:solidFill>
            <a:srgbClr val="D0EBF8"/>
          </a:solidFill>
          <a:ln cap="flat" cmpd="sng" w="952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Chat</a:t>
            </a:r>
            <a:endParaRPr sz="9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1970825" y="1442000"/>
            <a:ext cx="759000" cy="759000"/>
          </a:xfrm>
          <a:prstGeom prst="ellipse">
            <a:avLst/>
          </a:prstGeom>
          <a:solidFill>
            <a:srgbClr val="D0EBF8"/>
          </a:solidFill>
          <a:ln cap="flat" cmpd="sng" w="952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Vector-</a:t>
            </a:r>
            <a:b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based</a:t>
            </a:r>
            <a:endParaRPr sz="9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Retrieval</a:t>
            </a:r>
            <a:endParaRPr sz="9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237875" y="1442000"/>
            <a:ext cx="759000" cy="759000"/>
          </a:xfrm>
          <a:prstGeom prst="ellipse">
            <a:avLst/>
          </a:prstGeom>
          <a:solidFill>
            <a:srgbClr val="D0EBF8"/>
          </a:solidFill>
          <a:ln cap="flat" cmpd="sng" w="952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sz="9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(response)</a:t>
            </a:r>
            <a:endParaRPr sz="7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7" name="Google Shape;197;p19"/>
          <p:cNvCxnSpPr>
            <a:stCxn id="194" idx="6"/>
            <a:endCxn id="195" idx="2"/>
          </p:cNvCxnSpPr>
          <p:nvPr/>
        </p:nvCxnSpPr>
        <p:spPr>
          <a:xfrm>
            <a:off x="1462775" y="1821500"/>
            <a:ext cx="508200" cy="0"/>
          </a:xfrm>
          <a:prstGeom prst="straightConnector1">
            <a:avLst/>
          </a:prstGeom>
          <a:noFill/>
          <a:ln cap="flat" cmpd="sng" w="19050">
            <a:solidFill>
              <a:srgbClr val="D0EBF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19"/>
          <p:cNvCxnSpPr/>
          <p:nvPr/>
        </p:nvCxnSpPr>
        <p:spPr>
          <a:xfrm>
            <a:off x="2729825" y="1821500"/>
            <a:ext cx="508200" cy="0"/>
          </a:xfrm>
          <a:prstGeom prst="straightConnector1">
            <a:avLst/>
          </a:prstGeom>
          <a:noFill/>
          <a:ln cap="flat" cmpd="sng" w="19050">
            <a:solidFill>
              <a:srgbClr val="D0EBF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19"/>
          <p:cNvSpPr/>
          <p:nvPr/>
        </p:nvSpPr>
        <p:spPr>
          <a:xfrm>
            <a:off x="589002" y="3180450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Chat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332797" y="4185025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Vector-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based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Retrieval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1548724" y="3188050"/>
            <a:ext cx="2322600" cy="759000"/>
          </a:xfrm>
          <a:prstGeom prst="rect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Agent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160772" y="4185025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More retrieval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" name="Google Shape;203;p19"/>
          <p:cNvCxnSpPr>
            <a:stCxn id="199" idx="6"/>
            <a:endCxn id="201" idx="1"/>
          </p:cNvCxnSpPr>
          <p:nvPr/>
        </p:nvCxnSpPr>
        <p:spPr>
          <a:xfrm>
            <a:off x="1348002" y="3559950"/>
            <a:ext cx="200700" cy="75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19"/>
          <p:cNvCxnSpPr>
            <a:endCxn id="200" idx="0"/>
          </p:cNvCxnSpPr>
          <p:nvPr/>
        </p:nvCxnSpPr>
        <p:spPr>
          <a:xfrm>
            <a:off x="2712297" y="3948025"/>
            <a:ext cx="0" cy="2370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19"/>
          <p:cNvCxnSpPr/>
          <p:nvPr/>
        </p:nvCxnSpPr>
        <p:spPr>
          <a:xfrm>
            <a:off x="3537950" y="3947950"/>
            <a:ext cx="0" cy="2370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19"/>
          <p:cNvSpPr/>
          <p:nvPr/>
        </p:nvSpPr>
        <p:spPr>
          <a:xfrm>
            <a:off x="1498534" y="4176450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LLM </a:t>
            </a:r>
            <a:r>
              <a:rPr lang="uk" sz="7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(workflow &amp; response)</a:t>
            </a:r>
            <a:endParaRPr sz="7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7" name="Google Shape;207;p19"/>
          <p:cNvCxnSpPr>
            <a:endCxn id="206" idx="0"/>
          </p:cNvCxnSpPr>
          <p:nvPr/>
        </p:nvCxnSpPr>
        <p:spPr>
          <a:xfrm>
            <a:off x="1878034" y="3939450"/>
            <a:ext cx="0" cy="2370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20"/>
          <p:cNvGrpSpPr/>
          <p:nvPr/>
        </p:nvGrpSpPr>
        <p:grpSpPr>
          <a:xfrm>
            <a:off x="270975" y="2731075"/>
            <a:ext cx="4409700" cy="2301900"/>
            <a:chOff x="270975" y="2731075"/>
            <a:chExt cx="4409700" cy="2301900"/>
          </a:xfrm>
        </p:grpSpPr>
        <p:sp>
          <p:nvSpPr>
            <p:cNvPr id="213" name="Google Shape;213;p20"/>
            <p:cNvSpPr/>
            <p:nvPr/>
          </p:nvSpPr>
          <p:spPr>
            <a:xfrm>
              <a:off x="270975" y="2731075"/>
              <a:ext cx="4409700" cy="2301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298000" y="2770575"/>
              <a:ext cx="434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200">
                  <a:solidFill>
                    <a:srgbClr val="CAA5D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RAG pipeline / Question Answering</a:t>
              </a:r>
              <a:endParaRPr b="1" sz="1200">
                <a:solidFill>
                  <a:srgbClr val="CAA5D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5" name="Google Shape;215;p20"/>
          <p:cNvGrpSpPr/>
          <p:nvPr/>
        </p:nvGrpSpPr>
        <p:grpSpPr>
          <a:xfrm>
            <a:off x="270975" y="805400"/>
            <a:ext cx="4409700" cy="1766400"/>
            <a:chOff x="270975" y="805400"/>
            <a:chExt cx="4409700" cy="1766400"/>
          </a:xfrm>
        </p:grpSpPr>
        <p:sp>
          <p:nvSpPr>
            <p:cNvPr id="216" name="Google Shape;216;p20"/>
            <p:cNvSpPr/>
            <p:nvPr/>
          </p:nvSpPr>
          <p:spPr>
            <a:xfrm>
              <a:off x="270975" y="805400"/>
              <a:ext cx="4409700" cy="1766400"/>
            </a:xfrm>
            <a:prstGeom prst="rect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298000" y="861850"/>
              <a:ext cx="434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200">
                  <a:solidFill>
                    <a:srgbClr val="FBE09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Ingest</a:t>
              </a:r>
              <a:endParaRPr b="1" sz="1200">
                <a:solidFill>
                  <a:srgbClr val="FBE09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18" name="Google Shape;218;p20"/>
          <p:cNvSpPr txBox="1"/>
          <p:nvPr/>
        </p:nvSpPr>
        <p:spPr>
          <a:xfrm>
            <a:off x="297989" y="1319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Two Phases of RAG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1058512" y="1442000"/>
            <a:ext cx="666600" cy="666600"/>
          </a:xfrm>
          <a:prstGeom prst="ellipse">
            <a:avLst/>
          </a:prstGeom>
          <a:solidFill>
            <a:srgbClr val="FBE097"/>
          </a:solidFill>
          <a:ln cap="flat" cmpd="sng" w="9525">
            <a:solidFill>
              <a:srgbClr val="2A2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Extract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1801771" y="1459975"/>
            <a:ext cx="666600" cy="666600"/>
          </a:xfrm>
          <a:prstGeom prst="ellipse">
            <a:avLst/>
          </a:prstGeom>
          <a:solidFill>
            <a:srgbClr val="FBE097"/>
          </a:solidFill>
          <a:ln cap="flat" cmpd="sng" w="9525">
            <a:solidFill>
              <a:srgbClr val="2A2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Trans-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545030" y="1459975"/>
            <a:ext cx="666600" cy="666600"/>
          </a:xfrm>
          <a:prstGeom prst="ellipse">
            <a:avLst/>
          </a:prstGeom>
          <a:solidFill>
            <a:srgbClr val="FBE097"/>
          </a:solidFill>
          <a:ln cap="flat" cmpd="sng" w="9525">
            <a:solidFill>
              <a:srgbClr val="2A2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Chunk &amp;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Vectorize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2" name="Google Shape;222;p20"/>
          <p:cNvCxnSpPr/>
          <p:nvPr/>
        </p:nvCxnSpPr>
        <p:spPr>
          <a:xfrm>
            <a:off x="936894" y="1775300"/>
            <a:ext cx="124800" cy="0"/>
          </a:xfrm>
          <a:prstGeom prst="straightConnector1">
            <a:avLst/>
          </a:prstGeom>
          <a:noFill/>
          <a:ln cap="flat" cmpd="sng" w="9525">
            <a:solidFill>
              <a:srgbClr val="FBE09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3" name="Google Shape;223;p20"/>
          <p:cNvSpPr/>
          <p:nvPr/>
        </p:nvSpPr>
        <p:spPr>
          <a:xfrm>
            <a:off x="589002" y="3154796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Chat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2332797" y="4013396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Vectorize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1548725" y="3292196"/>
            <a:ext cx="2322600" cy="484200"/>
          </a:xfrm>
          <a:prstGeom prst="rect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Agent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6" name="Google Shape;226;p20"/>
          <p:cNvCxnSpPr>
            <a:stCxn id="223" idx="6"/>
            <a:endCxn id="225" idx="1"/>
          </p:cNvCxnSpPr>
          <p:nvPr/>
        </p:nvCxnSpPr>
        <p:spPr>
          <a:xfrm>
            <a:off x="1348002" y="3534296"/>
            <a:ext cx="200700" cy="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0"/>
          <p:cNvCxnSpPr/>
          <p:nvPr/>
        </p:nvCxnSpPr>
        <p:spPr>
          <a:xfrm>
            <a:off x="2712297" y="3776396"/>
            <a:ext cx="0" cy="2370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0"/>
          <p:cNvCxnSpPr>
            <a:endCxn id="229" idx="2"/>
          </p:cNvCxnSpPr>
          <p:nvPr/>
        </p:nvCxnSpPr>
        <p:spPr>
          <a:xfrm flipH="1" rot="10800000">
            <a:off x="3091798" y="4346246"/>
            <a:ext cx="242400" cy="27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20"/>
          <p:cNvSpPr/>
          <p:nvPr/>
        </p:nvSpPr>
        <p:spPr>
          <a:xfrm>
            <a:off x="1504834" y="4013396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LLM </a:t>
            </a:r>
            <a:r>
              <a:rPr lang="uk" sz="7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(workflow &amp; response)</a:t>
            </a:r>
            <a:endParaRPr sz="7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1" name="Google Shape;231;p20"/>
          <p:cNvCxnSpPr>
            <a:endCxn id="230" idx="0"/>
          </p:cNvCxnSpPr>
          <p:nvPr/>
        </p:nvCxnSpPr>
        <p:spPr>
          <a:xfrm>
            <a:off x="1884334" y="3776396"/>
            <a:ext cx="0" cy="2370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32" name="Google Shape;232;p20"/>
          <p:cNvGrpSpPr/>
          <p:nvPr/>
        </p:nvGrpSpPr>
        <p:grpSpPr>
          <a:xfrm>
            <a:off x="340453" y="1442000"/>
            <a:ext cx="641400" cy="666600"/>
            <a:chOff x="340453" y="1442000"/>
            <a:chExt cx="641400" cy="666600"/>
          </a:xfrm>
        </p:grpSpPr>
        <p:sp>
          <p:nvSpPr>
            <p:cNvPr id="233" name="Google Shape;233;p20"/>
            <p:cNvSpPr/>
            <p:nvPr/>
          </p:nvSpPr>
          <p:spPr>
            <a:xfrm flipH="1" rot="10800000">
              <a:off x="391575" y="1442000"/>
              <a:ext cx="574800" cy="666600"/>
            </a:xfrm>
            <a:prstGeom prst="foldedCorner">
              <a:avLst>
                <a:gd fmla="val 17558" name="adj"/>
              </a:avLst>
            </a:prstGeom>
            <a:solidFill>
              <a:srgbClr val="FBE097"/>
            </a:solidFill>
            <a:ln cap="flat" cmpd="sng" w="9525">
              <a:solidFill>
                <a:srgbClr val="2A29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340453" y="1577725"/>
              <a:ext cx="641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80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</a:t>
              </a:r>
              <a:endParaRPr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80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Source</a:t>
              </a:r>
              <a:endParaRPr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5" name="Google Shape;235;p20"/>
          <p:cNvSpPr/>
          <p:nvPr/>
        </p:nvSpPr>
        <p:spPr>
          <a:xfrm>
            <a:off x="3288289" y="1459975"/>
            <a:ext cx="666600" cy="666600"/>
          </a:xfrm>
          <a:prstGeom prst="ellipse">
            <a:avLst/>
          </a:prstGeom>
          <a:solidFill>
            <a:srgbClr val="FBE097"/>
          </a:solidFill>
          <a:ln cap="flat" cmpd="sng" w="9525">
            <a:solidFill>
              <a:srgbClr val="2A2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Load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031548" y="1551175"/>
            <a:ext cx="574800" cy="484200"/>
          </a:xfrm>
          <a:prstGeom prst="can">
            <a:avLst>
              <a:gd fmla="val 25000" name="adj"/>
            </a:avLst>
          </a:prstGeom>
          <a:solidFill>
            <a:srgbClr val="FBE097"/>
          </a:solidFill>
          <a:ln cap="flat" cmpd="sng" w="9525">
            <a:solidFill>
              <a:srgbClr val="2A2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Montserrat"/>
                <a:ea typeface="Montserrat"/>
                <a:cs typeface="Montserrat"/>
                <a:sym typeface="Montserrat"/>
              </a:rPr>
              <a:t>Vector Store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>
            <a:off x="1698894" y="1778598"/>
            <a:ext cx="124800" cy="0"/>
          </a:xfrm>
          <a:prstGeom prst="straightConnector1">
            <a:avLst/>
          </a:prstGeom>
          <a:noFill/>
          <a:ln cap="flat" cmpd="sng" w="9525">
            <a:solidFill>
              <a:srgbClr val="FBE09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" name="Google Shape;238;p20"/>
          <p:cNvCxnSpPr/>
          <p:nvPr/>
        </p:nvCxnSpPr>
        <p:spPr>
          <a:xfrm>
            <a:off x="2466101" y="1778598"/>
            <a:ext cx="124800" cy="0"/>
          </a:xfrm>
          <a:prstGeom prst="straightConnector1">
            <a:avLst/>
          </a:prstGeom>
          <a:noFill/>
          <a:ln cap="flat" cmpd="sng" w="9525">
            <a:solidFill>
              <a:srgbClr val="FBE09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9" name="Google Shape;239;p20"/>
          <p:cNvCxnSpPr/>
          <p:nvPr/>
        </p:nvCxnSpPr>
        <p:spPr>
          <a:xfrm>
            <a:off x="3177937" y="1778598"/>
            <a:ext cx="124800" cy="0"/>
          </a:xfrm>
          <a:prstGeom prst="straightConnector1">
            <a:avLst/>
          </a:prstGeom>
          <a:noFill/>
          <a:ln cap="flat" cmpd="sng" w="9525">
            <a:solidFill>
              <a:srgbClr val="FBE09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" name="Google Shape;240;p20"/>
          <p:cNvCxnSpPr/>
          <p:nvPr/>
        </p:nvCxnSpPr>
        <p:spPr>
          <a:xfrm>
            <a:off x="3939937" y="1778598"/>
            <a:ext cx="124800" cy="0"/>
          </a:xfrm>
          <a:prstGeom prst="straightConnector1">
            <a:avLst/>
          </a:prstGeom>
          <a:noFill/>
          <a:ln cap="flat" cmpd="sng" w="9525">
            <a:solidFill>
              <a:srgbClr val="FBE09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9" name="Google Shape;229;p20"/>
          <p:cNvSpPr/>
          <p:nvPr/>
        </p:nvSpPr>
        <p:spPr>
          <a:xfrm>
            <a:off x="3334198" y="4104146"/>
            <a:ext cx="574800" cy="484200"/>
          </a:xfrm>
          <a:prstGeom prst="can">
            <a:avLst>
              <a:gd fmla="val 25000" name="adj"/>
            </a:avLst>
          </a:prstGeom>
          <a:solidFill>
            <a:srgbClr val="CAA5DC"/>
          </a:solidFill>
          <a:ln cap="flat" cmpd="sng" w="9525">
            <a:solidFill>
              <a:srgbClr val="582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8296C"/>
                </a:solidFill>
                <a:latin typeface="Montserrat"/>
                <a:ea typeface="Montserrat"/>
                <a:cs typeface="Montserrat"/>
                <a:sym typeface="Montserrat"/>
              </a:rPr>
              <a:t>Vector Store</a:t>
            </a:r>
            <a:endParaRPr sz="900">
              <a:solidFill>
                <a:srgbClr val="5829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/>
        </p:nvSpPr>
        <p:spPr>
          <a:xfrm>
            <a:off x="297989" y="1319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Business Challenge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145150" y="798088"/>
            <a:ext cx="5369400" cy="923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Absolutely classic business setup: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 an Expert to answer in-depth questions for your client. The client has a number of products in a massive Google sheet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45150" y="1825263"/>
            <a:ext cx="5369400" cy="1108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 our solution we will use Supabase: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popular cloud provider of Postgres databases.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More advanced than using the Simple Vector databases built into n8n, and there some code to copy &amp; paste.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145150" y="3037238"/>
            <a:ext cx="5369400" cy="14775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Today we focus on Data Ingest: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Interesting work: mapping the data from one format to another using the Edit Fields node.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Shortcut: we will use Google Sheet for product data. Next week, you’ll have skills to monitor a shared folder and ingest all files.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52400" y="4648200"/>
            <a:ext cx="541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Then tomorrow we add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Agentic RAG</a:t>
            </a: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.. and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</a:t>
            </a: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76" name="Google Shape;276;p22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77" name="Google Shape;277;p22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79" name="Google Shape;279;p22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280" name="Google Shape;280;p22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1" name="Google Shape;281;p22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82" name="Google Shape;282;p22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83" name="Google Shape;283;p22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60%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91" name="Google Shape;29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