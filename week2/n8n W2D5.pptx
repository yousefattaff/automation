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Montserrat SemiBold"/>
      <p:regular r:id="rId15"/>
      <p:bold r:id="rId16"/>
      <p:italic r:id="rId17"/>
      <p:boldItalic r:id="rId18"/>
    </p:embeddedFont>
    <p:embeddedFont>
      <p:font typeface="Montserrat"/>
      <p:regular r:id="rId19"/>
      <p:bold r:id="rId20"/>
      <p:italic r:id="rId21"/>
      <p:boldItalic r:id="rId22"/>
    </p:embeddedFont>
    <p:embeddedFont>
      <p:font typeface="Montserrat Medium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MontserratMedium-bold.fntdata"/><Relationship Id="rId23" Type="http://schemas.openxmlformats.org/officeDocument/2006/relationships/font" Target="fonts/MontserratMedium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Medium-boldItalic.fntdata"/><Relationship Id="rId25" Type="http://schemas.openxmlformats.org/officeDocument/2006/relationships/font" Target="fonts/Montserrat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MontserratSemiBold-regular.fntdata"/><Relationship Id="rId14" Type="http://schemas.openxmlformats.org/officeDocument/2006/relationships/slide" Target="slides/slide9.xml"/><Relationship Id="rId17" Type="http://schemas.openxmlformats.org/officeDocument/2006/relationships/font" Target="fonts/MontserratSemiBold-italic.fntdata"/><Relationship Id="rId16" Type="http://schemas.openxmlformats.org/officeDocument/2006/relationships/font" Target="fonts/MontserratSemiBold-bold.fntdata"/><Relationship Id="rId19" Type="http://schemas.openxmlformats.org/officeDocument/2006/relationships/font" Target="fonts/Montserrat-regular.fntdata"/><Relationship Id="rId18" Type="http://schemas.openxmlformats.org/officeDocument/2006/relationships/font" Target="fonts/MontserratSemiBol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7158c58547_0_3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" name="Google Shape;53;g37158c58547_0_3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310af643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g3b310af643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2f4f2e7e1_0_3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g3b2f4f2e7e1_0_3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310af643e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g3b310af643e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b310af643e_0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g3b310af643e_0_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b31ccab5fa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g3b31ccab5fa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b31ccab5fa_0_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" name="Google Shape;199;g3b31ccab5fa_0_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b31ccab5f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g3b31ccab5f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4558ba40b8_0_3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g34558ba40b8_0_3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ий слайд 1">
  <p:cSld name="Титульний слайд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SemiBold"/>
              <a:buNone/>
              <a:defRPr sz="2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3429000" y="-25"/>
            <a:ext cx="19569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4"/>
          <p:cNvSpPr txBox="1"/>
          <p:nvPr/>
        </p:nvSpPr>
        <p:spPr>
          <a:xfrm>
            <a:off x="3538375" y="230275"/>
            <a:ext cx="1751100" cy="45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AI Builder: Low-Code AI Agents &amp; Voice Agents in n8n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2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5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57" name="Google Shape;5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5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/>
        </p:nvSpPr>
        <p:spPr>
          <a:xfrm>
            <a:off x="316814" y="1138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Weeks to Agentic AI Builder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243825" y="3743708"/>
            <a:ext cx="5247000" cy="1029000"/>
          </a:xfrm>
          <a:prstGeom prst="rect">
            <a:avLst/>
          </a:prstGeom>
          <a:solidFill>
            <a:srgbClr val="888888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384025" y="41100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First n8n AI Agent Live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1395072" y="41100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Foundations: Agentic AI and n8n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2406118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Integrations with docs and email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3417153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 and integrations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4445172" y="4110058"/>
            <a:ext cx="934800" cy="538200"/>
          </a:xfrm>
          <a:prstGeom prst="rect">
            <a:avLst/>
          </a:prstGeom>
          <a:solidFill>
            <a:srgbClr val="1775A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Daily Portfolio Rebalancer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393675" y="37437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Week 1: Automate</a:t>
            </a:r>
            <a:r>
              <a:rPr lang="uk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workflows in n8n cloud</a:t>
            </a:r>
            <a:endParaRPr b="0" i="0" sz="12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243825" y="26385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384025" y="30048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Voice Agents with ElevenLabs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1395072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Integrating ElevenLabs and n8n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2406118" y="30048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RAG and Agentic RAG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3417153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Supabase Vectors and Data ingest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4445172" y="3004858"/>
            <a:ext cx="934800" cy="538200"/>
          </a:xfrm>
          <a:prstGeom prst="rect">
            <a:avLst/>
          </a:prstGeom>
          <a:solidFill>
            <a:srgbClr val="D0EBF8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Product Expert Voice Agent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393675" y="26385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2: Accelerate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Voice Agents and RAG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243825" y="15333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384025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Self-hosted n8n and Local LLMs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1395072" y="18996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Advanced Integrations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2406118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3417153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Context Engineering, Sub-Agents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4445172" y="18996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Capstone: Amplify your business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393675" y="15333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Week 3: </a:t>
            </a: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Amplify 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with multi-agent systems and MCP  </a:t>
            </a:r>
            <a:endParaRPr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84" name="Google Shape;84;p15"/>
          <p:cNvGrpSpPr/>
          <p:nvPr/>
        </p:nvGrpSpPr>
        <p:grpSpPr>
          <a:xfrm>
            <a:off x="837139" y="852239"/>
            <a:ext cx="1215893" cy="323100"/>
            <a:chOff x="316825" y="809164"/>
            <a:chExt cx="1215893" cy="323100"/>
          </a:xfrm>
        </p:grpSpPr>
        <p:sp>
          <p:nvSpPr>
            <p:cNvPr id="85" name="Google Shape;85;p15"/>
            <p:cNvSpPr/>
            <p:nvPr/>
          </p:nvSpPr>
          <p:spPr>
            <a:xfrm>
              <a:off x="316825" y="879951"/>
              <a:ext cx="237300" cy="178500"/>
            </a:xfrm>
            <a:prstGeom prst="rect">
              <a:avLst/>
            </a:prstGeom>
            <a:solidFill>
              <a:srgbClr val="CAA5DC"/>
            </a:solidFill>
            <a:ln cap="flat" cmpd="sng" w="9525">
              <a:solidFill>
                <a:srgbClr val="572A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6" name="Google Shape;86;p15"/>
            <p:cNvSpPr txBox="1"/>
            <p:nvPr/>
          </p:nvSpPr>
          <p:spPr>
            <a:xfrm>
              <a:off x="54181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Core skills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87" name="Google Shape;87;p15"/>
          <p:cNvGrpSpPr/>
          <p:nvPr/>
        </p:nvGrpSpPr>
        <p:grpSpPr>
          <a:xfrm>
            <a:off x="2278877" y="852239"/>
            <a:ext cx="1215893" cy="323100"/>
            <a:chOff x="1670575" y="809164"/>
            <a:chExt cx="1215893" cy="323100"/>
          </a:xfrm>
        </p:grpSpPr>
        <p:sp>
          <p:nvSpPr>
            <p:cNvPr id="88" name="Google Shape;88;p15"/>
            <p:cNvSpPr/>
            <p:nvPr/>
          </p:nvSpPr>
          <p:spPr>
            <a:xfrm>
              <a:off x="1670575" y="879951"/>
              <a:ext cx="237300" cy="178500"/>
            </a:xfrm>
            <a:prstGeom prst="rect">
              <a:avLst/>
            </a:prstGeom>
            <a:solidFill>
              <a:srgbClr val="FBE097"/>
            </a:solidFill>
            <a:ln cap="flat" cmpd="sng" w="9525">
              <a:solidFill>
                <a:srgbClr val="B181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9" name="Google Shape;89;p15"/>
            <p:cNvSpPr txBox="1"/>
            <p:nvPr/>
          </p:nvSpPr>
          <p:spPr>
            <a:xfrm>
              <a:off x="189556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Integrations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90" name="Google Shape;90;p15"/>
          <p:cNvGrpSpPr/>
          <p:nvPr/>
        </p:nvGrpSpPr>
        <p:grpSpPr>
          <a:xfrm>
            <a:off x="3720614" y="852239"/>
            <a:ext cx="1215893" cy="323100"/>
            <a:chOff x="3200300" y="809164"/>
            <a:chExt cx="1215893" cy="323100"/>
          </a:xfrm>
        </p:grpSpPr>
        <p:sp>
          <p:nvSpPr>
            <p:cNvPr id="91" name="Google Shape;91;p15"/>
            <p:cNvSpPr/>
            <p:nvPr/>
          </p:nvSpPr>
          <p:spPr>
            <a:xfrm>
              <a:off x="3200300" y="879951"/>
              <a:ext cx="237300" cy="178500"/>
            </a:xfrm>
            <a:prstGeom prst="rect">
              <a:avLst/>
            </a:prstGeom>
            <a:solidFill>
              <a:srgbClr val="D0EBF8"/>
            </a:solidFill>
            <a:ln cap="flat" cmpd="sng" w="9525">
              <a:solidFill>
                <a:srgbClr val="177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2" name="Google Shape;92;p15"/>
            <p:cNvSpPr txBox="1"/>
            <p:nvPr/>
          </p:nvSpPr>
          <p:spPr>
            <a:xfrm>
              <a:off x="3425293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Projects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/>
        </p:nvSpPr>
        <p:spPr>
          <a:xfrm>
            <a:off x="316814" y="148438"/>
            <a:ext cx="84489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big idea behind RAG</a:t>
            </a:r>
            <a:endParaRPr sz="24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2098473" y="2221150"/>
            <a:ext cx="1071300" cy="1071300"/>
          </a:xfrm>
          <a:prstGeom prst="ellipse">
            <a:avLst/>
          </a:prstGeom>
          <a:solidFill>
            <a:srgbClr val="FFFFFF">
              <a:alpha val="298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9" name="Google Shape;99;p16"/>
          <p:cNvGrpSpPr/>
          <p:nvPr/>
        </p:nvGrpSpPr>
        <p:grpSpPr>
          <a:xfrm>
            <a:off x="2098473" y="2221150"/>
            <a:ext cx="1071300" cy="1312836"/>
            <a:chOff x="2098473" y="2221151"/>
            <a:chExt cx="1071300" cy="1312836"/>
          </a:xfrm>
        </p:grpSpPr>
        <p:pic>
          <p:nvPicPr>
            <p:cNvPr descr="Code (1).png" id="100" name="Google Shape;100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098473" y="2221150"/>
              <a:ext cx="1071300" cy="10713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101" name="Google Shape;101;p16"/>
            <p:cNvSpPr/>
            <p:nvPr/>
          </p:nvSpPr>
          <p:spPr>
            <a:xfrm>
              <a:off x="2433788" y="3361187"/>
              <a:ext cx="400800" cy="1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2A2921"/>
                </a:buClr>
                <a:buSzPts val="1100"/>
                <a:buFont typeface="Montserrat"/>
                <a:buNone/>
              </a:pPr>
              <a:r>
                <a:rPr lang="uk" sz="1100">
                  <a:solidFill>
                    <a:srgbClr val="2A29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n8n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" name="Google Shape;102;p16"/>
          <p:cNvSpPr/>
          <p:nvPr/>
        </p:nvSpPr>
        <p:spPr>
          <a:xfrm>
            <a:off x="4174309" y="2164016"/>
            <a:ext cx="1071300" cy="1071300"/>
          </a:xfrm>
          <a:prstGeom prst="ellipse">
            <a:avLst/>
          </a:prstGeom>
          <a:solidFill>
            <a:srgbClr val="FFFFFF">
              <a:alpha val="298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LM.png" id="103" name="Google Shape;10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74309" y="2164016"/>
            <a:ext cx="1071300" cy="1071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04" name="Google Shape;104;p16"/>
          <p:cNvSpPr/>
          <p:nvPr/>
        </p:nvSpPr>
        <p:spPr>
          <a:xfrm>
            <a:off x="4544977" y="3304051"/>
            <a:ext cx="3300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1100"/>
              <a:buFont typeface="Montserrat"/>
              <a:buNone/>
            </a:pPr>
            <a:r>
              <a:rPr b="0" i="0" lang="uk" sz="1100" u="none" cap="none" strike="noStrike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LLM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74993" y="2221150"/>
            <a:ext cx="1071300" cy="1071300"/>
          </a:xfrm>
          <a:prstGeom prst="ellipse">
            <a:avLst/>
          </a:prstGeom>
          <a:solidFill>
            <a:srgbClr val="FFFFFF">
              <a:alpha val="298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6" name="Google Shape;106;p16"/>
          <p:cNvGrpSpPr/>
          <p:nvPr/>
        </p:nvGrpSpPr>
        <p:grpSpPr>
          <a:xfrm>
            <a:off x="74993" y="2221150"/>
            <a:ext cx="1071300" cy="1312836"/>
            <a:chOff x="74993" y="2221151"/>
            <a:chExt cx="1071300" cy="1312836"/>
          </a:xfrm>
        </p:grpSpPr>
        <p:pic>
          <p:nvPicPr>
            <p:cNvPr descr="Chat.png" id="107" name="Google Shape;107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4993" y="2221150"/>
              <a:ext cx="1071300" cy="10713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108" name="Google Shape;108;p16"/>
            <p:cNvSpPr/>
            <p:nvPr/>
          </p:nvSpPr>
          <p:spPr>
            <a:xfrm>
              <a:off x="257113" y="3361187"/>
              <a:ext cx="706800" cy="1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5972"/>
                </a:lnSpc>
                <a:spcBef>
                  <a:spcPts val="0"/>
                </a:spcBef>
                <a:spcAft>
                  <a:spcPts val="0"/>
                </a:spcAft>
                <a:buClr>
                  <a:srgbClr val="2A2921"/>
                </a:buClr>
                <a:buSzPts val="1100"/>
                <a:buFont typeface="Montserrat"/>
                <a:buNone/>
              </a:pPr>
              <a:r>
                <a:rPr b="0" i="0" lang="uk" sz="1100" u="none" cap="none" strike="noStrike">
                  <a:solidFill>
                    <a:srgbClr val="2A29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Chat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" name="Google Shape;109;p16"/>
          <p:cNvSpPr/>
          <p:nvPr/>
        </p:nvSpPr>
        <p:spPr>
          <a:xfrm>
            <a:off x="2255597" y="4020926"/>
            <a:ext cx="799800" cy="799800"/>
          </a:xfrm>
          <a:prstGeom prst="ellipse">
            <a:avLst/>
          </a:prstGeom>
          <a:solidFill>
            <a:srgbClr val="FFFFFF">
              <a:alpha val="2980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Vectore Database.png" id="110" name="Google Shape;11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55597" y="4020926"/>
            <a:ext cx="799800" cy="7998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11" name="Google Shape;111;p16"/>
          <p:cNvSpPr/>
          <p:nvPr/>
        </p:nvSpPr>
        <p:spPr>
          <a:xfrm>
            <a:off x="2081149" y="4910993"/>
            <a:ext cx="12885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1100"/>
              <a:buFont typeface="Montserrat"/>
              <a:buNone/>
            </a:pPr>
            <a:r>
              <a:rPr b="0" i="0" lang="uk" sz="1100" u="none" cap="none" strike="noStrike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Vector Datastore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" name="Google Shape;112;p16"/>
          <p:cNvGrpSpPr/>
          <p:nvPr/>
        </p:nvGrpSpPr>
        <p:grpSpPr>
          <a:xfrm>
            <a:off x="3170920" y="2432620"/>
            <a:ext cx="929635" cy="235385"/>
            <a:chOff x="7146725" y="3243493"/>
            <a:chExt cx="1239513" cy="313847"/>
          </a:xfrm>
        </p:grpSpPr>
        <p:cxnSp>
          <p:nvCxnSpPr>
            <p:cNvPr id="113" name="Google Shape;113;p16"/>
            <p:cNvCxnSpPr/>
            <p:nvPr/>
          </p:nvCxnSpPr>
          <p:spPr>
            <a:xfrm>
              <a:off x="7270308" y="3488820"/>
              <a:ext cx="1047300" cy="0"/>
            </a:xfrm>
            <a:prstGeom prst="straightConnector1">
              <a:avLst/>
            </a:prstGeom>
            <a:noFill/>
            <a:ln cap="flat" cmpd="sng" w="476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14" name="Google Shape;114;p16"/>
            <p:cNvSpPr/>
            <p:nvPr/>
          </p:nvSpPr>
          <p:spPr>
            <a:xfrm rot="5400000">
              <a:off x="8249138" y="3420240"/>
              <a:ext cx="137100" cy="1371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6"/>
            <p:cNvSpPr/>
            <p:nvPr/>
          </p:nvSpPr>
          <p:spPr>
            <a:xfrm>
              <a:off x="7146725" y="3243493"/>
              <a:ext cx="9426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6044"/>
                </a:lnSpc>
                <a:spcBef>
                  <a:spcPts val="0"/>
                </a:spcBef>
                <a:spcAft>
                  <a:spcPts val="0"/>
                </a:spcAft>
                <a:buClr>
                  <a:srgbClr val="E66922"/>
                </a:buClr>
                <a:buSzPts val="800"/>
                <a:buFont typeface="Montserrat"/>
                <a:buNone/>
              </a:pPr>
              <a:r>
                <a:rPr b="1" i="0" lang="uk" sz="800" u="none" cap="none" strike="noStrike">
                  <a:solidFill>
                    <a:srgbClr val="E669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Prompt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6" name="Google Shape;116;p16"/>
          <p:cNvGrpSpPr/>
          <p:nvPr/>
        </p:nvGrpSpPr>
        <p:grpSpPr>
          <a:xfrm>
            <a:off x="1200614" y="2850904"/>
            <a:ext cx="887099" cy="232333"/>
            <a:chOff x="4011650" y="3801205"/>
            <a:chExt cx="1182799" cy="309777"/>
          </a:xfrm>
        </p:grpSpPr>
        <p:cxnSp>
          <p:nvCxnSpPr>
            <p:cNvPr id="117" name="Google Shape;117;p16"/>
            <p:cNvCxnSpPr/>
            <p:nvPr/>
          </p:nvCxnSpPr>
          <p:spPr>
            <a:xfrm>
              <a:off x="4080230" y="3869725"/>
              <a:ext cx="1047300" cy="0"/>
            </a:xfrm>
            <a:prstGeom prst="straightConnector1">
              <a:avLst/>
            </a:prstGeom>
            <a:noFill/>
            <a:ln cap="flat" cmpd="sng" w="476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18" name="Google Shape;118;p16"/>
            <p:cNvSpPr/>
            <p:nvPr/>
          </p:nvSpPr>
          <p:spPr>
            <a:xfrm rot="-5400000">
              <a:off x="4011650" y="3801205"/>
              <a:ext cx="137100" cy="1371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6"/>
            <p:cNvSpPr/>
            <p:nvPr/>
          </p:nvSpPr>
          <p:spPr>
            <a:xfrm>
              <a:off x="4251849" y="3930982"/>
              <a:ext cx="9426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6044"/>
                </a:lnSpc>
                <a:spcBef>
                  <a:spcPts val="0"/>
                </a:spcBef>
                <a:spcAft>
                  <a:spcPts val="0"/>
                </a:spcAft>
                <a:buClr>
                  <a:srgbClr val="E66922"/>
                </a:buClr>
                <a:buSzPts val="800"/>
                <a:buFont typeface="Montserrat"/>
                <a:buNone/>
              </a:pPr>
              <a:r>
                <a:rPr b="1" i="0" lang="uk" sz="800" u="none" cap="none" strike="noStrike">
                  <a:solidFill>
                    <a:srgbClr val="E669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Answer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0" name="Google Shape;120;p16"/>
          <p:cNvGrpSpPr/>
          <p:nvPr/>
        </p:nvGrpSpPr>
        <p:grpSpPr>
          <a:xfrm>
            <a:off x="2594717" y="3610997"/>
            <a:ext cx="757066" cy="354234"/>
            <a:chOff x="6175255" y="4814663"/>
            <a:chExt cx="1009422" cy="472312"/>
          </a:xfrm>
        </p:grpSpPr>
        <p:cxnSp>
          <p:nvCxnSpPr>
            <p:cNvPr id="121" name="Google Shape;121;p16"/>
            <p:cNvCxnSpPr/>
            <p:nvPr/>
          </p:nvCxnSpPr>
          <p:spPr>
            <a:xfrm rot="5400000">
              <a:off x="6076285" y="5050793"/>
              <a:ext cx="335100" cy="0"/>
            </a:xfrm>
            <a:prstGeom prst="straightConnector1">
              <a:avLst/>
            </a:prstGeom>
            <a:noFill/>
            <a:ln cap="flat" cmpd="sng" w="476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22" name="Google Shape;122;p16"/>
            <p:cNvSpPr/>
            <p:nvPr/>
          </p:nvSpPr>
          <p:spPr>
            <a:xfrm>
              <a:off x="6175255" y="4814663"/>
              <a:ext cx="137100" cy="1371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6"/>
            <p:cNvSpPr/>
            <p:nvPr/>
          </p:nvSpPr>
          <p:spPr>
            <a:xfrm rot="10800000">
              <a:off x="6175315" y="5149875"/>
              <a:ext cx="137100" cy="1371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6"/>
            <p:cNvSpPr/>
            <p:nvPr/>
          </p:nvSpPr>
          <p:spPr>
            <a:xfrm>
              <a:off x="6242077" y="4978470"/>
              <a:ext cx="9426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6044"/>
                </a:lnSpc>
                <a:spcBef>
                  <a:spcPts val="0"/>
                </a:spcBef>
                <a:spcAft>
                  <a:spcPts val="0"/>
                </a:spcAft>
                <a:buClr>
                  <a:srgbClr val="E66922"/>
                </a:buClr>
                <a:buSzPts val="800"/>
                <a:buFont typeface="Montserrat"/>
                <a:buNone/>
              </a:pPr>
              <a:r>
                <a:rPr b="1" i="0" lang="uk" sz="800" u="none" cap="none" strike="noStrike">
                  <a:solidFill>
                    <a:srgbClr val="E669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Retrieve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5" name="Google Shape;125;p16"/>
          <p:cNvGrpSpPr/>
          <p:nvPr/>
        </p:nvGrpSpPr>
        <p:grpSpPr>
          <a:xfrm>
            <a:off x="1195072" y="2432620"/>
            <a:ext cx="893925" cy="235385"/>
            <a:chOff x="4004261" y="3243493"/>
            <a:chExt cx="1191900" cy="313847"/>
          </a:xfrm>
        </p:grpSpPr>
        <p:cxnSp>
          <p:nvCxnSpPr>
            <p:cNvPr id="126" name="Google Shape;126;p16"/>
            <p:cNvCxnSpPr/>
            <p:nvPr/>
          </p:nvCxnSpPr>
          <p:spPr>
            <a:xfrm>
              <a:off x="4080230" y="3488820"/>
              <a:ext cx="1047300" cy="0"/>
            </a:xfrm>
            <a:prstGeom prst="straightConnector1">
              <a:avLst/>
            </a:prstGeom>
            <a:noFill/>
            <a:ln cap="flat" cmpd="sng" w="476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27" name="Google Shape;127;p16"/>
            <p:cNvSpPr/>
            <p:nvPr/>
          </p:nvSpPr>
          <p:spPr>
            <a:xfrm rot="5400000">
              <a:off x="5059061" y="3420240"/>
              <a:ext cx="137100" cy="1371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6"/>
            <p:cNvSpPr/>
            <p:nvPr/>
          </p:nvSpPr>
          <p:spPr>
            <a:xfrm>
              <a:off x="4004261" y="3243493"/>
              <a:ext cx="9426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6044"/>
                </a:lnSpc>
                <a:spcBef>
                  <a:spcPts val="0"/>
                </a:spcBef>
                <a:spcAft>
                  <a:spcPts val="0"/>
                </a:spcAft>
                <a:buClr>
                  <a:srgbClr val="E66922"/>
                </a:buClr>
                <a:buSzPts val="800"/>
                <a:buFont typeface="Montserrat"/>
                <a:buNone/>
              </a:pPr>
              <a:r>
                <a:rPr b="1" i="0" lang="uk" sz="800" u="none" cap="none" strike="noStrike">
                  <a:solidFill>
                    <a:srgbClr val="E669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Question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9" name="Google Shape;129;p16"/>
          <p:cNvGrpSpPr/>
          <p:nvPr/>
        </p:nvGrpSpPr>
        <p:grpSpPr>
          <a:xfrm>
            <a:off x="3212172" y="2850904"/>
            <a:ext cx="908525" cy="238079"/>
            <a:chOff x="7201728" y="3801205"/>
            <a:chExt cx="1211366" cy="317439"/>
          </a:xfrm>
        </p:grpSpPr>
        <p:cxnSp>
          <p:nvCxnSpPr>
            <p:cNvPr id="130" name="Google Shape;130;p16"/>
            <p:cNvCxnSpPr/>
            <p:nvPr/>
          </p:nvCxnSpPr>
          <p:spPr>
            <a:xfrm>
              <a:off x="7270308" y="3869725"/>
              <a:ext cx="1047300" cy="0"/>
            </a:xfrm>
            <a:prstGeom prst="straightConnector1">
              <a:avLst/>
            </a:prstGeom>
            <a:noFill/>
            <a:ln cap="flat" cmpd="sng" w="476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31" name="Google Shape;131;p16"/>
            <p:cNvSpPr/>
            <p:nvPr/>
          </p:nvSpPr>
          <p:spPr>
            <a:xfrm rot="-5400000">
              <a:off x="7201728" y="3801205"/>
              <a:ext cx="137100" cy="137100"/>
            </a:xfrm>
            <a:prstGeom prst="triangle">
              <a:avLst>
                <a:gd fmla="val 50000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6"/>
            <p:cNvSpPr/>
            <p:nvPr/>
          </p:nvSpPr>
          <p:spPr>
            <a:xfrm>
              <a:off x="7470494" y="3938644"/>
              <a:ext cx="942600" cy="1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6044"/>
                </a:lnSpc>
                <a:spcBef>
                  <a:spcPts val="0"/>
                </a:spcBef>
                <a:spcAft>
                  <a:spcPts val="0"/>
                </a:spcAft>
                <a:buClr>
                  <a:srgbClr val="E66922"/>
                </a:buClr>
                <a:buSzPts val="800"/>
                <a:buFont typeface="Montserrat"/>
                <a:buNone/>
              </a:pPr>
              <a:r>
                <a:rPr b="1" i="0" lang="uk" sz="800" u="none" cap="none" strike="noStrike">
                  <a:solidFill>
                    <a:srgbClr val="E669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Response</a:t>
              </a:r>
              <a:endPara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3" name="Google Shape;133;p16"/>
          <p:cNvGrpSpPr/>
          <p:nvPr/>
        </p:nvGrpSpPr>
        <p:grpSpPr>
          <a:xfrm>
            <a:off x="2001947" y="768654"/>
            <a:ext cx="1349836" cy="1411086"/>
            <a:chOff x="2001947" y="768654"/>
            <a:chExt cx="1349836" cy="1411086"/>
          </a:xfrm>
        </p:grpSpPr>
        <p:grpSp>
          <p:nvGrpSpPr>
            <p:cNvPr id="134" name="Google Shape;134;p16"/>
            <p:cNvGrpSpPr/>
            <p:nvPr/>
          </p:nvGrpSpPr>
          <p:grpSpPr>
            <a:xfrm>
              <a:off x="2001947" y="768654"/>
              <a:ext cx="1288350" cy="995387"/>
              <a:chOff x="5384895" y="1024872"/>
              <a:chExt cx="1717800" cy="1327182"/>
            </a:xfrm>
          </p:grpSpPr>
          <p:sp>
            <p:nvSpPr>
              <p:cNvPr id="135" name="Google Shape;135;p16"/>
              <p:cNvSpPr/>
              <p:nvPr/>
            </p:nvSpPr>
            <p:spPr>
              <a:xfrm>
                <a:off x="5682001" y="1285554"/>
                <a:ext cx="1066500" cy="1066500"/>
              </a:xfrm>
              <a:prstGeom prst="ellipse">
                <a:avLst/>
              </a:prstGeom>
              <a:solidFill>
                <a:srgbClr val="FFFFFF">
                  <a:alpha val="29800"/>
                </a:srgbClr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descr="Encoding LLM.png" id="136" name="Google Shape;136;p16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5682001" y="1285554"/>
                <a:ext cx="1066500" cy="1066500"/>
              </a:xfrm>
              <a:prstGeom prst="ellipse">
                <a:avLst/>
              </a:prstGeom>
              <a:noFill/>
              <a:ln>
                <a:noFill/>
              </a:ln>
            </p:spPr>
          </p:pic>
          <p:sp>
            <p:nvSpPr>
              <p:cNvPr id="137" name="Google Shape;137;p16"/>
              <p:cNvSpPr/>
              <p:nvPr/>
            </p:nvSpPr>
            <p:spPr>
              <a:xfrm>
                <a:off x="5384895" y="1024872"/>
                <a:ext cx="1717800" cy="23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5972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A2921"/>
                  </a:buClr>
                  <a:buSzPts val="1100"/>
                  <a:buFont typeface="Montserrat"/>
                  <a:buNone/>
                </a:pPr>
                <a:r>
                  <a:rPr lang="uk" sz="1100">
                    <a:solidFill>
                      <a:srgbClr val="2A292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Embedding</a:t>
                </a:r>
                <a:r>
                  <a:rPr b="0" i="0" lang="uk" sz="1100" u="none" cap="none" strike="noStrike">
                    <a:solidFill>
                      <a:srgbClr val="2A292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 LLM</a:t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8" name="Google Shape;138;p16"/>
            <p:cNvGrpSpPr/>
            <p:nvPr/>
          </p:nvGrpSpPr>
          <p:grpSpPr>
            <a:xfrm>
              <a:off x="2594717" y="1825506"/>
              <a:ext cx="757066" cy="354234"/>
              <a:chOff x="6175255" y="2434008"/>
              <a:chExt cx="1009422" cy="472312"/>
            </a:xfrm>
          </p:grpSpPr>
          <p:sp>
            <p:nvSpPr>
              <p:cNvPr id="139" name="Google Shape;139;p16"/>
              <p:cNvSpPr/>
              <p:nvPr/>
            </p:nvSpPr>
            <p:spPr>
              <a:xfrm>
                <a:off x="6242077" y="2597815"/>
                <a:ext cx="942600" cy="18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604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E66922"/>
                  </a:buClr>
                  <a:buSzPts val="800"/>
                  <a:buFont typeface="Montserrat"/>
                  <a:buNone/>
                </a:pPr>
                <a:r>
                  <a:rPr b="1" i="0" lang="uk" sz="800" u="none" cap="none" strike="noStrike">
                    <a:solidFill>
                      <a:srgbClr val="E66922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Vectorize</a:t>
                </a:r>
                <a:endParaRPr b="0" i="0" sz="1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40" name="Google Shape;140;p16"/>
              <p:cNvCxnSpPr/>
              <p:nvPr/>
            </p:nvCxnSpPr>
            <p:spPr>
              <a:xfrm rot="5400000">
                <a:off x="6076285" y="2670138"/>
                <a:ext cx="335100" cy="0"/>
              </a:xfrm>
              <a:prstGeom prst="straightConnector1">
                <a:avLst/>
              </a:prstGeom>
              <a:noFill/>
              <a:ln cap="flat" cmpd="sng" w="476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41" name="Google Shape;141;p16"/>
              <p:cNvSpPr/>
              <p:nvPr/>
            </p:nvSpPr>
            <p:spPr>
              <a:xfrm>
                <a:off x="6175255" y="2434008"/>
                <a:ext cx="137100" cy="137100"/>
              </a:xfrm>
              <a:prstGeom prst="triangle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16"/>
              <p:cNvSpPr/>
              <p:nvPr/>
            </p:nvSpPr>
            <p:spPr>
              <a:xfrm rot="10800000">
                <a:off x="6175315" y="2769220"/>
                <a:ext cx="137100" cy="137100"/>
              </a:xfrm>
              <a:prstGeom prst="triangle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oogle Shape;147;p17"/>
          <p:cNvGrpSpPr/>
          <p:nvPr/>
        </p:nvGrpSpPr>
        <p:grpSpPr>
          <a:xfrm>
            <a:off x="270975" y="2731075"/>
            <a:ext cx="4409700" cy="2301900"/>
            <a:chOff x="270975" y="2731075"/>
            <a:chExt cx="4409700" cy="2301900"/>
          </a:xfrm>
        </p:grpSpPr>
        <p:sp>
          <p:nvSpPr>
            <p:cNvPr id="148" name="Google Shape;148;p17"/>
            <p:cNvSpPr/>
            <p:nvPr/>
          </p:nvSpPr>
          <p:spPr>
            <a:xfrm>
              <a:off x="270975" y="2731075"/>
              <a:ext cx="4409700" cy="2301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9" name="Google Shape;149;p17"/>
            <p:cNvSpPr txBox="1"/>
            <p:nvPr/>
          </p:nvSpPr>
          <p:spPr>
            <a:xfrm>
              <a:off x="298000" y="2770575"/>
              <a:ext cx="43452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 sz="1200">
                  <a:solidFill>
                    <a:srgbClr val="CAA5D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RAG pipeline / Question Answering</a:t>
              </a:r>
              <a:endParaRPr b="1" sz="1200">
                <a:solidFill>
                  <a:srgbClr val="CAA5D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50" name="Google Shape;150;p17"/>
          <p:cNvGrpSpPr/>
          <p:nvPr/>
        </p:nvGrpSpPr>
        <p:grpSpPr>
          <a:xfrm>
            <a:off x="270975" y="805400"/>
            <a:ext cx="4409700" cy="1766400"/>
            <a:chOff x="270975" y="805400"/>
            <a:chExt cx="4409700" cy="1766400"/>
          </a:xfrm>
        </p:grpSpPr>
        <p:sp>
          <p:nvSpPr>
            <p:cNvPr id="151" name="Google Shape;151;p17"/>
            <p:cNvSpPr/>
            <p:nvPr/>
          </p:nvSpPr>
          <p:spPr>
            <a:xfrm>
              <a:off x="270975" y="805400"/>
              <a:ext cx="4409700" cy="1766400"/>
            </a:xfrm>
            <a:prstGeom prst="rect">
              <a:avLst/>
            </a:prstGeom>
            <a:solidFill>
              <a:srgbClr val="B1810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2" name="Google Shape;152;p17"/>
            <p:cNvSpPr txBox="1"/>
            <p:nvPr/>
          </p:nvSpPr>
          <p:spPr>
            <a:xfrm>
              <a:off x="298000" y="861850"/>
              <a:ext cx="43452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 sz="1200">
                  <a:solidFill>
                    <a:srgbClr val="FBE09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Data Ingest</a:t>
              </a:r>
              <a:endParaRPr b="1" sz="1200">
                <a:solidFill>
                  <a:srgbClr val="FBE09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53" name="Google Shape;153;p17"/>
          <p:cNvSpPr txBox="1"/>
          <p:nvPr/>
        </p:nvSpPr>
        <p:spPr>
          <a:xfrm>
            <a:off x="297989" y="131938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Two Phases of RAG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1058512" y="1442000"/>
            <a:ext cx="666600" cy="666600"/>
          </a:xfrm>
          <a:prstGeom prst="ellipse">
            <a:avLst/>
          </a:prstGeom>
          <a:solidFill>
            <a:srgbClr val="FBE097"/>
          </a:solidFill>
          <a:ln cap="flat" cmpd="sng" w="9525">
            <a:solidFill>
              <a:srgbClr val="2A29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800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Extract</a:t>
            </a:r>
            <a:endParaRPr sz="800">
              <a:solidFill>
                <a:srgbClr val="2A292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1801771" y="1459975"/>
            <a:ext cx="666600" cy="666600"/>
          </a:xfrm>
          <a:prstGeom prst="ellipse">
            <a:avLst/>
          </a:prstGeom>
          <a:solidFill>
            <a:srgbClr val="FBE097"/>
          </a:solidFill>
          <a:ln cap="flat" cmpd="sng" w="9525">
            <a:solidFill>
              <a:srgbClr val="2A29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800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Trans-</a:t>
            </a:r>
            <a:endParaRPr sz="800">
              <a:solidFill>
                <a:srgbClr val="2A292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800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form</a:t>
            </a:r>
            <a:endParaRPr sz="800">
              <a:solidFill>
                <a:srgbClr val="2A292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2545030" y="1459975"/>
            <a:ext cx="666600" cy="666600"/>
          </a:xfrm>
          <a:prstGeom prst="ellipse">
            <a:avLst/>
          </a:prstGeom>
          <a:solidFill>
            <a:srgbClr val="FBE097"/>
          </a:solidFill>
          <a:ln cap="flat" cmpd="sng" w="9525">
            <a:solidFill>
              <a:srgbClr val="2A29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800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Chunk &amp;</a:t>
            </a:r>
            <a:endParaRPr sz="800">
              <a:solidFill>
                <a:srgbClr val="2A292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800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Vectorize</a:t>
            </a:r>
            <a:endParaRPr sz="800">
              <a:solidFill>
                <a:srgbClr val="2A292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7" name="Google Shape;157;p17"/>
          <p:cNvCxnSpPr/>
          <p:nvPr/>
        </p:nvCxnSpPr>
        <p:spPr>
          <a:xfrm>
            <a:off x="936894" y="1775300"/>
            <a:ext cx="124800" cy="0"/>
          </a:xfrm>
          <a:prstGeom prst="straightConnector1">
            <a:avLst/>
          </a:prstGeom>
          <a:noFill/>
          <a:ln cap="flat" cmpd="sng" w="9525">
            <a:solidFill>
              <a:srgbClr val="FBE09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8" name="Google Shape;158;p17"/>
          <p:cNvSpPr/>
          <p:nvPr/>
        </p:nvSpPr>
        <p:spPr>
          <a:xfrm>
            <a:off x="589002" y="3154796"/>
            <a:ext cx="759000" cy="759000"/>
          </a:xfrm>
          <a:prstGeom prst="ellipse">
            <a:avLst/>
          </a:prstGeom>
          <a:solidFill>
            <a:srgbClr val="CAA5DC"/>
          </a:solidFill>
          <a:ln cap="flat" cmpd="sng" w="9525">
            <a:solidFill>
              <a:srgbClr val="572A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rgbClr val="572A6C"/>
                </a:solidFill>
                <a:latin typeface="Montserrat"/>
                <a:ea typeface="Montserrat"/>
                <a:cs typeface="Montserrat"/>
                <a:sym typeface="Montserrat"/>
              </a:rPr>
              <a:t>Chat</a:t>
            </a:r>
            <a:endParaRPr sz="900">
              <a:solidFill>
                <a:srgbClr val="572A6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2332797" y="4013396"/>
            <a:ext cx="759000" cy="759000"/>
          </a:xfrm>
          <a:prstGeom prst="ellipse">
            <a:avLst/>
          </a:prstGeom>
          <a:solidFill>
            <a:srgbClr val="CAA5DC"/>
          </a:solidFill>
          <a:ln cap="flat" cmpd="sng" w="9525">
            <a:solidFill>
              <a:srgbClr val="572A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rgbClr val="572A6C"/>
                </a:solidFill>
                <a:latin typeface="Montserrat"/>
                <a:ea typeface="Montserrat"/>
                <a:cs typeface="Montserrat"/>
                <a:sym typeface="Montserrat"/>
              </a:rPr>
              <a:t>Vectorize</a:t>
            </a:r>
            <a:endParaRPr sz="900">
              <a:solidFill>
                <a:srgbClr val="572A6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1548725" y="3292196"/>
            <a:ext cx="2322600" cy="484200"/>
          </a:xfrm>
          <a:prstGeom prst="rect">
            <a:avLst/>
          </a:prstGeom>
          <a:solidFill>
            <a:srgbClr val="CAA5DC"/>
          </a:solidFill>
          <a:ln cap="flat" cmpd="sng" w="9525">
            <a:solidFill>
              <a:srgbClr val="572A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rgbClr val="572A6C"/>
                </a:solidFill>
                <a:latin typeface="Montserrat"/>
                <a:ea typeface="Montserrat"/>
                <a:cs typeface="Montserrat"/>
                <a:sym typeface="Montserrat"/>
              </a:rPr>
              <a:t>Agent</a:t>
            </a:r>
            <a:endParaRPr sz="900">
              <a:solidFill>
                <a:srgbClr val="572A6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1" name="Google Shape;161;p17"/>
          <p:cNvCxnSpPr>
            <a:stCxn id="158" idx="6"/>
            <a:endCxn id="160" idx="1"/>
          </p:cNvCxnSpPr>
          <p:nvPr/>
        </p:nvCxnSpPr>
        <p:spPr>
          <a:xfrm>
            <a:off x="1348002" y="3534296"/>
            <a:ext cx="200700" cy="0"/>
          </a:xfrm>
          <a:prstGeom prst="straightConnector1">
            <a:avLst/>
          </a:prstGeom>
          <a:noFill/>
          <a:ln cap="flat" cmpd="sng" w="19050">
            <a:solidFill>
              <a:srgbClr val="CAA5DC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2" name="Google Shape;162;p17"/>
          <p:cNvCxnSpPr/>
          <p:nvPr/>
        </p:nvCxnSpPr>
        <p:spPr>
          <a:xfrm>
            <a:off x="2712297" y="3776396"/>
            <a:ext cx="0" cy="237000"/>
          </a:xfrm>
          <a:prstGeom prst="straightConnector1">
            <a:avLst/>
          </a:prstGeom>
          <a:noFill/>
          <a:ln cap="flat" cmpd="sng" w="19050">
            <a:solidFill>
              <a:srgbClr val="CAA5DC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3" name="Google Shape;163;p17"/>
          <p:cNvCxnSpPr>
            <a:endCxn id="164" idx="2"/>
          </p:cNvCxnSpPr>
          <p:nvPr/>
        </p:nvCxnSpPr>
        <p:spPr>
          <a:xfrm flipH="1" rot="10800000">
            <a:off x="3091798" y="4346246"/>
            <a:ext cx="242400" cy="2700"/>
          </a:xfrm>
          <a:prstGeom prst="straightConnector1">
            <a:avLst/>
          </a:prstGeom>
          <a:noFill/>
          <a:ln cap="flat" cmpd="sng" w="19050">
            <a:solidFill>
              <a:srgbClr val="CAA5DC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5" name="Google Shape;165;p17"/>
          <p:cNvSpPr/>
          <p:nvPr/>
        </p:nvSpPr>
        <p:spPr>
          <a:xfrm>
            <a:off x="1504834" y="4013396"/>
            <a:ext cx="759000" cy="759000"/>
          </a:xfrm>
          <a:prstGeom prst="ellipse">
            <a:avLst/>
          </a:prstGeom>
          <a:solidFill>
            <a:srgbClr val="CAA5DC"/>
          </a:solidFill>
          <a:ln cap="flat" cmpd="sng" w="9525">
            <a:solidFill>
              <a:srgbClr val="572A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rgbClr val="572A6C"/>
                </a:solidFill>
                <a:latin typeface="Montserrat"/>
                <a:ea typeface="Montserrat"/>
                <a:cs typeface="Montserrat"/>
                <a:sym typeface="Montserrat"/>
              </a:rPr>
              <a:t>LLM </a:t>
            </a:r>
            <a:r>
              <a:rPr lang="uk" sz="700">
                <a:solidFill>
                  <a:srgbClr val="572A6C"/>
                </a:solidFill>
                <a:latin typeface="Montserrat"/>
                <a:ea typeface="Montserrat"/>
                <a:cs typeface="Montserrat"/>
                <a:sym typeface="Montserrat"/>
              </a:rPr>
              <a:t>(workflow &amp; response)</a:t>
            </a:r>
            <a:endParaRPr sz="700">
              <a:solidFill>
                <a:srgbClr val="572A6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6" name="Google Shape;166;p17"/>
          <p:cNvCxnSpPr>
            <a:endCxn id="165" idx="0"/>
          </p:cNvCxnSpPr>
          <p:nvPr/>
        </p:nvCxnSpPr>
        <p:spPr>
          <a:xfrm>
            <a:off x="1884334" y="3776396"/>
            <a:ext cx="0" cy="237000"/>
          </a:xfrm>
          <a:prstGeom prst="straightConnector1">
            <a:avLst/>
          </a:prstGeom>
          <a:noFill/>
          <a:ln cap="flat" cmpd="sng" w="19050">
            <a:solidFill>
              <a:srgbClr val="CAA5DC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67" name="Google Shape;167;p17"/>
          <p:cNvGrpSpPr/>
          <p:nvPr/>
        </p:nvGrpSpPr>
        <p:grpSpPr>
          <a:xfrm>
            <a:off x="340453" y="1442000"/>
            <a:ext cx="641400" cy="666600"/>
            <a:chOff x="340453" y="1442000"/>
            <a:chExt cx="641400" cy="666600"/>
          </a:xfrm>
        </p:grpSpPr>
        <p:sp>
          <p:nvSpPr>
            <p:cNvPr id="168" name="Google Shape;168;p17"/>
            <p:cNvSpPr/>
            <p:nvPr/>
          </p:nvSpPr>
          <p:spPr>
            <a:xfrm flipH="1" rot="10800000">
              <a:off x="391575" y="1442000"/>
              <a:ext cx="574800" cy="666600"/>
            </a:xfrm>
            <a:prstGeom prst="foldedCorner">
              <a:avLst>
                <a:gd fmla="val 17558" name="adj"/>
              </a:avLst>
            </a:prstGeom>
            <a:solidFill>
              <a:srgbClr val="FBE097"/>
            </a:solidFill>
            <a:ln cap="flat" cmpd="sng" w="9525">
              <a:solidFill>
                <a:srgbClr val="2A29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69" name="Google Shape;169;p17"/>
            <p:cNvSpPr txBox="1"/>
            <p:nvPr/>
          </p:nvSpPr>
          <p:spPr>
            <a:xfrm>
              <a:off x="340453" y="1577725"/>
              <a:ext cx="6414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800">
                  <a:solidFill>
                    <a:srgbClr val="2A29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Data</a:t>
              </a:r>
              <a:endParaRPr sz="800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800">
                  <a:solidFill>
                    <a:srgbClr val="2A292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Source</a:t>
              </a:r>
              <a:endParaRPr sz="800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70" name="Google Shape;170;p17"/>
          <p:cNvSpPr/>
          <p:nvPr/>
        </p:nvSpPr>
        <p:spPr>
          <a:xfrm>
            <a:off x="3288289" y="1459975"/>
            <a:ext cx="666600" cy="666600"/>
          </a:xfrm>
          <a:prstGeom prst="ellipse">
            <a:avLst/>
          </a:prstGeom>
          <a:solidFill>
            <a:srgbClr val="FBE097"/>
          </a:solidFill>
          <a:ln cap="flat" cmpd="sng" w="9525">
            <a:solidFill>
              <a:srgbClr val="2A29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800">
                <a:solidFill>
                  <a:srgbClr val="2A2921"/>
                </a:solidFill>
                <a:latin typeface="Montserrat"/>
                <a:ea typeface="Montserrat"/>
                <a:cs typeface="Montserrat"/>
                <a:sym typeface="Montserrat"/>
              </a:rPr>
              <a:t>Load</a:t>
            </a:r>
            <a:endParaRPr sz="800">
              <a:solidFill>
                <a:srgbClr val="2A292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4031548" y="1551175"/>
            <a:ext cx="574800" cy="484200"/>
          </a:xfrm>
          <a:prstGeom prst="can">
            <a:avLst>
              <a:gd fmla="val 25000" name="adj"/>
            </a:avLst>
          </a:prstGeom>
          <a:solidFill>
            <a:srgbClr val="FBE097"/>
          </a:solidFill>
          <a:ln cap="flat" cmpd="sng" w="9525">
            <a:solidFill>
              <a:srgbClr val="2A29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latin typeface="Montserrat"/>
                <a:ea typeface="Montserrat"/>
                <a:cs typeface="Montserrat"/>
                <a:sym typeface="Montserrat"/>
              </a:rPr>
              <a:t>Vector Store</a:t>
            </a:r>
            <a:endParaRPr sz="9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72" name="Google Shape;172;p17"/>
          <p:cNvCxnSpPr/>
          <p:nvPr/>
        </p:nvCxnSpPr>
        <p:spPr>
          <a:xfrm>
            <a:off x="1698894" y="1778598"/>
            <a:ext cx="124800" cy="0"/>
          </a:xfrm>
          <a:prstGeom prst="straightConnector1">
            <a:avLst/>
          </a:prstGeom>
          <a:noFill/>
          <a:ln cap="flat" cmpd="sng" w="9525">
            <a:solidFill>
              <a:srgbClr val="FBE097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3" name="Google Shape;173;p17"/>
          <p:cNvCxnSpPr/>
          <p:nvPr/>
        </p:nvCxnSpPr>
        <p:spPr>
          <a:xfrm>
            <a:off x="2466101" y="1778598"/>
            <a:ext cx="124800" cy="0"/>
          </a:xfrm>
          <a:prstGeom prst="straightConnector1">
            <a:avLst/>
          </a:prstGeom>
          <a:noFill/>
          <a:ln cap="flat" cmpd="sng" w="9525">
            <a:solidFill>
              <a:srgbClr val="FBE097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4" name="Google Shape;174;p17"/>
          <p:cNvCxnSpPr/>
          <p:nvPr/>
        </p:nvCxnSpPr>
        <p:spPr>
          <a:xfrm>
            <a:off x="3177937" y="1778598"/>
            <a:ext cx="124800" cy="0"/>
          </a:xfrm>
          <a:prstGeom prst="straightConnector1">
            <a:avLst/>
          </a:prstGeom>
          <a:noFill/>
          <a:ln cap="flat" cmpd="sng" w="9525">
            <a:solidFill>
              <a:srgbClr val="FBE097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5" name="Google Shape;175;p17"/>
          <p:cNvCxnSpPr/>
          <p:nvPr/>
        </p:nvCxnSpPr>
        <p:spPr>
          <a:xfrm>
            <a:off x="3939937" y="1778598"/>
            <a:ext cx="124800" cy="0"/>
          </a:xfrm>
          <a:prstGeom prst="straightConnector1">
            <a:avLst/>
          </a:prstGeom>
          <a:noFill/>
          <a:ln cap="flat" cmpd="sng" w="9525">
            <a:solidFill>
              <a:srgbClr val="FBE09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64" name="Google Shape;164;p17"/>
          <p:cNvSpPr/>
          <p:nvPr/>
        </p:nvSpPr>
        <p:spPr>
          <a:xfrm>
            <a:off x="3334198" y="4104146"/>
            <a:ext cx="574800" cy="484200"/>
          </a:xfrm>
          <a:prstGeom prst="can">
            <a:avLst>
              <a:gd fmla="val 25000" name="adj"/>
            </a:avLst>
          </a:prstGeom>
          <a:solidFill>
            <a:srgbClr val="CAA5DC"/>
          </a:solidFill>
          <a:ln cap="flat" cmpd="sng" w="9525">
            <a:solidFill>
              <a:srgbClr val="58296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rgbClr val="58296C"/>
                </a:solidFill>
                <a:latin typeface="Montserrat"/>
                <a:ea typeface="Montserrat"/>
                <a:cs typeface="Montserrat"/>
                <a:sym typeface="Montserrat"/>
              </a:rPr>
              <a:t>Vector Store</a:t>
            </a:r>
            <a:endParaRPr sz="900">
              <a:solidFill>
                <a:srgbClr val="58296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8"/>
          <p:cNvSpPr txBox="1"/>
          <p:nvPr/>
        </p:nvSpPr>
        <p:spPr>
          <a:xfrm>
            <a:off x="297989" y="131938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Business Challenge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81" name="Google Shape;181;p18"/>
          <p:cNvSpPr txBox="1"/>
          <p:nvPr/>
        </p:nvSpPr>
        <p:spPr>
          <a:xfrm>
            <a:off x="145150" y="704137"/>
            <a:ext cx="5369400" cy="9234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rgbClr val="1775A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Absolutely classic business setup: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Build an Expert to answer in-depth questions for your client. The client has a number of products in a massive Google sheet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p18"/>
          <p:cNvSpPr txBox="1"/>
          <p:nvPr/>
        </p:nvSpPr>
        <p:spPr>
          <a:xfrm>
            <a:off x="145150" y="1783669"/>
            <a:ext cx="5369400" cy="11082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rgbClr val="03214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For our solution we will use Supabase: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 popular cloud provider of Postgres databases.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More advanced than using the Simple Vector databases built into n8n, and there some code to copy &amp; paste.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p18"/>
          <p:cNvSpPr txBox="1"/>
          <p:nvPr/>
        </p:nvSpPr>
        <p:spPr>
          <a:xfrm>
            <a:off x="145150" y="3048001"/>
            <a:ext cx="5369400" cy="12930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rgbClr val="B18107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Yesterday we worked on Data Ingest: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Interesting work: mapping the data from one format to another using the Edit Fields node</a:t>
            </a:r>
            <a:endParaRPr b="1"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Shortcut: Google Sheet for product data</a:t>
            </a:r>
            <a:endParaRPr b="1"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" name="Google Shape;184;p18"/>
          <p:cNvSpPr txBox="1"/>
          <p:nvPr/>
        </p:nvSpPr>
        <p:spPr>
          <a:xfrm>
            <a:off x="145150" y="4497132"/>
            <a:ext cx="5369400" cy="3693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Today we add Question Answering and then Voice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9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Two integration patterns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90" name="Google Shape;190;p19"/>
          <p:cNvSpPr txBox="1"/>
          <p:nvPr/>
        </p:nvSpPr>
        <p:spPr>
          <a:xfrm>
            <a:off x="316814" y="241826"/>
            <a:ext cx="244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Voice + Workflow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170475" y="1222675"/>
            <a:ext cx="2588700" cy="2088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>
                <a:latin typeface="Montserrat"/>
                <a:ea typeface="Montserrat"/>
                <a:cs typeface="Montserrat"/>
                <a:sym typeface="Montserrat"/>
              </a:rPr>
              <a:t>n8n orchestration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latin typeface="Montserrat"/>
                <a:ea typeface="Montserrat"/>
                <a:cs typeface="Montserrat"/>
                <a:sym typeface="Montserrat"/>
              </a:rPr>
              <a:t>End-to-end workflow in n8n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latin typeface="Montserrat"/>
                <a:ea typeface="Montserrat"/>
                <a:cs typeface="Montserrat"/>
                <a:sym typeface="Montserrat"/>
              </a:rPr>
              <a:t>Call ElevenLabs API for TTS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latin typeface="Montserrat"/>
                <a:ea typeface="Montserrat"/>
                <a:cs typeface="Montserrat"/>
                <a:sym typeface="Montserrat"/>
              </a:rPr>
              <a:t>Call ElevenLabs API for STT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2891325" y="1222675"/>
            <a:ext cx="2588700" cy="208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ElevenLabs orchestration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Voice Agent in ElevenLabs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Have a tool that calls n8n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Business workflow in n8n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3" name="Google Shape;193;p19"/>
          <p:cNvSpPr txBox="1"/>
          <p:nvPr/>
        </p:nvSpPr>
        <p:spPr>
          <a:xfrm>
            <a:off x="219200" y="3541675"/>
            <a:ext cx="2539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Benefits:</a:t>
            </a:r>
            <a:endParaRPr b="1" sz="1200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   Simple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   All workflow in one place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   More switchable API 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4" name="Google Shape;194;p19"/>
          <p:cNvSpPr txBox="1"/>
          <p:nvPr/>
        </p:nvSpPr>
        <p:spPr>
          <a:xfrm>
            <a:off x="2940225" y="3523725"/>
            <a:ext cx="2539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accent4"/>
                </a:solidFill>
                <a:latin typeface="Montserrat"/>
                <a:ea typeface="Montserrat"/>
                <a:cs typeface="Montserrat"/>
                <a:sym typeface="Montserrat"/>
              </a:rPr>
              <a:t>Benefits:</a:t>
            </a:r>
            <a:endParaRPr b="1" sz="1200">
              <a:solidFill>
                <a:schemeClr val="accent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   Low latency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   Best of both products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   Advanced Voice features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311658" y="4030292"/>
            <a:ext cx="66000" cy="508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3025908" y="4030292"/>
            <a:ext cx="66000" cy="508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0"/>
          <p:cNvSpPr txBox="1"/>
          <p:nvPr/>
        </p:nvSpPr>
        <p:spPr>
          <a:xfrm>
            <a:off x="316814" y="148438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Deeper terminology on APIs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316824" y="710000"/>
            <a:ext cx="467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12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You don’t need to remember this! We will review often.</a:t>
            </a:r>
            <a:endParaRPr b="0" i="0" sz="12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145150" y="1210925"/>
            <a:ext cx="5369400" cy="12930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“</a:t>
            </a:r>
            <a:r>
              <a:rPr b="1"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Calling an API</a:t>
            </a: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” is achieved by making a web request using HTTP, the language of the internet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The URL is known as an </a:t>
            </a:r>
            <a:r>
              <a:rPr b="1"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Endpoint</a:t>
            </a:r>
            <a:endParaRPr b="1"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uk" sz="12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“I’m calling an API by making an HTTP request to an Endpoint”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145150" y="2591411"/>
            <a:ext cx="5369400" cy="1293000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When you’re on the receiving end, and you want someone to call your URL when they have information for you, that endpoint is known as a </a:t>
            </a:r>
            <a:r>
              <a:rPr b="1"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Webhook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uk" sz="12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“I’ve set up a Webhook - make an HTTP request there to notify me about X” or “Tell me your Webhook so I can notify you”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145150" y="4004947"/>
            <a:ext cx="5369400" cy="923400"/>
          </a:xfrm>
          <a:prstGeom prst="rect">
            <a:avLst/>
          </a:prstGeom>
          <a:noFill/>
          <a:ln cap="flat" cmpd="sng" w="28575">
            <a:solidFill>
              <a:srgbClr val="B181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There are different flavors of HTTP Request, called the </a:t>
            </a:r>
            <a:r>
              <a:rPr b="1" lang="uk" sz="1200">
                <a:solidFill>
                  <a:srgbClr val="B18107"/>
                </a:solidFill>
                <a:latin typeface="Montserrat"/>
                <a:ea typeface="Montserrat"/>
                <a:cs typeface="Montserrat"/>
                <a:sym typeface="Montserrat"/>
              </a:rPr>
              <a:t>Method</a:t>
            </a: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The most common are </a:t>
            </a:r>
            <a:r>
              <a:rPr b="1" lang="uk" sz="1200">
                <a:solidFill>
                  <a:srgbClr val="B18107"/>
                </a:solidFill>
                <a:latin typeface="Montserrat"/>
                <a:ea typeface="Montserrat"/>
                <a:cs typeface="Montserrat"/>
                <a:sym typeface="Montserrat"/>
              </a:rPr>
              <a:t>GET</a:t>
            </a: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b="1" lang="uk" sz="1200">
                <a:solidFill>
                  <a:srgbClr val="B18107"/>
                </a:solidFill>
                <a:latin typeface="Montserrat"/>
                <a:ea typeface="Montserrat"/>
                <a:cs typeface="Montserrat"/>
                <a:sym typeface="Montserrat"/>
              </a:rPr>
              <a:t>POST</a:t>
            </a:r>
            <a:endParaRPr b="1" sz="1200">
              <a:solidFill>
                <a:srgbClr val="B1810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GET is usually used to fetch information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POST is usually used to send information with </a:t>
            </a: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JSON</a:t>
            </a:r>
            <a:r>
              <a:rPr lang="uk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in the </a:t>
            </a:r>
            <a:r>
              <a:rPr b="1" lang="uk" sz="1200">
                <a:solidFill>
                  <a:srgbClr val="B18107"/>
                </a:solidFill>
                <a:latin typeface="Montserrat"/>
                <a:ea typeface="Montserrat"/>
                <a:cs typeface="Montserrat"/>
                <a:sym typeface="Montserrat"/>
              </a:rPr>
              <a:t>body</a:t>
            </a:r>
            <a:endParaRPr b="1" sz="1200">
              <a:solidFill>
                <a:srgbClr val="B1810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"/>
          <p:cNvSpPr txBox="1"/>
          <p:nvPr/>
        </p:nvSpPr>
        <p:spPr>
          <a:xfrm>
            <a:off x="316814" y="1138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Weeks to Agentic AI Builder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243825" y="3743708"/>
            <a:ext cx="5247000" cy="1029000"/>
          </a:xfrm>
          <a:prstGeom prst="rect">
            <a:avLst/>
          </a:prstGeom>
          <a:solidFill>
            <a:srgbClr val="888888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384025" y="41100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First n8n AI Agent Live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1395072" y="41100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Foundations: Agentic AI and n8n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2406118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Integrations with docs and email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3417153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 and integrations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4445172" y="4110058"/>
            <a:ext cx="934800" cy="538200"/>
          </a:xfrm>
          <a:prstGeom prst="rect">
            <a:avLst/>
          </a:prstGeom>
          <a:solidFill>
            <a:srgbClr val="1775A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Daily Portfolio Rebalancer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393675" y="37437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Week 1: Automate</a:t>
            </a:r>
            <a:r>
              <a:rPr lang="uk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workflows in n8n cloud</a:t>
            </a:r>
            <a:endParaRPr b="0" i="0" sz="12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243825" y="2638508"/>
            <a:ext cx="5247000" cy="1029000"/>
          </a:xfrm>
          <a:prstGeom prst="rect">
            <a:avLst/>
          </a:prstGeom>
          <a:solidFill>
            <a:srgbClr val="888888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384025" y="30048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Voice Agents with ElevenLabs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1395072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Integrating ElevenLabs and n8n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2406118" y="30048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RAG and Agentic RAG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3417153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Supabase Vectors and Data ingest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4445172" y="3004858"/>
            <a:ext cx="934800" cy="538200"/>
          </a:xfrm>
          <a:prstGeom prst="rect">
            <a:avLst/>
          </a:prstGeom>
          <a:solidFill>
            <a:srgbClr val="1775A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Product Expert Voice Agent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393675" y="26385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Week 2: Accelerate</a:t>
            </a:r>
            <a:r>
              <a:rPr lang="uk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Voice Agents and RAG</a:t>
            </a:r>
            <a:endParaRPr b="0" i="0" sz="12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25" name="Google Shape;225;p21"/>
          <p:cNvSpPr/>
          <p:nvPr/>
        </p:nvSpPr>
        <p:spPr>
          <a:xfrm>
            <a:off x="243825" y="15333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384025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Self-hosted n8n and Local LLMs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1395072" y="18996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Advanced Integrations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2406118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3417153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Context Engineering, Sub-Agents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4445172" y="18996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Capstone: Amplify your business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393675" y="15333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Week 3: </a:t>
            </a: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Amplify 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with multi-agent systems and MCP  </a:t>
            </a:r>
            <a:endParaRPr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232" name="Google Shape;232;p21"/>
          <p:cNvGrpSpPr/>
          <p:nvPr/>
        </p:nvGrpSpPr>
        <p:grpSpPr>
          <a:xfrm>
            <a:off x="837139" y="852239"/>
            <a:ext cx="1215893" cy="323100"/>
            <a:chOff x="316825" y="809164"/>
            <a:chExt cx="1215893" cy="323100"/>
          </a:xfrm>
        </p:grpSpPr>
        <p:sp>
          <p:nvSpPr>
            <p:cNvPr id="233" name="Google Shape;233;p21"/>
            <p:cNvSpPr/>
            <p:nvPr/>
          </p:nvSpPr>
          <p:spPr>
            <a:xfrm>
              <a:off x="316825" y="879951"/>
              <a:ext cx="237300" cy="178500"/>
            </a:xfrm>
            <a:prstGeom prst="rect">
              <a:avLst/>
            </a:prstGeom>
            <a:solidFill>
              <a:srgbClr val="CAA5DC"/>
            </a:solidFill>
            <a:ln cap="flat" cmpd="sng" w="9525">
              <a:solidFill>
                <a:srgbClr val="572A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34" name="Google Shape;234;p21"/>
            <p:cNvSpPr txBox="1"/>
            <p:nvPr/>
          </p:nvSpPr>
          <p:spPr>
            <a:xfrm>
              <a:off x="54181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Core skills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235" name="Google Shape;235;p21"/>
          <p:cNvGrpSpPr/>
          <p:nvPr/>
        </p:nvGrpSpPr>
        <p:grpSpPr>
          <a:xfrm>
            <a:off x="2278877" y="852239"/>
            <a:ext cx="1215893" cy="323100"/>
            <a:chOff x="1670575" y="809164"/>
            <a:chExt cx="1215893" cy="323100"/>
          </a:xfrm>
        </p:grpSpPr>
        <p:sp>
          <p:nvSpPr>
            <p:cNvPr id="236" name="Google Shape;236;p21"/>
            <p:cNvSpPr/>
            <p:nvPr/>
          </p:nvSpPr>
          <p:spPr>
            <a:xfrm>
              <a:off x="1670575" y="879951"/>
              <a:ext cx="237300" cy="178500"/>
            </a:xfrm>
            <a:prstGeom prst="rect">
              <a:avLst/>
            </a:prstGeom>
            <a:solidFill>
              <a:srgbClr val="FBE097"/>
            </a:solidFill>
            <a:ln cap="flat" cmpd="sng" w="9525">
              <a:solidFill>
                <a:srgbClr val="B181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37" name="Google Shape;237;p21"/>
            <p:cNvSpPr txBox="1"/>
            <p:nvPr/>
          </p:nvSpPr>
          <p:spPr>
            <a:xfrm>
              <a:off x="189556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Integrations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238" name="Google Shape;238;p21"/>
          <p:cNvGrpSpPr/>
          <p:nvPr/>
        </p:nvGrpSpPr>
        <p:grpSpPr>
          <a:xfrm>
            <a:off x="3720614" y="852239"/>
            <a:ext cx="1215893" cy="323100"/>
            <a:chOff x="3200300" y="809164"/>
            <a:chExt cx="1215893" cy="323100"/>
          </a:xfrm>
        </p:grpSpPr>
        <p:sp>
          <p:nvSpPr>
            <p:cNvPr id="239" name="Google Shape;239;p21"/>
            <p:cNvSpPr/>
            <p:nvPr/>
          </p:nvSpPr>
          <p:spPr>
            <a:xfrm>
              <a:off x="3200300" y="879951"/>
              <a:ext cx="237300" cy="178500"/>
            </a:xfrm>
            <a:prstGeom prst="rect">
              <a:avLst/>
            </a:prstGeom>
            <a:solidFill>
              <a:srgbClr val="D0EBF8"/>
            </a:solidFill>
            <a:ln cap="flat" cmpd="sng" w="9525">
              <a:solidFill>
                <a:srgbClr val="177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40" name="Google Shape;240;p21"/>
            <p:cNvSpPr txBox="1"/>
            <p:nvPr/>
          </p:nvSpPr>
          <p:spPr>
            <a:xfrm>
              <a:off x="3425293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Projects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2"/>
          <p:cNvSpPr/>
          <p:nvPr/>
        </p:nvSpPr>
        <p:spPr>
          <a:xfrm>
            <a:off x="3429000" y="-25"/>
            <a:ext cx="19569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6" name="Google Shape;246;p22"/>
          <p:cNvSpPr txBox="1"/>
          <p:nvPr/>
        </p:nvSpPr>
        <p:spPr>
          <a:xfrm>
            <a:off x="3538375" y="230275"/>
            <a:ext cx="1751100" cy="46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AI Builder: Low-Code AI Agents &amp; Voice Agents in n8n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4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67%</a:t>
            </a:r>
            <a:endParaRPr sz="4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247" name="Google Shape;24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5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32147"/>
      </a:dk1>
      <a:lt1>
        <a:srgbClr val="FFFFFF"/>
      </a:lt1>
      <a:dk2>
        <a:srgbClr val="032147"/>
      </a:dk2>
      <a:lt2>
        <a:srgbClr val="EEEEEE"/>
      </a:lt2>
      <a:accent1>
        <a:srgbClr val="209DD7"/>
      </a:accent1>
      <a:accent2>
        <a:srgbClr val="753991"/>
      </a:accent2>
      <a:accent3>
        <a:srgbClr val="ECAD0A"/>
      </a:accent3>
      <a:accent4>
        <a:srgbClr val="4CBB17"/>
      </a:accent4>
      <a:accent5>
        <a:srgbClr val="BC101F"/>
      </a:accent5>
      <a:accent6>
        <a:srgbClr val="BC101F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