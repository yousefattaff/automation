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Montserrat SemiBold"/>
      <p:regular r:id="rId11"/>
      <p:bold r:id="rId12"/>
      <p:italic r:id="rId13"/>
      <p:boldItalic r:id="rId14"/>
    </p:embeddedFont>
    <p:embeddedFont>
      <p:font typeface="Montserrat"/>
      <p:regular r:id="rId15"/>
      <p:bold r:id="rId16"/>
      <p:italic r:id="rId17"/>
      <p:boldItalic r:id="rId18"/>
    </p:embeddedFont>
    <p:embeddedFont>
      <p:font typeface="Montserrat Medium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bold.fntdata"/><Relationship Id="rId11" Type="http://schemas.openxmlformats.org/officeDocument/2006/relationships/font" Target="fonts/MontserratSemiBold-regular.fntdata"/><Relationship Id="rId22" Type="http://schemas.openxmlformats.org/officeDocument/2006/relationships/font" Target="fonts/MontserratMedium-boldItalic.fntdata"/><Relationship Id="rId10" Type="http://schemas.openxmlformats.org/officeDocument/2006/relationships/slide" Target="slides/slide5.xml"/><Relationship Id="rId21" Type="http://schemas.openxmlformats.org/officeDocument/2006/relationships/font" Target="fonts/MontserratMedium-italic.fntdata"/><Relationship Id="rId13" Type="http://schemas.openxmlformats.org/officeDocument/2006/relationships/font" Target="fonts/MontserratSemiBold-italic.fntdata"/><Relationship Id="rId12" Type="http://schemas.openxmlformats.org/officeDocument/2006/relationships/font" Target="fonts/Montserrat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font" Target="fonts/MontserratSemiBold-boldItalic.fntdata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Medium-regular.fnt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7158c58547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7158c58547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19951d5b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b19951d5b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19d146eff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919d146eff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1676b0830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3b1676b0830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4558ba40b8_0_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4558ba40b8_0_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3538375" y="230275"/>
            <a:ext cx="1751100" cy="4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Builder: Low-Code AI Agents &amp; Voice Agents in n8n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2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1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Agentic AI Builder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First n8n AI Agent Live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Foundations: Agentic AI and n8n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Integrations with docs and email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and integrations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Daily Portfolio Rebalancer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Automate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workflows in n8n cloud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CAA5DC"/>
          </a:solidFill>
          <a:ln cap="flat" cmpd="sng" w="28575">
            <a:solidFill>
              <a:srgbClr val="5829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Voice Agents with ElevenLabs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Integrating ElevenLabs and n8n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RAG and Agentic RAG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Supabase Vectors and Data ingest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Product Expert Voice Agent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Accelerate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Voice Agents and RAG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Self-hosted n8n and Local LLMs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Advanced Integrations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Engineering, Sub-Agents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Week 3: 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Amplify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multi-agent systems and MCP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85" name="Google Shape;85;p15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2278877" y="852239"/>
            <a:ext cx="1215893" cy="323100"/>
            <a:chOff x="1670575" y="809164"/>
            <a:chExt cx="1215893" cy="323100"/>
          </a:xfrm>
        </p:grpSpPr>
        <p:sp>
          <p:nvSpPr>
            <p:cNvPr id="88" name="Google Shape;88;p15"/>
            <p:cNvSpPr/>
            <p:nvPr/>
          </p:nvSpPr>
          <p:spPr>
            <a:xfrm>
              <a:off x="16705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89556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Integrations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91" name="Google Shape;91;p15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ElevenLabs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Introducing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9" name="Google Shape;99;p16"/>
          <p:cNvGrpSpPr/>
          <p:nvPr/>
        </p:nvGrpSpPr>
        <p:grpSpPr>
          <a:xfrm>
            <a:off x="148477" y="1300688"/>
            <a:ext cx="5867674" cy="1002900"/>
            <a:chOff x="148477" y="1300688"/>
            <a:chExt cx="5867674" cy="1002900"/>
          </a:xfrm>
        </p:grpSpPr>
        <p:sp>
          <p:nvSpPr>
            <p:cNvPr id="100" name="Google Shape;100;p16"/>
            <p:cNvSpPr txBox="1"/>
            <p:nvPr/>
          </p:nvSpPr>
          <p:spPr>
            <a:xfrm>
              <a:off x="1216451" y="1531701"/>
              <a:ext cx="4799700" cy="369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uk" sz="1200">
                  <a:solidFill>
                    <a:srgbClr val="B1810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Company</a:t>
              </a:r>
              <a:endParaRPr b="0" i="0" sz="1100" u="none" cap="none" strike="noStrike">
                <a:solidFill>
                  <a:srgbClr val="B1810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1216451" y="1753474"/>
              <a:ext cx="4799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Founded in 2022, one of the leaders in Audio Generation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6"/>
            <p:cNvSpPr/>
            <p:nvPr/>
          </p:nvSpPr>
          <p:spPr>
            <a:xfrm>
              <a:off x="148477" y="1300688"/>
              <a:ext cx="1002900" cy="1002900"/>
            </a:xfrm>
            <a:prstGeom prst="ellipse">
              <a:avLst/>
            </a:prstGeom>
            <a:solidFill>
              <a:srgbClr val="F9CF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03" name="Google Shape;103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7750" y="1436717"/>
              <a:ext cx="644349" cy="6443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" name="Google Shape;104;p16"/>
          <p:cNvGrpSpPr/>
          <p:nvPr/>
        </p:nvGrpSpPr>
        <p:grpSpPr>
          <a:xfrm>
            <a:off x="148477" y="2479125"/>
            <a:ext cx="5961873" cy="1002900"/>
            <a:chOff x="148477" y="2479125"/>
            <a:chExt cx="5961873" cy="1002900"/>
          </a:xfrm>
        </p:grpSpPr>
        <p:sp>
          <p:nvSpPr>
            <p:cNvPr id="105" name="Google Shape;105;p16"/>
            <p:cNvSpPr txBox="1"/>
            <p:nvPr/>
          </p:nvSpPr>
          <p:spPr>
            <a:xfrm>
              <a:off x="1216450" y="2701650"/>
              <a:ext cx="4893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uk" sz="1200">
                  <a:solidFill>
                    <a:srgbClr val="B1810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Products</a:t>
              </a:r>
              <a:endParaRPr b="0" i="0" sz="1100" u="none" cap="none" strike="noStrike">
                <a:solidFill>
                  <a:srgbClr val="B1810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6"/>
            <p:cNvSpPr txBox="1"/>
            <p:nvPr/>
          </p:nvSpPr>
          <p:spPr>
            <a:xfrm>
              <a:off x="1216450" y="2923426"/>
              <a:ext cx="4799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Creative Platform vs Agents Platform</a:t>
              </a:r>
              <a:endParaRPr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148477" y="2479125"/>
              <a:ext cx="1002900" cy="1002900"/>
            </a:xfrm>
            <a:prstGeom prst="ellipse">
              <a:avLst/>
            </a:prstGeom>
            <a:solidFill>
              <a:srgbClr val="B181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08" name="Google Shape;108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53750" y="2684428"/>
              <a:ext cx="592349" cy="5923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" name="Google Shape;109;p16"/>
          <p:cNvGrpSpPr/>
          <p:nvPr/>
        </p:nvGrpSpPr>
        <p:grpSpPr>
          <a:xfrm>
            <a:off x="148477" y="3657563"/>
            <a:ext cx="5867674" cy="1002900"/>
            <a:chOff x="148477" y="3657563"/>
            <a:chExt cx="5867674" cy="1002900"/>
          </a:xfrm>
        </p:grpSpPr>
        <p:sp>
          <p:nvSpPr>
            <p:cNvPr id="110" name="Google Shape;110;p16"/>
            <p:cNvSpPr txBox="1"/>
            <p:nvPr/>
          </p:nvSpPr>
          <p:spPr>
            <a:xfrm>
              <a:off x="1216451" y="3880091"/>
              <a:ext cx="4799700" cy="369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uk" sz="1200">
                  <a:solidFill>
                    <a:srgbClr val="B1810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Pricing</a:t>
              </a:r>
              <a:endParaRPr b="0" i="0" sz="1100" u="none" cap="none" strike="noStrike">
                <a:solidFill>
                  <a:srgbClr val="B1810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6"/>
            <p:cNvSpPr txBox="1"/>
            <p:nvPr/>
          </p:nvSpPr>
          <p:spPr>
            <a:xfrm>
              <a:off x="1216450" y="4101863"/>
              <a:ext cx="4799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Generous free tier; I have the $5 monthly</a:t>
              </a:r>
              <a:endParaRPr b="1"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2" name="Google Shape;112;p16"/>
            <p:cNvSpPr/>
            <p:nvPr/>
          </p:nvSpPr>
          <p:spPr>
            <a:xfrm>
              <a:off x="148477" y="3657563"/>
              <a:ext cx="1002900" cy="1002900"/>
            </a:xfrm>
            <a:prstGeom prst="ellipse">
              <a:avLst/>
            </a:prstGeom>
            <a:solidFill>
              <a:srgbClr val="7656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13" name="Google Shape;113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16825" y="3825925"/>
              <a:ext cx="644349" cy="6443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Agentic AI Builder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First n8n AI Agent Live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Foundations: Agentic AI and n8n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Integrations with docs and email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and integrations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Daily Portfolio Rebalancer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Automate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workflows in n8n cloud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Voice Agents with ElevenLabs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Integrating ElevenLabs and n8n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RAG and Agentic RAG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Supabase Vectors and Data ingest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Product Expert Voice Agent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Accelerate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Voice Agents and RAG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Self-hosted n8n and Local LLMs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Advanced Integrations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Engineering, Sub-Agents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Week 3: 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Amplify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multi-agent systems and MCP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40" name="Google Shape;140;p17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141" name="Google Shape;141;p17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2" name="Google Shape;142;p17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43" name="Google Shape;143;p17"/>
          <p:cNvGrpSpPr/>
          <p:nvPr/>
        </p:nvGrpSpPr>
        <p:grpSpPr>
          <a:xfrm>
            <a:off x="2278877" y="852239"/>
            <a:ext cx="1215893" cy="323100"/>
            <a:chOff x="1670575" y="809164"/>
            <a:chExt cx="1215893" cy="323100"/>
          </a:xfrm>
        </p:grpSpPr>
        <p:sp>
          <p:nvSpPr>
            <p:cNvPr id="144" name="Google Shape;144;p17"/>
            <p:cNvSpPr/>
            <p:nvPr/>
          </p:nvSpPr>
          <p:spPr>
            <a:xfrm>
              <a:off x="16705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5" name="Google Shape;145;p17"/>
            <p:cNvSpPr txBox="1"/>
            <p:nvPr/>
          </p:nvSpPr>
          <p:spPr>
            <a:xfrm>
              <a:off x="189556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Integrations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46" name="Google Shape;146;p17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147" name="Google Shape;147;p17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8" name="Google Shape;148;p17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3538375" y="230275"/>
            <a:ext cx="1751100" cy="4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Builder: Low-Code AI Agents &amp; Voice Agents in n8n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4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40%</a:t>
            </a:r>
            <a:endParaRPr sz="4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55" name="Google Shape;15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32147"/>
      </a:dk1>
      <a:lt1>
        <a:srgbClr val="FFFFFF"/>
      </a:lt1>
      <a:dk2>
        <a:srgbClr val="032147"/>
      </a:dk2>
      <a:lt2>
        <a:srgbClr val="EEEEEE"/>
      </a:lt2>
      <a:accent1>
        <a:srgbClr val="209DD7"/>
      </a:accent1>
      <a:accent2>
        <a:srgbClr val="753991"/>
      </a:accent2>
      <a:accent3>
        <a:srgbClr val="ECAD0A"/>
      </a:accent3>
      <a:accent4>
        <a:srgbClr val="4CBB17"/>
      </a:accent4>
      <a:accent5>
        <a:srgbClr val="BC101F"/>
      </a:accent5>
      <a:accent6>
        <a:srgbClr val="BC101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