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Montserrat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MontserratMedium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italic.fntdata"/><Relationship Id="rId25" Type="http://schemas.openxmlformats.org/officeDocument/2006/relationships/font" Target="fonts/MontserratMedium-bold.fntdata"/><Relationship Id="rId27" Type="http://schemas.openxmlformats.org/officeDocument/2006/relationships/font" Target="fonts/Montserrat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SemiBold-bold.fntdata"/><Relationship Id="rId16" Type="http://schemas.openxmlformats.org/officeDocument/2006/relationships/font" Target="fonts/MontserratSemiBold-regular.fntdata"/><Relationship Id="rId19" Type="http://schemas.openxmlformats.org/officeDocument/2006/relationships/font" Target="fonts/MontserratSemiBold-boldItalic.fntdata"/><Relationship Id="rId18" Type="http://schemas.openxmlformats.org/officeDocument/2006/relationships/font" Target="fonts/Montserra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2e82097e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b2e82097e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2e82097e8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b2e82097e8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2f4f2e7e1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g3b2f4f2e7e1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2f4f2e7e1_0_2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b2f4f2e7e1_0_2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2f4f2e7e1_0_4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b2f4f2e7e1_0_4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2f4f2e7e1_0_3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b2f4f2e7e1_0_3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2f4f2e7e1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b2f4f2e7e1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2f4f2e7e1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g3b2f4f2e7e1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2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3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 cap="flat" cmpd="sng" w="2857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316814" y="148438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Deeper terminology on APIs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316824" y="710000"/>
            <a:ext cx="467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12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I said we would review this often!</a:t>
            </a:r>
            <a:endParaRPr b="0" i="0" sz="12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145150" y="1210925"/>
            <a:ext cx="5369400" cy="12930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b="1"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Calling an API</a:t>
            </a: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” is achieved by making a web request using HTTP, the language of the internet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 URL is known as an </a:t>
            </a:r>
            <a:r>
              <a:rPr b="1"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Endpoint</a:t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uk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“I’m calling an API by making an HTTP request to an Endpoint”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145150" y="2591411"/>
            <a:ext cx="5369400" cy="12930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When you’re on the receiving end, and you want someone to call your URL when they have information for you, that endpoint is known as a </a:t>
            </a:r>
            <a:r>
              <a:rPr b="1"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Webhook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uk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“I’ve set up a Webhook - make an HTTP request there to notify me about X” or “Tell me your Webhook so I can notify you”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145150" y="4004947"/>
            <a:ext cx="5369400" cy="923400"/>
          </a:xfrm>
          <a:prstGeom prst="rect">
            <a:avLst/>
          </a:prstGeom>
          <a:noFill/>
          <a:ln cap="flat" cmpd="sng" w="28575">
            <a:solidFill>
              <a:srgbClr val="B18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There are different flavors of HTTP Request, called the </a:t>
            </a:r>
            <a:r>
              <a:rPr b="1" lang="uk" sz="12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Method</a:t>
            </a: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 most common are </a:t>
            </a:r>
            <a:r>
              <a:rPr b="1" lang="uk" sz="12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GET</a:t>
            </a: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uk" sz="12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POST</a:t>
            </a:r>
            <a:endParaRPr b="1" sz="12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GET is usually used to fetch information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POST is usually used to send information and includes a </a:t>
            </a:r>
            <a:r>
              <a:rPr b="1" lang="uk" sz="12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body</a:t>
            </a:r>
            <a:endParaRPr b="1" sz="12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/>
        </p:nvSpPr>
        <p:spPr>
          <a:xfrm>
            <a:off x="316814" y="148438"/>
            <a:ext cx="84489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And now.. introducing RAG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Give LLMs expertise by adding information to the prompt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07" name="Google Shape;107;p17"/>
          <p:cNvGrpSpPr/>
          <p:nvPr/>
        </p:nvGrpSpPr>
        <p:grpSpPr>
          <a:xfrm>
            <a:off x="148477" y="1300688"/>
            <a:ext cx="5867674" cy="1002900"/>
            <a:chOff x="148477" y="1300688"/>
            <a:chExt cx="5867674" cy="1002900"/>
          </a:xfrm>
        </p:grpSpPr>
        <p:sp>
          <p:nvSpPr>
            <p:cNvPr id="108" name="Google Shape;108;p17"/>
            <p:cNvSpPr txBox="1"/>
            <p:nvPr/>
          </p:nvSpPr>
          <p:spPr>
            <a:xfrm>
              <a:off x="1216450" y="1531701"/>
              <a:ext cx="47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Make your LLM more knowledgeable</a:t>
              </a:r>
              <a:endPara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7"/>
            <p:cNvSpPr txBox="1"/>
            <p:nvPr/>
          </p:nvSpPr>
          <p:spPr>
            <a:xfrm>
              <a:off x="1216450" y="1753474"/>
              <a:ext cx="4799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“Retrieval Augmented Generation” is a clever trick that works well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7"/>
            <p:cNvSpPr/>
            <p:nvPr/>
          </p:nvSpPr>
          <p:spPr>
            <a:xfrm>
              <a:off x="148477" y="1300688"/>
              <a:ext cx="1002900" cy="100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11" name="Google Shape;111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7962" y="1500210"/>
              <a:ext cx="603924" cy="603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" name="Google Shape;112;p17"/>
          <p:cNvGrpSpPr/>
          <p:nvPr/>
        </p:nvGrpSpPr>
        <p:grpSpPr>
          <a:xfrm>
            <a:off x="148477" y="2479125"/>
            <a:ext cx="5961873" cy="1002900"/>
            <a:chOff x="148477" y="2479125"/>
            <a:chExt cx="5961873" cy="1002900"/>
          </a:xfrm>
        </p:grpSpPr>
        <p:sp>
          <p:nvSpPr>
            <p:cNvPr id="113" name="Google Shape;113;p17"/>
            <p:cNvSpPr txBox="1"/>
            <p:nvPr/>
          </p:nvSpPr>
          <p:spPr>
            <a:xfrm>
              <a:off x="1216450" y="2701650"/>
              <a:ext cx="4893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Small idea: simply add information to the Prompt</a:t>
              </a:r>
              <a:endPara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7"/>
            <p:cNvSpPr txBox="1"/>
            <p:nvPr/>
          </p:nvSpPr>
          <p:spPr>
            <a:xfrm>
              <a:off x="1216450" y="2923426"/>
              <a:ext cx="4799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“Here is some context that you might find useful in answering the question”</a:t>
              </a:r>
              <a:endParaRPr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148477" y="2479125"/>
              <a:ext cx="1002900" cy="100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16" name="Google Shape;116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6825" y="2678635"/>
              <a:ext cx="603924" cy="60390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" name="Google Shape;117;p17"/>
          <p:cNvGrpSpPr/>
          <p:nvPr/>
        </p:nvGrpSpPr>
        <p:grpSpPr>
          <a:xfrm>
            <a:off x="148477" y="3657563"/>
            <a:ext cx="5867674" cy="1002900"/>
            <a:chOff x="148477" y="3657563"/>
            <a:chExt cx="5867674" cy="1002900"/>
          </a:xfrm>
        </p:grpSpPr>
        <p:sp>
          <p:nvSpPr>
            <p:cNvPr id="118" name="Google Shape;118;p17"/>
            <p:cNvSpPr txBox="1"/>
            <p:nvPr/>
          </p:nvSpPr>
          <p:spPr>
            <a:xfrm>
              <a:off x="1216450" y="3880091"/>
              <a:ext cx="47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rgbClr val="B1810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Big idea: a trick to get a relevant subset of data </a:t>
              </a:r>
              <a:endParaRPr b="0" i="0" sz="1100" u="none" cap="none" strike="noStrike">
                <a:solidFill>
                  <a:srgbClr val="B181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7"/>
            <p:cNvSpPr txBox="1"/>
            <p:nvPr/>
          </p:nvSpPr>
          <p:spPr>
            <a:xfrm>
              <a:off x="1216450" y="4101863"/>
              <a:ext cx="4799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 use an LLM to do it</a:t>
              </a:r>
              <a:endParaRPr b="1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148477" y="3657563"/>
              <a:ext cx="1002900" cy="1002900"/>
            </a:xfrm>
            <a:prstGeom prst="ellipse">
              <a:avLst/>
            </a:prstGeom>
            <a:solidFill>
              <a:srgbClr val="B181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21" name="Google Shape;121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16827" y="3821075"/>
              <a:ext cx="603924" cy="60389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8"/>
          <p:cNvGrpSpPr/>
          <p:nvPr/>
        </p:nvGrpSpPr>
        <p:grpSpPr>
          <a:xfrm>
            <a:off x="2264822" y="1253130"/>
            <a:ext cx="1071300" cy="1444930"/>
            <a:chOff x="2264822" y="1253130"/>
            <a:chExt cx="1071300" cy="1444930"/>
          </a:xfrm>
        </p:grpSpPr>
        <p:pic>
          <p:nvPicPr>
            <p:cNvPr descr="Code (1).png" id="127" name="Google Shape;127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64822" y="1253130"/>
              <a:ext cx="1071300" cy="1071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28" name="Google Shape;128;p18"/>
            <p:cNvSpPr/>
            <p:nvPr/>
          </p:nvSpPr>
          <p:spPr>
            <a:xfrm>
              <a:off x="2600137" y="2492261"/>
              <a:ext cx="4008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100"/>
                <a:buFont typeface="Montserrat"/>
                <a:buNone/>
              </a:pPr>
              <a:r>
                <a:rPr lang="uk" sz="110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n8n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18"/>
          <p:cNvSpPr txBox="1"/>
          <p:nvPr/>
        </p:nvSpPr>
        <p:spPr>
          <a:xfrm>
            <a:off x="316814" y="148438"/>
            <a:ext cx="84489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small idea behind RAG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Give LLMs expertise by adding information to the prompt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30" name="Google Shape;130;p18"/>
          <p:cNvGrpSpPr/>
          <p:nvPr/>
        </p:nvGrpSpPr>
        <p:grpSpPr>
          <a:xfrm>
            <a:off x="3361057" y="1458852"/>
            <a:ext cx="926222" cy="238476"/>
            <a:chOff x="3361057" y="1458852"/>
            <a:chExt cx="926222" cy="238476"/>
          </a:xfrm>
        </p:grpSpPr>
        <p:sp>
          <p:nvSpPr>
            <p:cNvPr id="131" name="Google Shape;131;p18"/>
            <p:cNvSpPr/>
            <p:nvPr/>
          </p:nvSpPr>
          <p:spPr>
            <a:xfrm rot="5400000">
              <a:off x="4184454" y="1594503"/>
              <a:ext cx="102825" cy="102825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2" name="Google Shape;132;p18"/>
            <p:cNvCxnSpPr/>
            <p:nvPr/>
          </p:nvCxnSpPr>
          <p:spPr>
            <a:xfrm>
              <a:off x="3450331" y="1645938"/>
              <a:ext cx="785475" cy="0"/>
            </a:xfrm>
            <a:prstGeom prst="straightConnector1">
              <a:avLst/>
            </a:prstGeom>
            <a:noFill/>
            <a:ln cap="flat" cmpd="sng" w="47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3" name="Google Shape;133;p18"/>
            <p:cNvSpPr/>
            <p:nvPr/>
          </p:nvSpPr>
          <p:spPr>
            <a:xfrm>
              <a:off x="3361057" y="1458852"/>
              <a:ext cx="706950" cy="1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800"/>
                <a:buFont typeface="Montserrat"/>
                <a:buNone/>
              </a:pPr>
              <a:r>
                <a:rPr b="1" i="0" lang="uk" sz="800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Prompt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" name="Google Shape;134;p18"/>
          <p:cNvGrpSpPr/>
          <p:nvPr/>
        </p:nvGrpSpPr>
        <p:grpSpPr>
          <a:xfrm>
            <a:off x="3398896" y="1880227"/>
            <a:ext cx="911938" cy="234988"/>
            <a:chOff x="3398896" y="1880227"/>
            <a:chExt cx="911938" cy="234988"/>
          </a:xfrm>
        </p:grpSpPr>
        <p:sp>
          <p:nvSpPr>
            <p:cNvPr id="135" name="Google Shape;135;p18"/>
            <p:cNvSpPr/>
            <p:nvPr/>
          </p:nvSpPr>
          <p:spPr>
            <a:xfrm rot="-5400000">
              <a:off x="3398896" y="1880227"/>
              <a:ext cx="102825" cy="102825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6" name="Google Shape;136;p18"/>
            <p:cNvCxnSpPr/>
            <p:nvPr/>
          </p:nvCxnSpPr>
          <p:spPr>
            <a:xfrm>
              <a:off x="3450331" y="1931617"/>
              <a:ext cx="785475" cy="0"/>
            </a:xfrm>
            <a:prstGeom prst="straightConnector1">
              <a:avLst/>
            </a:prstGeom>
            <a:noFill/>
            <a:ln cap="flat" cmpd="sng" w="47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7" name="Google Shape;137;p18"/>
            <p:cNvSpPr/>
            <p:nvPr/>
          </p:nvSpPr>
          <p:spPr>
            <a:xfrm>
              <a:off x="3603883" y="1980216"/>
              <a:ext cx="706950" cy="1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800"/>
                <a:buFont typeface="Montserrat"/>
                <a:buNone/>
              </a:pPr>
              <a:r>
                <a:rPr b="1" i="0" lang="uk" sz="800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Response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18"/>
          <p:cNvGrpSpPr/>
          <p:nvPr/>
        </p:nvGrpSpPr>
        <p:grpSpPr>
          <a:xfrm>
            <a:off x="60489" y="1253130"/>
            <a:ext cx="1071300" cy="1444930"/>
            <a:chOff x="60489" y="1253130"/>
            <a:chExt cx="1071300" cy="1444930"/>
          </a:xfrm>
        </p:grpSpPr>
        <p:sp>
          <p:nvSpPr>
            <p:cNvPr id="139" name="Google Shape;139;p18"/>
            <p:cNvSpPr/>
            <p:nvPr/>
          </p:nvSpPr>
          <p:spPr>
            <a:xfrm>
              <a:off x="60489" y="1253130"/>
              <a:ext cx="1071300" cy="1071300"/>
            </a:xfrm>
            <a:prstGeom prst="ellipse">
              <a:avLst/>
            </a:pr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Chat.png" id="140" name="Google Shape;140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489" y="1253130"/>
              <a:ext cx="1071300" cy="1071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41" name="Google Shape;141;p18"/>
            <p:cNvSpPr/>
            <p:nvPr/>
          </p:nvSpPr>
          <p:spPr>
            <a:xfrm>
              <a:off x="395804" y="2492261"/>
              <a:ext cx="4008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100"/>
                <a:buFont typeface="Montserrat"/>
                <a:buNone/>
              </a:pPr>
              <a:r>
                <a:rPr b="0" i="0" lang="uk" sz="110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Chat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" name="Google Shape;142;p18"/>
          <p:cNvGrpSpPr/>
          <p:nvPr/>
        </p:nvGrpSpPr>
        <p:grpSpPr>
          <a:xfrm>
            <a:off x="4397794" y="1253130"/>
            <a:ext cx="1071300" cy="1444930"/>
            <a:chOff x="4397794" y="1253130"/>
            <a:chExt cx="1071300" cy="1444930"/>
          </a:xfrm>
        </p:grpSpPr>
        <p:sp>
          <p:nvSpPr>
            <p:cNvPr id="143" name="Google Shape;143;p18"/>
            <p:cNvSpPr/>
            <p:nvPr/>
          </p:nvSpPr>
          <p:spPr>
            <a:xfrm>
              <a:off x="4397794" y="1253130"/>
              <a:ext cx="1071300" cy="1071300"/>
            </a:xfrm>
            <a:prstGeom prst="ellipse">
              <a:avLst/>
            </a:pr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LM.png" id="144" name="Google Shape;144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397794" y="1253130"/>
              <a:ext cx="1071300" cy="1071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45" name="Google Shape;145;p18"/>
            <p:cNvSpPr/>
            <p:nvPr/>
          </p:nvSpPr>
          <p:spPr>
            <a:xfrm>
              <a:off x="4729818" y="2492261"/>
              <a:ext cx="4008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100"/>
                <a:buFont typeface="Montserrat"/>
                <a:buNone/>
              </a:pPr>
              <a:r>
                <a:rPr b="0" i="0" lang="uk" sz="110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LLM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" name="Google Shape;146;p18"/>
          <p:cNvGrpSpPr/>
          <p:nvPr/>
        </p:nvGrpSpPr>
        <p:grpSpPr>
          <a:xfrm>
            <a:off x="1936294" y="2850235"/>
            <a:ext cx="1728300" cy="2072605"/>
            <a:chOff x="1936294" y="2850235"/>
            <a:chExt cx="1728300" cy="2072605"/>
          </a:xfrm>
        </p:grpSpPr>
        <p:sp>
          <p:nvSpPr>
            <p:cNvPr id="147" name="Google Shape;147;p18"/>
            <p:cNvSpPr/>
            <p:nvPr/>
          </p:nvSpPr>
          <p:spPr>
            <a:xfrm>
              <a:off x="2749034" y="2850235"/>
              <a:ext cx="102900" cy="102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8" name="Google Shape;148;p18"/>
            <p:cNvCxnSpPr/>
            <p:nvPr/>
          </p:nvCxnSpPr>
          <p:spPr>
            <a:xfrm rot="5400000">
              <a:off x="2580869" y="3172379"/>
              <a:ext cx="439200" cy="0"/>
            </a:xfrm>
            <a:prstGeom prst="straightConnector1">
              <a:avLst/>
            </a:prstGeom>
            <a:noFill/>
            <a:ln cap="flat" cmpd="sng" w="47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9" name="Google Shape;149;p18"/>
            <p:cNvSpPr/>
            <p:nvPr/>
          </p:nvSpPr>
          <p:spPr>
            <a:xfrm rot="10800000">
              <a:off x="2749004" y="3340571"/>
              <a:ext cx="102900" cy="1029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2946880" y="3060508"/>
              <a:ext cx="706800" cy="1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800"/>
                <a:buFont typeface="Montserrat"/>
                <a:buNone/>
              </a:pPr>
              <a:r>
                <a:rPr b="1" i="0" lang="uk" sz="800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Retrieve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2264822" y="3474339"/>
              <a:ext cx="1071300" cy="1071300"/>
            </a:xfrm>
            <a:prstGeom prst="ellipse">
              <a:avLst/>
            </a:pr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Knoweledge Base.png" id="152" name="Google Shape;152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64822" y="3474339"/>
              <a:ext cx="1071300" cy="1071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53" name="Google Shape;153;p18"/>
            <p:cNvSpPr/>
            <p:nvPr/>
          </p:nvSpPr>
          <p:spPr>
            <a:xfrm>
              <a:off x="1936294" y="4717040"/>
              <a:ext cx="17283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100"/>
                <a:buFont typeface="Montserrat"/>
                <a:buNone/>
              </a:pPr>
              <a:r>
                <a:rPr b="0" i="0" lang="uk" sz="110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Knowledge Base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18"/>
          <p:cNvGrpSpPr/>
          <p:nvPr/>
        </p:nvGrpSpPr>
        <p:grpSpPr>
          <a:xfrm>
            <a:off x="1249568" y="1476707"/>
            <a:ext cx="890513" cy="238476"/>
            <a:chOff x="1249568" y="1476707"/>
            <a:chExt cx="890513" cy="238476"/>
          </a:xfrm>
        </p:grpSpPr>
        <p:sp>
          <p:nvSpPr>
            <p:cNvPr id="155" name="Google Shape;155;p18"/>
            <p:cNvSpPr/>
            <p:nvPr/>
          </p:nvSpPr>
          <p:spPr>
            <a:xfrm rot="5400000">
              <a:off x="2037256" y="1612359"/>
              <a:ext cx="102825" cy="102825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6" name="Google Shape;156;p18"/>
            <p:cNvCxnSpPr/>
            <p:nvPr/>
          </p:nvCxnSpPr>
          <p:spPr>
            <a:xfrm>
              <a:off x="1303133" y="1663794"/>
              <a:ext cx="785475" cy="0"/>
            </a:xfrm>
            <a:prstGeom prst="straightConnector1">
              <a:avLst/>
            </a:prstGeom>
            <a:noFill/>
            <a:ln cap="flat" cmpd="sng" w="47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7" name="Google Shape;157;p18"/>
            <p:cNvSpPr/>
            <p:nvPr/>
          </p:nvSpPr>
          <p:spPr>
            <a:xfrm>
              <a:off x="1249568" y="1476707"/>
              <a:ext cx="706950" cy="1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800"/>
                <a:buFont typeface="Montserrat"/>
                <a:buNone/>
              </a:pPr>
              <a:r>
                <a:rPr b="1" i="0" lang="uk" sz="800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Question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" name="Google Shape;158;p18"/>
          <p:cNvGrpSpPr/>
          <p:nvPr/>
        </p:nvGrpSpPr>
        <p:grpSpPr>
          <a:xfrm>
            <a:off x="1230272" y="1898082"/>
            <a:ext cx="836910" cy="234989"/>
            <a:chOff x="1230272" y="1898082"/>
            <a:chExt cx="836910" cy="234989"/>
          </a:xfrm>
        </p:grpSpPr>
        <p:sp>
          <p:nvSpPr>
            <p:cNvPr id="159" name="Google Shape;159;p18"/>
            <p:cNvSpPr/>
            <p:nvPr/>
          </p:nvSpPr>
          <p:spPr>
            <a:xfrm rot="-5400000">
              <a:off x="1230272" y="1898082"/>
              <a:ext cx="102825" cy="102825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0" name="Google Shape;160;p18"/>
            <p:cNvCxnSpPr/>
            <p:nvPr/>
          </p:nvCxnSpPr>
          <p:spPr>
            <a:xfrm>
              <a:off x="1281707" y="1949472"/>
              <a:ext cx="785475" cy="0"/>
            </a:xfrm>
            <a:prstGeom prst="straightConnector1">
              <a:avLst/>
            </a:prstGeom>
            <a:noFill/>
            <a:ln cap="flat" cmpd="sng" w="47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61" name="Google Shape;161;p18"/>
            <p:cNvSpPr/>
            <p:nvPr/>
          </p:nvSpPr>
          <p:spPr>
            <a:xfrm>
              <a:off x="1356698" y="1998071"/>
              <a:ext cx="706950" cy="1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800"/>
                <a:buFont typeface="Montserrat"/>
                <a:buNone/>
              </a:pPr>
              <a:r>
                <a:rPr b="1" i="0" lang="uk" sz="800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Answer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/>
        </p:nvSpPr>
        <p:spPr>
          <a:xfrm>
            <a:off x="316814" y="148438"/>
            <a:ext cx="84489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Embedding Model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 </a:t>
            </a:r>
            <a:r>
              <a:rPr lang="uk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special kind of LLM that turns language into numbers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67" name="Google Shape;167;p19"/>
          <p:cNvGrpSpPr/>
          <p:nvPr/>
        </p:nvGrpSpPr>
        <p:grpSpPr>
          <a:xfrm>
            <a:off x="148477" y="1300688"/>
            <a:ext cx="5867674" cy="1002900"/>
            <a:chOff x="148477" y="1300688"/>
            <a:chExt cx="5867674" cy="1002900"/>
          </a:xfrm>
        </p:grpSpPr>
        <p:sp>
          <p:nvSpPr>
            <p:cNvPr id="168" name="Google Shape;168;p19"/>
            <p:cNvSpPr txBox="1"/>
            <p:nvPr/>
          </p:nvSpPr>
          <p:spPr>
            <a:xfrm>
              <a:off x="1216450" y="1531701"/>
              <a:ext cx="47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Outputs a list of numbers (“vector”) to represent text</a:t>
              </a:r>
              <a:endPara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9"/>
            <p:cNvSpPr txBox="1"/>
            <p:nvPr/>
          </p:nvSpPr>
          <p:spPr>
            <a:xfrm>
              <a:off x="1216450" y="1753474"/>
              <a:ext cx="4799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Can think of it as a point in space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148477" y="1300688"/>
              <a:ext cx="1002900" cy="100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71" name="Google Shape;171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7962" y="1500210"/>
              <a:ext cx="603924" cy="603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2" name="Google Shape;172;p19"/>
          <p:cNvGrpSpPr/>
          <p:nvPr/>
        </p:nvGrpSpPr>
        <p:grpSpPr>
          <a:xfrm>
            <a:off x="148477" y="2479125"/>
            <a:ext cx="5961873" cy="1002900"/>
            <a:chOff x="148477" y="2479125"/>
            <a:chExt cx="5961873" cy="1002900"/>
          </a:xfrm>
        </p:grpSpPr>
        <p:sp>
          <p:nvSpPr>
            <p:cNvPr id="173" name="Google Shape;173;p19"/>
            <p:cNvSpPr txBox="1"/>
            <p:nvPr/>
          </p:nvSpPr>
          <p:spPr>
            <a:xfrm>
              <a:off x="1216450" y="2701650"/>
              <a:ext cx="4893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Text with similar numbers represent similar things</a:t>
              </a:r>
              <a:endParaRPr b="0" i="0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9"/>
            <p:cNvSpPr txBox="1"/>
            <p:nvPr/>
          </p:nvSpPr>
          <p:spPr>
            <a:xfrm>
              <a:off x="1216450" y="2923426"/>
              <a:ext cx="4799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“Close to each other in vector space”</a:t>
              </a:r>
              <a:endParaRPr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148477" y="2479125"/>
              <a:ext cx="1002900" cy="100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76" name="Google Shape;176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6825" y="2678635"/>
              <a:ext cx="603924" cy="60390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7" name="Google Shape;177;p19"/>
          <p:cNvGrpSpPr/>
          <p:nvPr/>
        </p:nvGrpSpPr>
        <p:grpSpPr>
          <a:xfrm>
            <a:off x="148477" y="3657563"/>
            <a:ext cx="5867674" cy="1002900"/>
            <a:chOff x="148477" y="3657563"/>
            <a:chExt cx="5867674" cy="1002900"/>
          </a:xfrm>
        </p:grpSpPr>
        <p:sp>
          <p:nvSpPr>
            <p:cNvPr id="178" name="Google Shape;178;p19"/>
            <p:cNvSpPr txBox="1"/>
            <p:nvPr/>
          </p:nvSpPr>
          <p:spPr>
            <a:xfrm>
              <a:off x="1216450" y="3880091"/>
              <a:ext cx="47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rgbClr val="B1810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This gives us an elegant way to do a fuzzy search</a:t>
              </a:r>
              <a:endParaRPr b="0" i="0" sz="1100" u="none" cap="none" strike="noStrike">
                <a:solidFill>
                  <a:srgbClr val="B181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9"/>
            <p:cNvSpPr txBox="1"/>
            <p:nvPr/>
          </p:nvSpPr>
          <p:spPr>
            <a:xfrm>
              <a:off x="1216450" y="4101863"/>
              <a:ext cx="4799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“Semantic Search”: find text with vectors that are close by</a:t>
              </a:r>
              <a:endParaRPr b="1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148477" y="3657563"/>
              <a:ext cx="1002900" cy="1002900"/>
            </a:xfrm>
            <a:prstGeom prst="ellipse">
              <a:avLst/>
            </a:prstGeom>
            <a:solidFill>
              <a:srgbClr val="B181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81" name="Google Shape;181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16827" y="3821075"/>
              <a:ext cx="603924" cy="60389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/>
        </p:nvSpPr>
        <p:spPr>
          <a:xfrm>
            <a:off x="316814" y="148438"/>
            <a:ext cx="8448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big idea behind RAG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2098473" y="2221150"/>
            <a:ext cx="1071300" cy="1071300"/>
          </a:xfrm>
          <a:prstGeom prst="ellipse">
            <a:avLst/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" name="Google Shape;188;p20"/>
          <p:cNvGrpSpPr/>
          <p:nvPr/>
        </p:nvGrpSpPr>
        <p:grpSpPr>
          <a:xfrm>
            <a:off x="2098473" y="2221150"/>
            <a:ext cx="1071300" cy="1312836"/>
            <a:chOff x="2098473" y="2221151"/>
            <a:chExt cx="1071300" cy="1312836"/>
          </a:xfrm>
        </p:grpSpPr>
        <p:pic>
          <p:nvPicPr>
            <p:cNvPr descr="Code (1).png" id="189" name="Google Shape;189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98473" y="2221150"/>
              <a:ext cx="1071300" cy="1071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90" name="Google Shape;190;p20"/>
            <p:cNvSpPr/>
            <p:nvPr/>
          </p:nvSpPr>
          <p:spPr>
            <a:xfrm>
              <a:off x="2433788" y="3361187"/>
              <a:ext cx="400800" cy="1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100"/>
                <a:buFont typeface="Montserrat"/>
                <a:buNone/>
              </a:pPr>
              <a:r>
                <a:rPr lang="uk" sz="110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n8n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1" name="Google Shape;191;p20"/>
          <p:cNvSpPr/>
          <p:nvPr/>
        </p:nvSpPr>
        <p:spPr>
          <a:xfrm>
            <a:off x="4174309" y="2164016"/>
            <a:ext cx="1071300" cy="1071300"/>
          </a:xfrm>
          <a:prstGeom prst="ellipse">
            <a:avLst/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LM.png" id="192" name="Google Shape;19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4309" y="2164016"/>
            <a:ext cx="1071300" cy="1071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93" name="Google Shape;193;p20"/>
          <p:cNvSpPr/>
          <p:nvPr/>
        </p:nvSpPr>
        <p:spPr>
          <a:xfrm>
            <a:off x="4544977" y="3304051"/>
            <a:ext cx="3300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100"/>
              <a:buFont typeface="Montserrat"/>
              <a:buNone/>
            </a:pPr>
            <a:r>
              <a:rPr b="0" i="0" lang="uk" sz="11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74993" y="2221150"/>
            <a:ext cx="1071300" cy="1071300"/>
          </a:xfrm>
          <a:prstGeom prst="ellipse">
            <a:avLst/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" name="Google Shape;195;p20"/>
          <p:cNvGrpSpPr/>
          <p:nvPr/>
        </p:nvGrpSpPr>
        <p:grpSpPr>
          <a:xfrm>
            <a:off x="74993" y="2221150"/>
            <a:ext cx="1071300" cy="1312836"/>
            <a:chOff x="74993" y="2221151"/>
            <a:chExt cx="1071300" cy="1312836"/>
          </a:xfrm>
        </p:grpSpPr>
        <p:pic>
          <p:nvPicPr>
            <p:cNvPr descr="Chat.png" id="196" name="Google Shape;196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993" y="2221150"/>
              <a:ext cx="1071300" cy="1071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97" name="Google Shape;197;p20"/>
            <p:cNvSpPr/>
            <p:nvPr/>
          </p:nvSpPr>
          <p:spPr>
            <a:xfrm>
              <a:off x="257113" y="3361187"/>
              <a:ext cx="706800" cy="1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100"/>
                <a:buFont typeface="Montserrat"/>
                <a:buNone/>
              </a:pPr>
              <a:r>
                <a:rPr b="0" i="0" lang="uk" sz="110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Chat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" name="Google Shape;198;p20"/>
          <p:cNvSpPr/>
          <p:nvPr/>
        </p:nvSpPr>
        <p:spPr>
          <a:xfrm>
            <a:off x="2255597" y="4020926"/>
            <a:ext cx="799800" cy="799800"/>
          </a:xfrm>
          <a:prstGeom prst="ellipse">
            <a:avLst/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Vectore Database.png" id="199" name="Google Shape;19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5597" y="4020926"/>
            <a:ext cx="799800" cy="799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00" name="Google Shape;200;p20"/>
          <p:cNvSpPr/>
          <p:nvPr/>
        </p:nvSpPr>
        <p:spPr>
          <a:xfrm>
            <a:off x="2081149" y="4910993"/>
            <a:ext cx="12885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100"/>
              <a:buFont typeface="Montserrat"/>
              <a:buNone/>
            </a:pPr>
            <a:r>
              <a:rPr b="0" i="0" lang="uk" sz="11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Vector Datastore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1" name="Google Shape;201;p20"/>
          <p:cNvGrpSpPr/>
          <p:nvPr/>
        </p:nvGrpSpPr>
        <p:grpSpPr>
          <a:xfrm>
            <a:off x="3170920" y="2432620"/>
            <a:ext cx="929635" cy="235385"/>
            <a:chOff x="7146725" y="3243493"/>
            <a:chExt cx="1239513" cy="313847"/>
          </a:xfrm>
        </p:grpSpPr>
        <p:cxnSp>
          <p:nvCxnSpPr>
            <p:cNvPr id="202" name="Google Shape;202;p20"/>
            <p:cNvCxnSpPr/>
            <p:nvPr/>
          </p:nvCxnSpPr>
          <p:spPr>
            <a:xfrm>
              <a:off x="7270308" y="3488820"/>
              <a:ext cx="1047300" cy="0"/>
            </a:xfrm>
            <a:prstGeom prst="straightConnector1">
              <a:avLst/>
            </a:prstGeom>
            <a:noFill/>
            <a:ln cap="flat" cmpd="sng" w="47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3" name="Google Shape;203;p20"/>
            <p:cNvSpPr/>
            <p:nvPr/>
          </p:nvSpPr>
          <p:spPr>
            <a:xfrm rot="5400000">
              <a:off x="8249138" y="3420240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7146725" y="3243493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800"/>
                <a:buFont typeface="Montserrat"/>
                <a:buNone/>
              </a:pPr>
              <a:r>
                <a:rPr b="1" i="0" lang="uk" sz="800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Prompt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" name="Google Shape;205;p20"/>
          <p:cNvGrpSpPr/>
          <p:nvPr/>
        </p:nvGrpSpPr>
        <p:grpSpPr>
          <a:xfrm>
            <a:off x="1200614" y="2850904"/>
            <a:ext cx="887099" cy="232333"/>
            <a:chOff x="4011650" y="3801205"/>
            <a:chExt cx="1182799" cy="309777"/>
          </a:xfrm>
        </p:grpSpPr>
        <p:cxnSp>
          <p:nvCxnSpPr>
            <p:cNvPr id="206" name="Google Shape;206;p20"/>
            <p:cNvCxnSpPr/>
            <p:nvPr/>
          </p:nvCxnSpPr>
          <p:spPr>
            <a:xfrm>
              <a:off x="4080230" y="3869725"/>
              <a:ext cx="1047300" cy="0"/>
            </a:xfrm>
            <a:prstGeom prst="straightConnector1">
              <a:avLst/>
            </a:prstGeom>
            <a:noFill/>
            <a:ln cap="flat" cmpd="sng" w="47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7" name="Google Shape;207;p20"/>
            <p:cNvSpPr/>
            <p:nvPr/>
          </p:nvSpPr>
          <p:spPr>
            <a:xfrm rot="-5400000">
              <a:off x="4011650" y="3801205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4251849" y="3930982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800"/>
                <a:buFont typeface="Montserrat"/>
                <a:buNone/>
              </a:pPr>
              <a:r>
                <a:rPr b="1" i="0" lang="uk" sz="800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Answer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20"/>
          <p:cNvGrpSpPr/>
          <p:nvPr/>
        </p:nvGrpSpPr>
        <p:grpSpPr>
          <a:xfrm>
            <a:off x="2594717" y="3610997"/>
            <a:ext cx="757066" cy="354234"/>
            <a:chOff x="6175255" y="4814663"/>
            <a:chExt cx="1009422" cy="472312"/>
          </a:xfrm>
        </p:grpSpPr>
        <p:cxnSp>
          <p:nvCxnSpPr>
            <p:cNvPr id="210" name="Google Shape;210;p20"/>
            <p:cNvCxnSpPr/>
            <p:nvPr/>
          </p:nvCxnSpPr>
          <p:spPr>
            <a:xfrm rot="5400000">
              <a:off x="6076285" y="5050793"/>
              <a:ext cx="335100" cy="0"/>
            </a:xfrm>
            <a:prstGeom prst="straightConnector1">
              <a:avLst/>
            </a:prstGeom>
            <a:noFill/>
            <a:ln cap="flat" cmpd="sng" w="47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1" name="Google Shape;211;p20"/>
            <p:cNvSpPr/>
            <p:nvPr/>
          </p:nvSpPr>
          <p:spPr>
            <a:xfrm>
              <a:off x="6175255" y="4814663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0"/>
            <p:cNvSpPr/>
            <p:nvPr/>
          </p:nvSpPr>
          <p:spPr>
            <a:xfrm rot="10800000">
              <a:off x="6175315" y="5149875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0"/>
            <p:cNvSpPr/>
            <p:nvPr/>
          </p:nvSpPr>
          <p:spPr>
            <a:xfrm>
              <a:off x="6242077" y="4978470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800"/>
                <a:buFont typeface="Montserrat"/>
                <a:buNone/>
              </a:pPr>
              <a:r>
                <a:rPr b="1" i="0" lang="uk" sz="800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Retrieve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" name="Google Shape;214;p20"/>
          <p:cNvGrpSpPr/>
          <p:nvPr/>
        </p:nvGrpSpPr>
        <p:grpSpPr>
          <a:xfrm>
            <a:off x="1195072" y="2432620"/>
            <a:ext cx="893925" cy="235385"/>
            <a:chOff x="4004261" y="3243493"/>
            <a:chExt cx="1191900" cy="313847"/>
          </a:xfrm>
        </p:grpSpPr>
        <p:cxnSp>
          <p:nvCxnSpPr>
            <p:cNvPr id="215" name="Google Shape;215;p20"/>
            <p:cNvCxnSpPr/>
            <p:nvPr/>
          </p:nvCxnSpPr>
          <p:spPr>
            <a:xfrm>
              <a:off x="4080230" y="3488820"/>
              <a:ext cx="1047300" cy="0"/>
            </a:xfrm>
            <a:prstGeom prst="straightConnector1">
              <a:avLst/>
            </a:prstGeom>
            <a:noFill/>
            <a:ln cap="flat" cmpd="sng" w="47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6" name="Google Shape;216;p20"/>
            <p:cNvSpPr/>
            <p:nvPr/>
          </p:nvSpPr>
          <p:spPr>
            <a:xfrm rot="5400000">
              <a:off x="5059061" y="3420240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4004261" y="3243493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800"/>
                <a:buFont typeface="Montserrat"/>
                <a:buNone/>
              </a:pPr>
              <a:r>
                <a:rPr b="1" i="0" lang="uk" sz="800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Question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" name="Google Shape;218;p20"/>
          <p:cNvGrpSpPr/>
          <p:nvPr/>
        </p:nvGrpSpPr>
        <p:grpSpPr>
          <a:xfrm>
            <a:off x="3212172" y="2850904"/>
            <a:ext cx="908525" cy="238079"/>
            <a:chOff x="7201728" y="3801205"/>
            <a:chExt cx="1211366" cy="317439"/>
          </a:xfrm>
        </p:grpSpPr>
        <p:cxnSp>
          <p:nvCxnSpPr>
            <p:cNvPr id="219" name="Google Shape;219;p20"/>
            <p:cNvCxnSpPr/>
            <p:nvPr/>
          </p:nvCxnSpPr>
          <p:spPr>
            <a:xfrm>
              <a:off x="7270308" y="3869725"/>
              <a:ext cx="1047300" cy="0"/>
            </a:xfrm>
            <a:prstGeom prst="straightConnector1">
              <a:avLst/>
            </a:prstGeom>
            <a:noFill/>
            <a:ln cap="flat" cmpd="sng" w="47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0" name="Google Shape;220;p20"/>
            <p:cNvSpPr/>
            <p:nvPr/>
          </p:nvSpPr>
          <p:spPr>
            <a:xfrm rot="-5400000">
              <a:off x="7201728" y="3801205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0"/>
            <p:cNvSpPr/>
            <p:nvPr/>
          </p:nvSpPr>
          <p:spPr>
            <a:xfrm>
              <a:off x="7470494" y="3938644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800"/>
                <a:buFont typeface="Montserrat"/>
                <a:buNone/>
              </a:pPr>
              <a:r>
                <a:rPr b="1" i="0" lang="uk" sz="800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Response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222;p20"/>
          <p:cNvGrpSpPr/>
          <p:nvPr/>
        </p:nvGrpSpPr>
        <p:grpSpPr>
          <a:xfrm>
            <a:off x="2001947" y="768654"/>
            <a:ext cx="1349836" cy="1411086"/>
            <a:chOff x="2001947" y="768654"/>
            <a:chExt cx="1349836" cy="1411086"/>
          </a:xfrm>
        </p:grpSpPr>
        <p:grpSp>
          <p:nvGrpSpPr>
            <p:cNvPr id="223" name="Google Shape;223;p20"/>
            <p:cNvGrpSpPr/>
            <p:nvPr/>
          </p:nvGrpSpPr>
          <p:grpSpPr>
            <a:xfrm>
              <a:off x="2001947" y="768654"/>
              <a:ext cx="1288350" cy="995387"/>
              <a:chOff x="5384895" y="1024872"/>
              <a:chExt cx="1717800" cy="1327182"/>
            </a:xfrm>
          </p:grpSpPr>
          <p:sp>
            <p:nvSpPr>
              <p:cNvPr id="224" name="Google Shape;224;p20"/>
              <p:cNvSpPr/>
              <p:nvPr/>
            </p:nvSpPr>
            <p:spPr>
              <a:xfrm>
                <a:off x="5682001" y="1285554"/>
                <a:ext cx="1066500" cy="1066500"/>
              </a:xfrm>
              <a:prstGeom prst="ellipse">
                <a:avLst/>
              </a:prstGeom>
              <a:solidFill>
                <a:srgbClr val="FFFFFF">
                  <a:alpha val="29800"/>
                </a:srgbClr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Encoding LLM.png" id="225" name="Google Shape;225;p20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682001" y="1285554"/>
                <a:ext cx="1066500" cy="10665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226" name="Google Shape;226;p20"/>
              <p:cNvSpPr/>
              <p:nvPr/>
            </p:nvSpPr>
            <p:spPr>
              <a:xfrm>
                <a:off x="5384895" y="1024872"/>
                <a:ext cx="17178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597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A2921"/>
                  </a:buClr>
                  <a:buSzPts val="1100"/>
                  <a:buFont typeface="Montserrat"/>
                  <a:buNone/>
                </a:pPr>
                <a:r>
                  <a:rPr lang="uk" sz="1100">
                    <a:solidFill>
                      <a:srgbClr val="2A292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Embedding</a:t>
                </a:r>
                <a:r>
                  <a:rPr b="0" i="0" lang="uk" sz="1100" u="none" cap="none" strike="noStrike">
                    <a:solidFill>
                      <a:srgbClr val="2A292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LLM</a:t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7" name="Google Shape;227;p20"/>
            <p:cNvGrpSpPr/>
            <p:nvPr/>
          </p:nvGrpSpPr>
          <p:grpSpPr>
            <a:xfrm>
              <a:off x="2594717" y="1825506"/>
              <a:ext cx="757066" cy="354234"/>
              <a:chOff x="6175255" y="2434008"/>
              <a:chExt cx="1009422" cy="472312"/>
            </a:xfrm>
          </p:grpSpPr>
          <p:sp>
            <p:nvSpPr>
              <p:cNvPr id="228" name="Google Shape;228;p20"/>
              <p:cNvSpPr/>
              <p:nvPr/>
            </p:nvSpPr>
            <p:spPr>
              <a:xfrm>
                <a:off x="6242077" y="2597815"/>
                <a:ext cx="942600" cy="1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60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66922"/>
                  </a:buClr>
                  <a:buSzPts val="800"/>
                  <a:buFont typeface="Montserrat"/>
                  <a:buNone/>
                </a:pPr>
                <a:r>
                  <a:rPr b="1" i="0" lang="uk" sz="800" u="none" cap="none" strike="noStrike">
                    <a:solidFill>
                      <a:srgbClr val="E66922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Vectorize</a:t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9" name="Google Shape;229;p20"/>
              <p:cNvCxnSpPr/>
              <p:nvPr/>
            </p:nvCxnSpPr>
            <p:spPr>
              <a:xfrm rot="5400000">
                <a:off x="6076285" y="2670138"/>
                <a:ext cx="335100" cy="0"/>
              </a:xfrm>
              <a:prstGeom prst="straightConnector1">
                <a:avLst/>
              </a:prstGeom>
              <a:noFill/>
              <a:ln cap="flat" cmpd="sng" w="476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30" name="Google Shape;230;p20"/>
              <p:cNvSpPr/>
              <p:nvPr/>
            </p:nvSpPr>
            <p:spPr>
              <a:xfrm>
                <a:off x="6175255" y="2434008"/>
                <a:ext cx="137100" cy="1371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20"/>
              <p:cNvSpPr/>
              <p:nvPr/>
            </p:nvSpPr>
            <p:spPr>
              <a:xfrm rot="10800000">
                <a:off x="6175315" y="2769220"/>
                <a:ext cx="137100" cy="1371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21"/>
          <p:cNvGrpSpPr/>
          <p:nvPr/>
        </p:nvGrpSpPr>
        <p:grpSpPr>
          <a:xfrm>
            <a:off x="270975" y="2731075"/>
            <a:ext cx="4409700" cy="2301900"/>
            <a:chOff x="270975" y="2731075"/>
            <a:chExt cx="4409700" cy="2301900"/>
          </a:xfrm>
        </p:grpSpPr>
        <p:sp>
          <p:nvSpPr>
            <p:cNvPr id="237" name="Google Shape;237;p21"/>
            <p:cNvSpPr/>
            <p:nvPr/>
          </p:nvSpPr>
          <p:spPr>
            <a:xfrm>
              <a:off x="270975" y="2731075"/>
              <a:ext cx="4409700" cy="2301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8" name="Google Shape;238;p21"/>
            <p:cNvSpPr txBox="1"/>
            <p:nvPr/>
          </p:nvSpPr>
          <p:spPr>
            <a:xfrm>
              <a:off x="298000" y="2770575"/>
              <a:ext cx="4345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200">
                  <a:solidFill>
                    <a:srgbClr val="CAA5D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Agentic</a:t>
              </a:r>
              <a:r>
                <a:rPr b="1" lang="uk" sz="1200">
                  <a:solidFill>
                    <a:srgbClr val="CAA5D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RAG</a:t>
              </a:r>
              <a:endParaRPr b="1" sz="1200">
                <a:solidFill>
                  <a:srgbClr val="CAA5D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39" name="Google Shape;239;p21"/>
          <p:cNvGrpSpPr/>
          <p:nvPr/>
        </p:nvGrpSpPr>
        <p:grpSpPr>
          <a:xfrm>
            <a:off x="270975" y="805400"/>
            <a:ext cx="4409700" cy="1766400"/>
            <a:chOff x="270975" y="805400"/>
            <a:chExt cx="4409700" cy="1766400"/>
          </a:xfrm>
        </p:grpSpPr>
        <p:sp>
          <p:nvSpPr>
            <p:cNvPr id="240" name="Google Shape;240;p21"/>
            <p:cNvSpPr/>
            <p:nvPr/>
          </p:nvSpPr>
          <p:spPr>
            <a:xfrm>
              <a:off x="270975" y="805400"/>
              <a:ext cx="4409700" cy="1766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1" name="Google Shape;241;p21"/>
            <p:cNvSpPr txBox="1"/>
            <p:nvPr/>
          </p:nvSpPr>
          <p:spPr>
            <a:xfrm>
              <a:off x="298000" y="861850"/>
              <a:ext cx="4345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200">
                  <a:solidFill>
                    <a:srgbClr val="D0EB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Traditional RAG</a:t>
              </a:r>
              <a:endParaRPr b="1" sz="1200">
                <a:solidFill>
                  <a:srgbClr val="D0EB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42" name="Google Shape;242;p21"/>
          <p:cNvSpPr txBox="1"/>
          <p:nvPr/>
        </p:nvSpPr>
        <p:spPr>
          <a:xfrm>
            <a:off x="297989" y="131938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RAG vs Agentic RAG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703775" y="1442000"/>
            <a:ext cx="759000" cy="759000"/>
          </a:xfrm>
          <a:prstGeom prst="ellipse">
            <a:avLst/>
          </a:prstGeom>
          <a:solidFill>
            <a:srgbClr val="D0EBF8"/>
          </a:solidFill>
          <a:ln cap="flat" cmpd="sng" w="9525">
            <a:solidFill>
              <a:srgbClr val="1775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Chat</a:t>
            </a:r>
            <a:endParaRPr sz="9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1970825" y="1442000"/>
            <a:ext cx="759000" cy="759000"/>
          </a:xfrm>
          <a:prstGeom prst="ellipse">
            <a:avLst/>
          </a:prstGeom>
          <a:solidFill>
            <a:srgbClr val="D0EBF8"/>
          </a:solidFill>
          <a:ln cap="flat" cmpd="sng" w="9525">
            <a:solidFill>
              <a:srgbClr val="1775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Vector-</a:t>
            </a:r>
            <a:br>
              <a:rPr lang="uk" sz="9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based</a:t>
            </a:r>
            <a:endParaRPr sz="9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Retrieval</a:t>
            </a:r>
            <a:endParaRPr sz="9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3237875" y="1442000"/>
            <a:ext cx="759000" cy="759000"/>
          </a:xfrm>
          <a:prstGeom prst="ellipse">
            <a:avLst/>
          </a:prstGeom>
          <a:solidFill>
            <a:srgbClr val="D0EBF8"/>
          </a:solidFill>
          <a:ln cap="flat" cmpd="sng" w="9525">
            <a:solidFill>
              <a:srgbClr val="1775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sz="9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7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(response)</a:t>
            </a:r>
            <a:endParaRPr sz="7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6" name="Google Shape;246;p21"/>
          <p:cNvCxnSpPr>
            <a:stCxn id="243" idx="6"/>
            <a:endCxn id="244" idx="2"/>
          </p:cNvCxnSpPr>
          <p:nvPr/>
        </p:nvCxnSpPr>
        <p:spPr>
          <a:xfrm>
            <a:off x="1462775" y="1821500"/>
            <a:ext cx="508200" cy="0"/>
          </a:xfrm>
          <a:prstGeom prst="straightConnector1">
            <a:avLst/>
          </a:prstGeom>
          <a:noFill/>
          <a:ln cap="flat" cmpd="sng" w="19050">
            <a:solidFill>
              <a:srgbClr val="D0EBF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21"/>
          <p:cNvCxnSpPr/>
          <p:nvPr/>
        </p:nvCxnSpPr>
        <p:spPr>
          <a:xfrm>
            <a:off x="2729825" y="1821500"/>
            <a:ext cx="508200" cy="0"/>
          </a:xfrm>
          <a:prstGeom prst="straightConnector1">
            <a:avLst/>
          </a:prstGeom>
          <a:noFill/>
          <a:ln cap="flat" cmpd="sng" w="19050">
            <a:solidFill>
              <a:srgbClr val="D0EBF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8" name="Google Shape;248;p21"/>
          <p:cNvSpPr/>
          <p:nvPr/>
        </p:nvSpPr>
        <p:spPr>
          <a:xfrm>
            <a:off x="589002" y="3180450"/>
            <a:ext cx="759000" cy="759000"/>
          </a:xfrm>
          <a:prstGeom prst="ellipse">
            <a:avLst/>
          </a:prstGeom>
          <a:solidFill>
            <a:srgbClr val="CAA5DC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Chat</a:t>
            </a:r>
            <a:endParaRPr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2332797" y="4185025"/>
            <a:ext cx="759000" cy="759000"/>
          </a:xfrm>
          <a:prstGeom prst="ellipse">
            <a:avLst/>
          </a:prstGeom>
          <a:solidFill>
            <a:srgbClr val="CAA5DC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Vector-</a:t>
            </a:r>
            <a:endParaRPr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based</a:t>
            </a:r>
            <a:endParaRPr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Retrieval</a:t>
            </a:r>
            <a:endParaRPr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1548724" y="3188050"/>
            <a:ext cx="2322600" cy="759000"/>
          </a:xfrm>
          <a:prstGeom prst="rect">
            <a:avLst/>
          </a:prstGeom>
          <a:solidFill>
            <a:srgbClr val="CAA5DC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Agent</a:t>
            </a:r>
            <a:endParaRPr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3160772" y="4185025"/>
            <a:ext cx="759000" cy="759000"/>
          </a:xfrm>
          <a:prstGeom prst="ellipse">
            <a:avLst/>
          </a:prstGeom>
          <a:solidFill>
            <a:srgbClr val="CAA5DC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More retrieval</a:t>
            </a:r>
            <a:endParaRPr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tools</a:t>
            </a:r>
            <a:endParaRPr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2" name="Google Shape;252;p21"/>
          <p:cNvCxnSpPr>
            <a:stCxn id="248" idx="6"/>
            <a:endCxn id="250" idx="1"/>
          </p:cNvCxnSpPr>
          <p:nvPr/>
        </p:nvCxnSpPr>
        <p:spPr>
          <a:xfrm>
            <a:off x="1348002" y="3559950"/>
            <a:ext cx="200700" cy="7500"/>
          </a:xfrm>
          <a:prstGeom prst="straightConnector1">
            <a:avLst/>
          </a:prstGeom>
          <a:noFill/>
          <a:ln cap="flat" cmpd="sng" w="19050">
            <a:solidFill>
              <a:srgbClr val="CAA5D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21"/>
          <p:cNvCxnSpPr>
            <a:endCxn id="249" idx="0"/>
          </p:cNvCxnSpPr>
          <p:nvPr/>
        </p:nvCxnSpPr>
        <p:spPr>
          <a:xfrm>
            <a:off x="2712297" y="3948025"/>
            <a:ext cx="0" cy="237000"/>
          </a:xfrm>
          <a:prstGeom prst="straightConnector1">
            <a:avLst/>
          </a:prstGeom>
          <a:noFill/>
          <a:ln cap="flat" cmpd="sng" w="19050">
            <a:solidFill>
              <a:srgbClr val="CAA5D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21"/>
          <p:cNvCxnSpPr/>
          <p:nvPr/>
        </p:nvCxnSpPr>
        <p:spPr>
          <a:xfrm>
            <a:off x="3537950" y="3947950"/>
            <a:ext cx="0" cy="237000"/>
          </a:xfrm>
          <a:prstGeom prst="straightConnector1">
            <a:avLst/>
          </a:prstGeom>
          <a:noFill/>
          <a:ln cap="flat" cmpd="sng" w="19050">
            <a:solidFill>
              <a:srgbClr val="CAA5D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" name="Google Shape;255;p21"/>
          <p:cNvSpPr/>
          <p:nvPr/>
        </p:nvSpPr>
        <p:spPr>
          <a:xfrm>
            <a:off x="1498534" y="4176450"/>
            <a:ext cx="759000" cy="759000"/>
          </a:xfrm>
          <a:prstGeom prst="ellipse">
            <a:avLst/>
          </a:prstGeom>
          <a:solidFill>
            <a:srgbClr val="CAA5DC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LLM </a:t>
            </a:r>
            <a:r>
              <a:rPr lang="uk" sz="7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(workflow &amp; response)</a:t>
            </a:r>
            <a:endParaRPr sz="7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6" name="Google Shape;256;p21"/>
          <p:cNvCxnSpPr>
            <a:endCxn id="255" idx="0"/>
          </p:cNvCxnSpPr>
          <p:nvPr/>
        </p:nvCxnSpPr>
        <p:spPr>
          <a:xfrm>
            <a:off x="1878034" y="3939450"/>
            <a:ext cx="0" cy="237000"/>
          </a:xfrm>
          <a:prstGeom prst="straightConnector1">
            <a:avLst/>
          </a:prstGeom>
          <a:noFill/>
          <a:ln cap="flat" cmpd="sng" w="19050">
            <a:solidFill>
              <a:srgbClr val="CAA5DC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83" name="Google Shape;283;p22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284" name="Google Shape;284;p22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5" name="Google Shape;285;p22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86" name="Google Shape;286;p22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287" name="Google Shape;287;p22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8" name="Google Shape;288;p22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89" name="Google Shape;289;p22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290" name="Google Shape;290;p22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1" name="Google Shape;291;p22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3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23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53%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98" name="Google Shape;29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