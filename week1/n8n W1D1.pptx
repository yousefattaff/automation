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558ba40b8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4558ba40b8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558ba40b8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4558ba40b8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558ba40b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4558ba40b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158c5854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7158c5854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558ba40b8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4558ba40b8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558ba40b8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4558ba40b8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158c58547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7158c58547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158c58547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7158c58547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56c592c5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ae56c592c5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e56c592c5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ae56c592c5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558ba40b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4558ba40b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558ba40b8_0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4558ba40b8_0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e56c592c5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ae56c592c5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458202" y="4115050"/>
            <a:ext cx="456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 let’s cover objectives, introduction, curriculum, logistics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458189" y="4385795"/>
            <a:ext cx="386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Actually, let’s not.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458189" y="4656542"/>
            <a:ext cx="425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always start with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INSTANT GRATIFICATION!!</a:t>
            </a:r>
            <a:endParaRPr b="1" i="0" sz="11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3 week journey starts today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316831" y="241825"/>
            <a:ext cx="366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</a:t>
            </a:r>
            <a:endParaRPr sz="8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25" y="1096088"/>
            <a:ext cx="4200956" cy="280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Live with n8n cloud in minutes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16831" y="241825"/>
            <a:ext cx="366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</a:t>
            </a:r>
            <a:endParaRPr sz="8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900" y="1057963"/>
            <a:ext cx="5404529" cy="382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Agentic AI Builder 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I’M SO HAPPY TO WELCOME YOU TO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grpSp>
          <p:nvGrpSpPr>
            <p:cNvPr id="82" name="Google Shape;82;p17"/>
            <p:cNvGrpSpPr/>
            <p:nvPr/>
          </p:nvGrpSpPr>
          <p:grpSpPr>
            <a:xfrm>
              <a:off x="1216450" y="1531701"/>
              <a:ext cx="4799700" cy="544873"/>
              <a:chOff x="1564455" y="2218001"/>
              <a:chExt cx="6399600" cy="726497"/>
            </a:xfrm>
          </p:grpSpPr>
          <p:sp>
            <p:nvSpPr>
              <p:cNvPr id="83" name="Google Shape;83;p17"/>
              <p:cNvSpPr txBox="1"/>
              <p:nvPr/>
            </p:nvSpPr>
            <p:spPr>
              <a:xfrm>
                <a:off x="1564455" y="2218001"/>
                <a:ext cx="6399600" cy="49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Prepare to build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7"/>
              <p:cNvSpPr txBox="1"/>
              <p:nvPr/>
            </p:nvSpPr>
            <p:spPr>
              <a:xfrm>
                <a:off x="1564455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This course is hands-on creating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" name="Google Shape;85;p17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86" name="Google Shape;8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9302" y="1428315"/>
              <a:ext cx="661251" cy="66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7"/>
          <p:cNvGrpSpPr/>
          <p:nvPr/>
        </p:nvGrpSpPr>
        <p:grpSpPr>
          <a:xfrm>
            <a:off x="148477" y="2479125"/>
            <a:ext cx="5867674" cy="1002900"/>
            <a:chOff x="148477" y="2372113"/>
            <a:chExt cx="5867674" cy="1002900"/>
          </a:xfrm>
        </p:grpSpPr>
        <p:grpSp>
          <p:nvGrpSpPr>
            <p:cNvPr id="88" name="Google Shape;88;p17"/>
            <p:cNvGrpSpPr/>
            <p:nvPr/>
          </p:nvGrpSpPr>
          <p:grpSpPr>
            <a:xfrm>
              <a:off x="1216450" y="2594641"/>
              <a:ext cx="4799700" cy="544873"/>
              <a:chOff x="1317134" y="2218001"/>
              <a:chExt cx="6399600" cy="726497"/>
            </a:xfrm>
          </p:grpSpPr>
          <p:sp>
            <p:nvSpPr>
              <p:cNvPr id="89" name="Google Shape;89;p17"/>
              <p:cNvSpPr txBox="1"/>
              <p:nvPr/>
            </p:nvSpPr>
            <p:spPr>
              <a:xfrm>
                <a:off x="1317134" y="2218001"/>
                <a:ext cx="6399600" cy="49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Prepare for impact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7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your business, your products, your clients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" name="Google Shape;91;p17"/>
            <p:cNvSpPr/>
            <p:nvPr/>
          </p:nvSpPr>
          <p:spPr>
            <a:xfrm>
              <a:off x="148477" y="2372113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92" name="Google Shape;9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0602" y="2524250"/>
              <a:ext cx="698650" cy="698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17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grpSp>
          <p:nvGrpSpPr>
            <p:cNvPr id="94" name="Google Shape;94;p17"/>
            <p:cNvGrpSpPr/>
            <p:nvPr/>
          </p:nvGrpSpPr>
          <p:grpSpPr>
            <a:xfrm>
              <a:off x="1216450" y="3880091"/>
              <a:ext cx="4799700" cy="544873"/>
              <a:chOff x="1317134" y="2218001"/>
              <a:chExt cx="6399600" cy="726497"/>
            </a:xfrm>
          </p:grpSpPr>
          <p:sp>
            <p:nvSpPr>
              <p:cNvPr id="95" name="Google Shape;95;p17"/>
              <p:cNvSpPr txBox="1"/>
              <p:nvPr/>
            </p:nvSpPr>
            <p:spPr>
              <a:xfrm>
                <a:off x="1317134" y="2218001"/>
                <a:ext cx="6399600" cy="49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Prepare for fun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7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 had a blast making this and you will too!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" name="Google Shape;97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98" name="Google Shape;98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8677" y="3859325"/>
              <a:ext cx="622500" cy="622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Who is</a:t>
            </a:r>
            <a:r>
              <a:rPr b="0" i="0" lang="uk" sz="2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uk" sz="24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FOR?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840950" y="3609394"/>
            <a:ext cx="3315000" cy="307800"/>
          </a:xfrm>
          <a:prstGeom prst="rect">
            <a:avLst/>
          </a:prstGeom>
          <a:gradFill>
            <a:gsLst>
              <a:gs pos="0">
                <a:srgbClr val="753991"/>
              </a:gs>
              <a:gs pos="100000">
                <a:srgbClr val="B18107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840950" y="3178294"/>
            <a:ext cx="331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uk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And everyone in between</a:t>
            </a:r>
            <a:endParaRPr b="1" i="0" sz="16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4026" y="4040119"/>
            <a:ext cx="518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the course you will be able to: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Create AI Agents and Voice Agents that solve business problems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Apply to jobs or respond to engagements to build AI Agents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Automate, Accelerate and Amplify your business &amp; your clients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8" name="Google Shape;108;p18"/>
          <p:cNvGrpSpPr/>
          <p:nvPr/>
        </p:nvGrpSpPr>
        <p:grpSpPr>
          <a:xfrm>
            <a:off x="72045" y="1025299"/>
            <a:ext cx="2442300" cy="2068412"/>
            <a:chOff x="72045" y="1060200"/>
            <a:chExt cx="2442300" cy="2068412"/>
          </a:xfrm>
        </p:grpSpPr>
        <p:sp>
          <p:nvSpPr>
            <p:cNvPr id="109" name="Google Shape;109;p18"/>
            <p:cNvSpPr txBox="1"/>
            <p:nvPr/>
          </p:nvSpPr>
          <p:spPr>
            <a:xfrm>
              <a:off x="72045" y="2605412"/>
              <a:ext cx="244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high impact Agentic AI products without coding</a:t>
              </a:r>
              <a:endParaRPr b="0" i="0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0" name="Google Shape;110;p18"/>
            <p:cNvGrpSpPr/>
            <p:nvPr/>
          </p:nvGrpSpPr>
          <p:grpSpPr>
            <a:xfrm>
              <a:off x="104700" y="1060200"/>
              <a:ext cx="2369400" cy="1442200"/>
              <a:chOff x="104700" y="1060200"/>
              <a:chExt cx="2369400" cy="1442200"/>
            </a:xfrm>
          </p:grpSpPr>
          <p:sp>
            <p:nvSpPr>
              <p:cNvPr id="111" name="Google Shape;111;p18"/>
              <p:cNvSpPr txBox="1"/>
              <p:nvPr/>
            </p:nvSpPr>
            <p:spPr>
              <a:xfrm>
                <a:off x="104700" y="1060200"/>
                <a:ext cx="23694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lang="uk" sz="1100">
                    <a:solidFill>
                      <a:schemeClr val="accent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Product and Business People</a:t>
                </a:r>
                <a:endParaRPr b="1" i="0" sz="11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112" name="Google Shape;112;p18"/>
              <p:cNvGrpSpPr/>
              <p:nvPr/>
            </p:nvGrpSpPr>
            <p:grpSpPr>
              <a:xfrm>
                <a:off x="656477" y="1499500"/>
                <a:ext cx="1002900" cy="1002900"/>
                <a:chOff x="656477" y="1464763"/>
                <a:chExt cx="1002900" cy="1002900"/>
              </a:xfrm>
            </p:grpSpPr>
            <p:sp>
              <p:nvSpPr>
                <p:cNvPr id="113" name="Google Shape;113;p18"/>
                <p:cNvSpPr/>
                <p:nvPr/>
              </p:nvSpPr>
              <p:spPr>
                <a:xfrm>
                  <a:off x="656477" y="1464763"/>
                  <a:ext cx="1002900" cy="10029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pic>
              <p:nvPicPr>
                <p:cNvPr id="114" name="Google Shape;114;p1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820345" y="1645997"/>
                  <a:ext cx="640480" cy="6404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15" name="Google Shape;115;p18"/>
          <p:cNvGrpSpPr/>
          <p:nvPr/>
        </p:nvGrpSpPr>
        <p:grpSpPr>
          <a:xfrm>
            <a:off x="2657975" y="1025299"/>
            <a:ext cx="2379300" cy="2068401"/>
            <a:chOff x="2657975" y="1060200"/>
            <a:chExt cx="2379300" cy="2068401"/>
          </a:xfrm>
        </p:grpSpPr>
        <p:sp>
          <p:nvSpPr>
            <p:cNvPr id="116" name="Google Shape;116;p18"/>
            <p:cNvSpPr txBox="1"/>
            <p:nvPr/>
          </p:nvSpPr>
          <p:spPr>
            <a:xfrm>
              <a:off x="2657975" y="2605401"/>
              <a:ext cx="2379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Apply AI to real-world use cases at an astonishing pace</a:t>
              </a:r>
              <a:endParaRPr b="0" i="0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2718375" y="1060200"/>
              <a:ext cx="2004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uk" sz="11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Engineers</a:t>
              </a:r>
              <a:endParaRPr b="1" i="0" sz="1100" u="none" cap="none" strike="noStrike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8" name="Google Shape;118;p18"/>
            <p:cNvGrpSpPr/>
            <p:nvPr/>
          </p:nvGrpSpPr>
          <p:grpSpPr>
            <a:xfrm>
              <a:off x="3218927" y="1499500"/>
              <a:ext cx="1002900" cy="1002900"/>
              <a:chOff x="3218927" y="1414188"/>
              <a:chExt cx="1002900" cy="1002900"/>
            </a:xfrm>
          </p:grpSpPr>
          <p:sp>
            <p:nvSpPr>
              <p:cNvPr id="119" name="Google Shape;119;p18"/>
              <p:cNvSpPr/>
              <p:nvPr/>
            </p:nvSpPr>
            <p:spPr>
              <a:xfrm>
                <a:off x="3218927" y="1414188"/>
                <a:ext cx="1002900" cy="1002900"/>
              </a:xfrm>
              <a:prstGeom prst="ellipse">
                <a:avLst/>
              </a:prstGeom>
              <a:solidFill>
                <a:srgbClr val="B1810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120" name="Google Shape;120;p1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430112" y="1595509"/>
                <a:ext cx="580525" cy="580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50675"/>
            <a:ext cx="1993179" cy="156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840475" cy="309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1638" y="3250675"/>
            <a:ext cx="1881675" cy="156363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 rot="3269129">
            <a:off x="1393139" y="4069272"/>
            <a:ext cx="172488" cy="68461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168125" y="3992725"/>
            <a:ext cx="105300" cy="1101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does this fit?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MY OTHER COURSES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74125" y="3598650"/>
            <a:ext cx="3604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 the courses are complementary and can be taken in any order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 levels of background - something for everyone</a:t>
            </a:r>
            <a:endParaRPr i="1"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2835575" y="1590625"/>
            <a:ext cx="1161600" cy="1752600"/>
          </a:xfrm>
          <a:prstGeom prst="rect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</a:t>
            </a:r>
            <a:b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Low-Code AI Agents &amp; Voice Agents in n8n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379125" y="2784326"/>
            <a:ext cx="1161600" cy="5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Engineer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Track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1607350" y="1590625"/>
            <a:ext cx="1161600" cy="17526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Leadership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374138" y="2187476"/>
            <a:ext cx="1161600" cy="5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Engineer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Track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374125" y="1590626"/>
            <a:ext cx="1161600" cy="5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Engineer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MLOps Track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2863925" y="1159975"/>
            <a:ext cx="110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Builder</a:t>
            </a:r>
            <a:endParaRPr sz="1100"/>
          </a:p>
        </p:txBody>
      </p:sp>
      <p:sp>
        <p:nvSpPr>
          <p:cNvPr id="143" name="Google Shape;143;p20"/>
          <p:cNvSpPr txBox="1"/>
          <p:nvPr/>
        </p:nvSpPr>
        <p:spPr>
          <a:xfrm>
            <a:off x="402475" y="1159975"/>
            <a:ext cx="110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Engineer</a:t>
            </a:r>
            <a:endParaRPr sz="1100"/>
          </a:p>
        </p:txBody>
      </p:sp>
      <p:sp>
        <p:nvSpPr>
          <p:cNvPr id="144" name="Google Shape;144;p20"/>
          <p:cNvSpPr txBox="1"/>
          <p:nvPr/>
        </p:nvSpPr>
        <p:spPr>
          <a:xfrm>
            <a:off x="1664050" y="1159975"/>
            <a:ext cx="110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Leader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213" y="1557863"/>
            <a:ext cx="461300" cy="46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1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73" name="Google Shape;173;p21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75" name="Google Shape;175;p21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176" name="Google Shape;176;p21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21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78" name="Google Shape;178;p21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79" name="Google Shape;179;p21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Just so we’re on the same page: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probably know this well but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2489725" y="2576225"/>
            <a:ext cx="2188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streamlined way to integrate applications and services using common 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standards 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the term “API” can be used in many contexts, most often it involves connecting applications over the internet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Typically APIs connect using HTTP, the way you fetch a webpage,  and data is described using JSON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It’s common for an app to identify itself using an API key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8" name="Google Shape;188;p22"/>
          <p:cNvGrpSpPr/>
          <p:nvPr/>
        </p:nvGrpSpPr>
        <p:grpSpPr>
          <a:xfrm>
            <a:off x="2381950" y="1031024"/>
            <a:ext cx="2369400" cy="1442200"/>
            <a:chOff x="104700" y="1060200"/>
            <a:chExt cx="2369400" cy="1442200"/>
          </a:xfrm>
        </p:grpSpPr>
        <p:sp>
          <p:nvSpPr>
            <p:cNvPr id="189" name="Google Shape;189;p22"/>
            <p:cNvSpPr txBox="1"/>
            <p:nvPr/>
          </p:nvSpPr>
          <p:spPr>
            <a:xfrm>
              <a:off x="104700" y="1060200"/>
              <a:ext cx="23694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uk" sz="11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API</a:t>
              </a:r>
              <a:endParaRPr b="1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784446" y="1499500"/>
              <a:ext cx="1002900" cy="100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1" name="Google Shape;191;p22"/>
          <p:cNvSpPr txBox="1"/>
          <p:nvPr/>
        </p:nvSpPr>
        <p:spPr>
          <a:xfrm>
            <a:off x="106232" y="2570500"/>
            <a:ext cx="2188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AI program that generates text to answer questions or decide on actions to take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It’s a pattern matcher that uses statistics to predict likely responses, from analyzing vast amounts of data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is astonishing that we get this apparent ‘intelligence’ as a byproduct of scale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GPT is an LLM; ChatGPT is an end-user product that uses GPT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" name="Google Shape;192;p22"/>
          <p:cNvGrpSpPr/>
          <p:nvPr/>
        </p:nvGrpSpPr>
        <p:grpSpPr>
          <a:xfrm>
            <a:off x="12622" y="1025299"/>
            <a:ext cx="2369400" cy="1442200"/>
            <a:chOff x="12622" y="1025299"/>
            <a:chExt cx="2369400" cy="1442200"/>
          </a:xfrm>
        </p:grpSpPr>
        <p:grpSp>
          <p:nvGrpSpPr>
            <p:cNvPr id="193" name="Google Shape;193;p22"/>
            <p:cNvGrpSpPr/>
            <p:nvPr/>
          </p:nvGrpSpPr>
          <p:grpSpPr>
            <a:xfrm>
              <a:off x="12622" y="1025299"/>
              <a:ext cx="2369400" cy="1442200"/>
              <a:chOff x="12622" y="1060200"/>
              <a:chExt cx="2369400" cy="1442200"/>
            </a:xfrm>
          </p:grpSpPr>
          <p:sp>
            <p:nvSpPr>
              <p:cNvPr id="194" name="Google Shape;194;p22"/>
              <p:cNvSpPr txBox="1"/>
              <p:nvPr/>
            </p:nvSpPr>
            <p:spPr>
              <a:xfrm>
                <a:off x="12622" y="1060200"/>
                <a:ext cx="23694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lang="uk" sz="1100">
                    <a:solidFill>
                      <a:schemeClr val="accent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LLM</a:t>
                </a:r>
                <a:endParaRPr b="1" i="0" sz="11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5" name="Google Shape;195;p22"/>
              <p:cNvSpPr/>
              <p:nvPr/>
            </p:nvSpPr>
            <p:spPr>
              <a:xfrm>
                <a:off x="678203" y="1499500"/>
                <a:ext cx="1002900" cy="100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96" name="Google Shape;196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350" y="1643225"/>
              <a:ext cx="644575" cy="644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025" y="1643225"/>
            <a:ext cx="644575" cy="64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an AI Agent?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And now: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0" y="1109375"/>
            <a:ext cx="4131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Sam Altman</a:t>
            </a:r>
            <a:br>
              <a:rPr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“AI systems that can do work for you independently”</a:t>
            </a:r>
            <a:endParaRPr sz="18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Early 2025 consensus</a:t>
            </a:r>
            <a:b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(Anthropic, Hugging Face, ..)</a:t>
            </a:r>
            <a:b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AI systems where an LLM controls the workflow</a:t>
            </a:r>
            <a:endParaRPr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Late 2025</a:t>
            </a:r>
            <a:br>
              <a:rPr b="1"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An Agent runs Tools in a Loop to achieve a goal</a:t>
            </a:r>
            <a:endParaRPr sz="18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n8n?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And..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1" name="Google Shape;211;p24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grpSp>
          <p:nvGrpSpPr>
            <p:cNvPr id="212" name="Google Shape;212;p24"/>
            <p:cNvGrpSpPr/>
            <p:nvPr/>
          </p:nvGrpSpPr>
          <p:grpSpPr>
            <a:xfrm>
              <a:off x="148477" y="1300688"/>
              <a:ext cx="5867674" cy="1002900"/>
              <a:chOff x="148477" y="1300688"/>
              <a:chExt cx="5867674" cy="1002900"/>
            </a:xfrm>
          </p:grpSpPr>
          <p:grpSp>
            <p:nvGrpSpPr>
              <p:cNvPr id="213" name="Google Shape;213;p24"/>
              <p:cNvGrpSpPr/>
              <p:nvPr/>
            </p:nvGrpSpPr>
            <p:grpSpPr>
              <a:xfrm>
                <a:off x="1216450" y="1531701"/>
                <a:ext cx="4799700" cy="544873"/>
                <a:chOff x="1564455" y="2218001"/>
                <a:chExt cx="6399600" cy="726497"/>
              </a:xfrm>
            </p:grpSpPr>
            <p:sp>
              <p:nvSpPr>
                <p:cNvPr id="214" name="Google Shape;214;p24"/>
                <p:cNvSpPr txBox="1"/>
                <p:nvPr/>
              </p:nvSpPr>
              <p:spPr>
                <a:xfrm>
                  <a:off x="1564455" y="2218001"/>
                  <a:ext cx="63996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uk" sz="1200">
                      <a:solidFill>
                        <a:schemeClr val="dk1"/>
                      </a:solidFill>
                      <a:latin typeface="Montserrat Medium"/>
                      <a:ea typeface="Montserrat Medium"/>
                      <a:cs typeface="Montserrat Medium"/>
                      <a:sym typeface="Montserrat Medium"/>
                    </a:rPr>
                    <a:t>Workflow Automation Startup founded in Berlin in 2019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24"/>
                <p:cNvSpPr txBox="1"/>
                <p:nvPr/>
              </p:nvSpPr>
              <p:spPr>
                <a:xfrm>
                  <a:off x="1564455" y="2513698"/>
                  <a:ext cx="6399600" cy="43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uk" sz="900">
                      <a:solidFill>
                        <a:srgbClr val="888888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Now a many-times-over unicorn with estimated users in millions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6" name="Google Shape;216;p24"/>
              <p:cNvSpPr/>
              <p:nvPr/>
            </p:nvSpPr>
            <p:spPr>
              <a:xfrm>
                <a:off x="148477" y="1300688"/>
                <a:ext cx="1002900" cy="1002900"/>
              </a:xfrm>
              <a:prstGeom prst="ellipse">
                <a:avLst/>
              </a:prstGeom>
              <a:solidFill>
                <a:srgbClr val="75C5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217" name="Google Shape;21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617" y="1517396"/>
              <a:ext cx="583025" cy="58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24"/>
          <p:cNvGrpSpPr/>
          <p:nvPr/>
        </p:nvGrpSpPr>
        <p:grpSpPr>
          <a:xfrm>
            <a:off x="148477" y="2479125"/>
            <a:ext cx="5867674" cy="1002900"/>
            <a:chOff x="148477" y="2479125"/>
            <a:chExt cx="5867674" cy="1002900"/>
          </a:xfrm>
        </p:grpSpPr>
        <p:grpSp>
          <p:nvGrpSpPr>
            <p:cNvPr id="219" name="Google Shape;219;p24"/>
            <p:cNvGrpSpPr/>
            <p:nvPr/>
          </p:nvGrpSpPr>
          <p:grpSpPr>
            <a:xfrm>
              <a:off x="148477" y="2479125"/>
              <a:ext cx="5867674" cy="1002900"/>
              <a:chOff x="148477" y="2372113"/>
              <a:chExt cx="5867674" cy="1002900"/>
            </a:xfrm>
          </p:grpSpPr>
          <p:grpSp>
            <p:nvGrpSpPr>
              <p:cNvPr id="220" name="Google Shape;220;p24"/>
              <p:cNvGrpSpPr/>
              <p:nvPr/>
            </p:nvGrpSpPr>
            <p:grpSpPr>
              <a:xfrm>
                <a:off x="1216450" y="2594641"/>
                <a:ext cx="4799700" cy="544873"/>
                <a:chOff x="1317134" y="2218001"/>
                <a:chExt cx="6399600" cy="726497"/>
              </a:xfrm>
            </p:grpSpPr>
            <p:sp>
              <p:nvSpPr>
                <p:cNvPr id="221" name="Google Shape;221;p24"/>
                <p:cNvSpPr txBox="1"/>
                <p:nvPr/>
              </p:nvSpPr>
              <p:spPr>
                <a:xfrm>
                  <a:off x="1317134" y="2218001"/>
                  <a:ext cx="63996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uk" sz="1200">
                      <a:solidFill>
                        <a:schemeClr val="dk1"/>
                      </a:solidFill>
                      <a:latin typeface="Montserrat Medium"/>
                      <a:ea typeface="Montserrat Medium"/>
                      <a:cs typeface="Montserrat Medium"/>
                      <a:sym typeface="Montserrat Medium"/>
                    </a:rPr>
                    <a:t>Differentiated by simplicity of AI and integrations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24"/>
                <p:cNvSpPr txBox="1"/>
                <p:nvPr/>
              </p:nvSpPr>
              <p:spPr>
                <a:xfrm>
                  <a:off x="1317134" y="2513698"/>
                  <a:ext cx="6399600" cy="43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uk" sz="900">
                      <a:solidFill>
                        <a:srgbClr val="888888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Easy for technical and non-technical people to deliver impact in minutes</a:t>
                  </a:r>
                  <a:endParaRPr b="0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3" name="Google Shape;223;p24"/>
              <p:cNvSpPr/>
              <p:nvPr/>
            </p:nvSpPr>
            <p:spPr>
              <a:xfrm>
                <a:off x="148477" y="2372113"/>
                <a:ext cx="1002900" cy="1002900"/>
              </a:xfrm>
              <a:prstGeom prst="ellipse">
                <a:avLst/>
              </a:prstGeom>
              <a:solidFill>
                <a:srgbClr val="1775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224" name="Google Shape;224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9737" y="2668187"/>
              <a:ext cx="624800" cy="62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24"/>
          <p:cNvSpPr txBox="1"/>
          <p:nvPr/>
        </p:nvSpPr>
        <p:spPr>
          <a:xfrm>
            <a:off x="1216451" y="3851806"/>
            <a:ext cx="4799700" cy="877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n8n has a “fair code” license which is important to understand:</a:t>
            </a:r>
            <a:endParaRPr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can use n8n for free. You can change the code.</a:t>
            </a:r>
            <a:br>
              <a:rPr b="1"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can deliver value for your company.</a:t>
            </a:r>
            <a:endParaRPr b="1"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can build client projects that use n8n.</a:t>
            </a:r>
            <a:endParaRPr b="1"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uk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…But you can’t sell n8n itself or build a competing platform with it.</a:t>
            </a:r>
            <a:endParaRPr b="1"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6" name="Google Shape;226;p24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227" name="Google Shape;227;p24"/>
            <p:cNvSpPr txBox="1"/>
            <p:nvPr/>
          </p:nvSpPr>
          <p:spPr>
            <a:xfrm>
              <a:off x="1216450" y="3663824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 it on the n8n cloud or host it yourself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29" name="Google Shape;229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9125" y="3860724"/>
              <a:ext cx="624800" cy="624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/>
        </p:nvSpPr>
        <p:spPr>
          <a:xfrm>
            <a:off x="2799600" y="1190500"/>
            <a:ext cx="26343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are in control! 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need to spend anything.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n8n cloud costs $24/month (today) but has a generous free trial; in week 3 we self-host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integrations are optional and most have free tiers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OpenAI has a minimum $5 balance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will use OpenRouter as a free alternative and you can use any model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don’t need to stick to my integrations - experiment!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Costs, API costs and integrations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API CHARGES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7" name="Google Shape;2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25" y="1096088"/>
            <a:ext cx="2552724" cy="382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/>
        </p:nvSpPr>
        <p:spPr>
          <a:xfrm>
            <a:off x="357304" y="1058350"/>
            <a:ext cx="444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uk" sz="16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Udemy Q&amp;A</a:t>
            </a:r>
            <a:endParaRPr sz="16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uk" sz="16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ed@edwarddonner.com</a:t>
            </a:r>
            <a:endParaRPr sz="16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uk" sz="16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https://www.linkedin.com/in/eddonner/</a:t>
            </a:r>
            <a:endParaRPr sz="16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440450" y="4172825"/>
            <a:ext cx="4270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Connect with me!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Ask questions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 your projects on LinkedIn, tag me and I’ll weigh in 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 am</a:t>
            </a:r>
            <a:r>
              <a:rPr b="0" i="0" lang="uk" sz="2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uk" sz="24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HERE TO HELP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GET IN TOUCH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25" y="2074375"/>
            <a:ext cx="4165375" cy="201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73" name="Google Shape;273;p27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74" name="Google Shape;274;p27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5" name="Google Shape;275;p27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76" name="Google Shape;276;p27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77" name="Google Shape;277;p27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27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79" name="Google Shape;279;p27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80" name="Google Shape;280;p27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1" name="Google Shape;281;p27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