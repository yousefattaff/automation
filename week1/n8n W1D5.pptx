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06d646e4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06d646e4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86748443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186748443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6d646e42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b06d646e42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06d646e42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b06d646e42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19d146eff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919d146eff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1676b0830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b1676b0830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1676b0830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b1676b0830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1676b0830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b1676b0830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1676b0830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b1676b0830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1676b083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b1676b083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 cap="flat" cmpd="sng" w="2857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JSON in 4 steps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316825" y="2162525"/>
            <a:ext cx="53790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1. Key/value pairs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strings, numbers, booleans, ..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2. An object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bunch of key/value pairs, also called a dictionary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3. An array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ordered list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4. Nesting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Values can themselves be objects or lists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50450" y="1031025"/>
            <a:ext cx="477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simple way to represent structured data that’s easy to read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Most are probably familiar with JSON, and for those new: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will become second nature with some practice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Expressions in n8n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Expressions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16825" y="1031025"/>
            <a:ext cx="491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Determine something on the fly, rather than using a fixed value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93650" y="2452800"/>
            <a:ext cx="4144500" cy="170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	"name": "Alice",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"age": 30,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"address": {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"street": "1 Main Street",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"city": "New York",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"country": "US"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93650" y="1385025"/>
            <a:ext cx="503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Toggle between “expression” and “fixed”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Surrounded in double curlies {{ … }}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Grab the incoming data from the prior node in json format with $json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a dot to select a particular key: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93650" y="4347600"/>
            <a:ext cx="4144500" cy="69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{{ $json.name }}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CAA5DC"/>
                </a:solidFill>
                <a:latin typeface="Courier New"/>
                <a:ea typeface="Courier New"/>
                <a:cs typeface="Courier New"/>
                <a:sym typeface="Courier New"/>
              </a:rPr>
              <a:t>{{ $json.address.city }}</a:t>
            </a:r>
            <a:endParaRPr b="1" sz="1100">
              <a:solidFill>
                <a:srgbClr val="CAA5D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couple of extras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Expressions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316825" y="1031025"/>
            <a:ext cx="491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Some expressions we used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316825" y="1985400"/>
            <a:ext cx="4144500" cy="35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{{ $node["My Previous Node"].json }}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16825" y="1632825"/>
            <a:ext cx="503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grab the data from an earlier node in the workflow, use it’s name: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16825" y="3143175"/>
            <a:ext cx="4144500" cy="35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FBE097"/>
                </a:solidFill>
                <a:latin typeface="Courier New"/>
                <a:ea typeface="Courier New"/>
                <a:cs typeface="Courier New"/>
                <a:sym typeface="Courier New"/>
              </a:rPr>
              <a:t>{{ JSON.stringify($json) }}</a:t>
            </a:r>
            <a:endParaRPr b="1" sz="1100">
              <a:solidFill>
                <a:srgbClr val="FBE09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316825" y="2765625"/>
            <a:ext cx="503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turn JSON into text, perhaps to pass it to an LLM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316825" y="3807225"/>
            <a:ext cx="518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Not important to memorize this; just pick up examples along the way</a:t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Authentication patterns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Integrations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9" name="Google Shape;129;p19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sp>
          <p:nvSpPr>
            <p:cNvPr id="130" name="Google Shape;130;p19"/>
            <p:cNvSpPr txBox="1"/>
            <p:nvPr/>
          </p:nvSpPr>
          <p:spPr>
            <a:xfrm>
              <a:off x="1216451" y="1531701"/>
              <a:ext cx="4799700" cy="369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Easy: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API Key Based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9"/>
            <p:cNvSpPr txBox="1"/>
            <p:nvPr/>
          </p:nvSpPr>
          <p:spPr>
            <a:xfrm>
              <a:off x="1216451" y="1753474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Simple password-based access to the third party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3" name="Google Shape;133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2525" y="1471122"/>
              <a:ext cx="698650" cy="6986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19"/>
          <p:cNvSpPr txBox="1"/>
          <p:nvPr/>
        </p:nvSpPr>
        <p:spPr>
          <a:xfrm>
            <a:off x="1216450" y="2701650"/>
            <a:ext cx="48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uk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Medium: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Login-style, pre-configured OAuth2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216450" y="2923426"/>
            <a:ext cx="47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One click - n8n has already done the setup, like Google Sheets and Gmail</a:t>
            </a:r>
            <a:endParaRPr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Authenticating for a specific end-user of the product</a:t>
            </a:r>
            <a:endParaRPr b="1"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48477" y="2479125"/>
            <a:ext cx="1002900" cy="1002900"/>
          </a:xfrm>
          <a:prstGeom prst="ellipse">
            <a:avLst/>
          </a:prstGeom>
          <a:solidFill>
            <a:srgbClr val="5829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757" y="2658435"/>
            <a:ext cx="644332" cy="644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19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139" name="Google Shape;139;p19"/>
            <p:cNvSpPr txBox="1"/>
            <p:nvPr/>
          </p:nvSpPr>
          <p:spPr>
            <a:xfrm>
              <a:off x="1216451" y="3880091"/>
              <a:ext cx="4799700" cy="369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Hard: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OAuth2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1216450" y="4101863"/>
              <a:ext cx="479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complete multi-step way to build a custom authenticated integration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REQUIRES PATIENCE AND THICK SKIN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2" name="Google Shape;142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7750" y="3880090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Explaining Webhooks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APIs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1711355" y="2136988"/>
            <a:ext cx="1002900" cy="100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Node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0" name="Google Shape;150;p20"/>
          <p:cNvGrpSpPr/>
          <p:nvPr/>
        </p:nvGrpSpPr>
        <p:grpSpPr>
          <a:xfrm>
            <a:off x="3598505" y="2136988"/>
            <a:ext cx="1002900" cy="1002900"/>
            <a:chOff x="148477" y="3657563"/>
            <a:chExt cx="1002900" cy="1002900"/>
          </a:xfrm>
        </p:grpSpPr>
        <p:sp>
          <p:nvSpPr>
            <p:cNvPr id="151" name="Google Shape;151;p20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noFill/>
            <a:ln cap="flat" cmpd="sng" w="19050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2" name="Google Shape;15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3856115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3" name="Google Shape;153;p20"/>
          <p:cNvCxnSpPr>
            <a:stCxn id="149" idx="6"/>
            <a:endCxn id="151" idx="2"/>
          </p:cNvCxnSpPr>
          <p:nvPr/>
        </p:nvCxnSpPr>
        <p:spPr>
          <a:xfrm>
            <a:off x="2714255" y="2638438"/>
            <a:ext cx="884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4" name="Google Shape;154;p20"/>
          <p:cNvSpPr txBox="1"/>
          <p:nvPr/>
        </p:nvSpPr>
        <p:spPr>
          <a:xfrm>
            <a:off x="2664453" y="2315075"/>
            <a:ext cx="8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Endpoint</a:t>
            </a:r>
            <a:endParaRPr b="1" sz="800">
              <a:solidFill>
                <a:schemeClr val="accent1"/>
              </a:solidFill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2664453" y="2638448"/>
            <a:ext cx="88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Request /</a:t>
            </a:r>
            <a:endParaRPr sz="8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Response to carry out an action</a:t>
            </a:r>
            <a:endParaRPr sz="800">
              <a:solidFill>
                <a:schemeClr val="accent1"/>
              </a:solidFill>
            </a:endParaRPr>
          </a:p>
        </p:txBody>
      </p:sp>
      <p:grpSp>
        <p:nvGrpSpPr>
          <p:cNvPr id="156" name="Google Shape;156;p20"/>
          <p:cNvGrpSpPr/>
          <p:nvPr/>
        </p:nvGrpSpPr>
        <p:grpSpPr>
          <a:xfrm>
            <a:off x="3598655" y="2136988"/>
            <a:ext cx="1002900" cy="1002900"/>
            <a:chOff x="148477" y="3657563"/>
            <a:chExt cx="1002900" cy="1002900"/>
          </a:xfrm>
        </p:grpSpPr>
        <p:sp>
          <p:nvSpPr>
            <p:cNvPr id="157" name="Google Shape;157;p20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noFill/>
            <a:ln cap="flat" cmpd="sng" w="19050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8" name="Google Shape;15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3856115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0"/>
          <p:cNvGrpSpPr/>
          <p:nvPr/>
        </p:nvGrpSpPr>
        <p:grpSpPr>
          <a:xfrm>
            <a:off x="72455" y="2136988"/>
            <a:ext cx="1002900" cy="1002900"/>
            <a:chOff x="148477" y="3657563"/>
            <a:chExt cx="1002900" cy="1002900"/>
          </a:xfrm>
        </p:grpSpPr>
        <p:sp>
          <p:nvSpPr>
            <p:cNvPr id="160" name="Google Shape;160;p20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noFill/>
            <a:ln cap="flat" cmpd="sng" w="19050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61" name="Google Shape;16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3856115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2" name="Google Shape;162;p20"/>
          <p:cNvCxnSpPr>
            <a:stCxn id="160" idx="6"/>
            <a:endCxn id="149" idx="2"/>
          </p:cNvCxnSpPr>
          <p:nvPr/>
        </p:nvCxnSpPr>
        <p:spPr>
          <a:xfrm>
            <a:off x="1075355" y="2638438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3" name="Google Shape;163;p20"/>
          <p:cNvSpPr txBox="1"/>
          <p:nvPr/>
        </p:nvSpPr>
        <p:spPr>
          <a:xfrm>
            <a:off x="950103" y="2315075"/>
            <a:ext cx="8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Webhook</a:t>
            </a:r>
            <a:endParaRPr b="1" sz="800">
              <a:solidFill>
                <a:schemeClr val="accent1"/>
              </a:solidFill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957748" y="2638448"/>
            <a:ext cx="88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Trigger that an event has happened</a:t>
            </a:r>
            <a:endParaRPr sz="8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More on nodes in n8n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350450" y="1031025"/>
            <a:ext cx="47760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Different types of node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ore Node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a step on the workflow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core node will carry out a 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ode Operation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rigger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start a workflow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ction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 task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ub-node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a constituent part of a node (eg: a tool)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Cluster Node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a group of nodes that make up a step: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One root node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One or more sub-nodes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Example of Cluster Node: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AI Agent</a:t>
            </a:r>
            <a:endParaRPr b="1"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Nodes work with items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350450" y="1031025"/>
            <a:ext cx="4031100" cy="120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Data flows in as an array of items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{"fruit": "apples"},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{"fruit": "bananas"}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350450" y="2403400"/>
            <a:ext cx="4031100" cy="153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An expression is applied to every item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{{ $json.fruit.toUpperCase() }}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{"fruit": "APPLES"},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{"fruit": "BANANAS"}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332900" y="4047925"/>
            <a:ext cx="4066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$json is a shortcut for $input.item.json</a:t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So far all our examples only had 1 item</a:t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Sub-nodes work differently: always resolves to 1st item</a:t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Equity Portfolio Rebalancer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Commercial Project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332900" y="4047925"/>
            <a:ext cx="4576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"/>
              <a:buAutoNum type="arabicPeriod"/>
            </a:pPr>
            <a:r>
              <a:rPr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Read portfolio from a Google Sheet</a:t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"/>
              <a:buAutoNum type="arabicPeriod"/>
            </a:pPr>
            <a:r>
              <a:rPr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Look up equity prices and make rebalance decisions</a:t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"/>
              <a:buAutoNum type="arabicPeriod"/>
            </a:pPr>
            <a:r>
              <a:rPr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Email trades and send push notification</a:t>
            </a:r>
            <a:endParaRPr sz="11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50" y="1009613"/>
            <a:ext cx="4440100" cy="296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15" name="Google Shape;215;p24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16" name="Google Shape;216;p24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7" name="Google Shape;217;p24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18" name="Google Shape;218;p24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19" name="Google Shape;219;p24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0" name="Google Shape;220;p24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1" name="Google Shape;221;p24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22" name="Google Shape;222;p24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p24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30" name="Google Shape;2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