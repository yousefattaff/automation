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Montserrat SemiBold"/>
      <p:regular r:id="rId29"/>
      <p:bold r:id="rId30"/>
      <p:italic r:id="rId31"/>
      <p:boldItalic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Montserrat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italic.fntdata"/><Relationship Id="rId30" Type="http://schemas.openxmlformats.org/officeDocument/2006/relationships/font" Target="fonts/MontserratSemiBold-bold.fntdata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Medium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18674844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18674844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56c592c5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ae56c592c5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18674844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918674844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186748443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9186748443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186748443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9186748443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186748443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9186748443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186748443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9186748443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186748443_0_1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9186748443_0_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186748443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186748443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186748443_0_2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9186748443_0_2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186748443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9186748443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86748443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9186748443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186748443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9186748443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186748443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9186748443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186748443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9186748443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186748443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9186748443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186748443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9186748443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186748443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9186748443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186748443_0_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9186748443_0_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186748443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g39186748443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e56c592c5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ae56c592c5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an AI Agent?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0" y="1109375"/>
            <a:ext cx="41319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Sam Altman</a:t>
            </a:r>
            <a:br>
              <a:rPr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“AI systems that can do work for you independently”</a:t>
            </a:r>
            <a:endParaRPr sz="18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Early 2025 consensus</a:t>
            </a:r>
            <a:b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(Anthropic, Hugging Face, ..)</a:t>
            </a:r>
            <a:b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AI systems where an LLM controls the workflow</a:t>
            </a:r>
            <a:endParaRPr sz="18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CAD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Late 2025</a:t>
            </a:r>
            <a:br>
              <a:rPr b="1"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18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An Agent runs Tools in a Loop to achieve a goal</a:t>
            </a:r>
            <a:endParaRPr sz="18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 all starts with Prompting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216451" y="2787354"/>
            <a:ext cx="4799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system prompt gives overall context including role the LLM is playing</a:t>
            </a:r>
            <a:endParaRPr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user prompt gives the message that the LLM is responding to</a:t>
            </a:r>
            <a:endParaRPr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uk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The whole conversation so far can be included</a:t>
            </a:r>
            <a:endParaRPr b="1" sz="900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7" name="Google Shape;107;p17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grpSp>
          <p:nvGrpSpPr>
            <p:cNvPr id="108" name="Google Shape;108;p17"/>
            <p:cNvGrpSpPr/>
            <p:nvPr/>
          </p:nvGrpSpPr>
          <p:grpSpPr>
            <a:xfrm>
              <a:off x="1216450" y="1531701"/>
              <a:ext cx="4799700" cy="544873"/>
              <a:chOff x="1564455" y="2218001"/>
              <a:chExt cx="6399600" cy="726497"/>
            </a:xfrm>
          </p:grpSpPr>
          <p:sp>
            <p:nvSpPr>
              <p:cNvPr id="109" name="Google Shape;109;p17"/>
              <p:cNvSpPr txBox="1"/>
              <p:nvPr/>
            </p:nvSpPr>
            <p:spPr>
              <a:xfrm>
                <a:off x="1564455" y="2218001"/>
                <a:ext cx="6399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An LLM receives an input and predicts what comes next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7"/>
              <p:cNvSpPr txBox="1"/>
              <p:nvPr/>
            </p:nvSpPr>
            <p:spPr>
              <a:xfrm>
                <a:off x="1564455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It is stateless; the call to an LLM like GPT depends only on the input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" name="Google Shape;111;p17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2" name="Google Shape;11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2263" y="1528561"/>
              <a:ext cx="622500" cy="622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3" name="Google Shape;113;p17"/>
          <p:cNvGrpSpPr/>
          <p:nvPr/>
        </p:nvGrpSpPr>
        <p:grpSpPr>
          <a:xfrm>
            <a:off x="148477" y="2479125"/>
            <a:ext cx="5867674" cy="1002900"/>
            <a:chOff x="148477" y="2479125"/>
            <a:chExt cx="5867674" cy="1002900"/>
          </a:xfrm>
        </p:grpSpPr>
        <p:sp>
          <p:nvSpPr>
            <p:cNvPr id="114" name="Google Shape;114;p17"/>
            <p:cNvSpPr txBox="1"/>
            <p:nvPr/>
          </p:nvSpPr>
          <p:spPr>
            <a:xfrm>
              <a:off x="1216450" y="2534480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The prompt can be made up of several parts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6" name="Google Shape;116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7264" y="2669975"/>
              <a:ext cx="622500" cy="622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" name="Google Shape;117;p17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grpSp>
          <p:nvGrpSpPr>
            <p:cNvPr id="118" name="Google Shape;118;p17"/>
            <p:cNvGrpSpPr/>
            <p:nvPr/>
          </p:nvGrpSpPr>
          <p:grpSpPr>
            <a:xfrm>
              <a:off x="1216450" y="3880091"/>
              <a:ext cx="4799700" cy="544873"/>
              <a:chOff x="1317134" y="2218001"/>
              <a:chExt cx="6399600" cy="726497"/>
            </a:xfrm>
          </p:grpSpPr>
          <p:sp>
            <p:nvSpPr>
              <p:cNvPr id="119" name="Google Shape;119;p17"/>
              <p:cNvSpPr txBox="1"/>
              <p:nvPr/>
            </p:nvSpPr>
            <p:spPr>
              <a:xfrm>
                <a:off x="1317134" y="2218001"/>
                <a:ext cx="63996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uk" sz="1200">
                    <a:solidFill>
                      <a:schemeClr val="dk1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The key is to finesse the input and interpret the output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7"/>
              <p:cNvSpPr txBox="1"/>
              <p:nvPr/>
            </p:nvSpPr>
            <p:spPr>
              <a:xfrm>
                <a:off x="1317134" y="2513698"/>
                <a:ext cx="6399600" cy="4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lang="uk" sz="900">
                    <a:solidFill>
                      <a:srgbClr val="88888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From “prompt engineering” to “context engineering”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" name="Google Shape;121;p17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2" name="Google Shape;122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0824" y="3880100"/>
              <a:ext cx="593949" cy="5939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 Tricks and 1 Trap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148475" y="1475650"/>
            <a:ext cx="987600" cy="9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Illusion of memory</a:t>
            </a:r>
            <a:endParaRPr b="1" sz="8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224143" y="1475650"/>
            <a:ext cx="987600" cy="9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Chaining LLMs</a:t>
            </a:r>
            <a:endParaRPr b="1" sz="8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3261978" y="1475650"/>
            <a:ext cx="987600" cy="9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8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299812" y="1475650"/>
            <a:ext cx="987600" cy="9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Loop</a:t>
            </a:r>
            <a:endParaRPr b="1" sz="8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186309" y="1475650"/>
            <a:ext cx="987600" cy="9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Thinking / Reasoning</a:t>
            </a:r>
            <a:endParaRPr b="1" sz="8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2049397" y="2755500"/>
            <a:ext cx="1337100" cy="1337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</a:t>
            </a:r>
            <a:b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uk" sz="868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Human Trap</a:t>
            </a:r>
            <a:endParaRPr b="1" sz="868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1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Illusion of memory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124400" y="2433306"/>
            <a:ext cx="4131900" cy="954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My name is Ed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Hi Ed</a:t>
            </a:r>
            <a:endParaRPr b="1" sz="10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What’s my name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	</a:t>
            </a: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I don’t know your name</a:t>
            </a:r>
            <a:endParaRPr b="1" sz="10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124400" y="3631481"/>
            <a:ext cx="4131900" cy="954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My name is Ed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Hi Ed</a:t>
            </a:r>
            <a:endParaRPr b="1" sz="10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My name is Ed </a:t>
            </a: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Hi Ed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What’s my name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	</a:t>
            </a: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Your name’s Ed</a:t>
            </a:r>
            <a:endParaRPr b="1" sz="10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2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Thinking / Reasoning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124400" y="2363326"/>
            <a:ext cx="4131900" cy="646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Toss 2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coins; one is heads - what’s the chance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	the other is tails?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0.5</a:t>
            </a:r>
            <a:endParaRPr b="1" sz="10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24400" y="3133851"/>
            <a:ext cx="4131900" cy="954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Toss 2 coins; one is heads - what’s the chance 		the other is tails? First describe your thought 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	process then give the answer</a:t>
            </a:r>
            <a:endParaRPr b="1" sz="10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 </a:t>
            </a:r>
            <a:r>
              <a:rPr b="1" lang="uk" sz="10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Thinking: this is a trick question. [...]</a:t>
            </a:r>
            <a:endParaRPr b="1" sz="10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		Two thirds</a:t>
            </a:r>
            <a:endParaRPr b="1" sz="10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104975" y="4118947"/>
            <a:ext cx="456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Models 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often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come in “Chat” and “Reasoning” variants; sometimes Chat variants perform better for Agentic AI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124400" y="4585307"/>
            <a:ext cx="456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8296C"/>
                </a:solidFill>
                <a:latin typeface="Montserrat"/>
                <a:ea typeface="Montserrat"/>
                <a:cs typeface="Montserrat"/>
                <a:sym typeface="Montserrat"/>
              </a:rPr>
              <a:t>Some models allow you to specify a “reasoning effort” or thinking budget</a:t>
            </a:r>
            <a:endParaRPr b="1" sz="1100">
              <a:solidFill>
                <a:srgbClr val="5829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3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Chaining LLMs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316825" y="2643675"/>
            <a:ext cx="1450200" cy="874800"/>
          </a:xfrm>
          <a:prstGeom prst="roundRect">
            <a:avLst>
              <a:gd fmla="val 16667" name="adj"/>
            </a:avLst>
          </a:prstGeom>
          <a:solidFill>
            <a:srgbClr val="ECAD0A"/>
          </a:solidFill>
          <a:ln cap="flat" cmpd="sng" w="952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Come up with a puzzle and then solve it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316825" y="3733000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Come up with a puzzle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1938800" y="3733000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Solve the following puzzle: …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1772825" y="4039375"/>
            <a:ext cx="165900" cy="22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4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145753" y="2605558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User: “what’s the stock price of GOOGL”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1732728" y="2605558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Your n8n workflow calls the LLM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3323590" y="2605558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LLM can use tools to respond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3323590" y="3628049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Make an API 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request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to MarketStack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1598283" y="2978025"/>
            <a:ext cx="136800" cy="16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3186820" y="2978025"/>
            <a:ext cx="136800" cy="16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2"/>
          <p:cNvSpPr/>
          <p:nvPr/>
        </p:nvSpPr>
        <p:spPr>
          <a:xfrm rot="5400000">
            <a:off x="3980295" y="3472574"/>
            <a:ext cx="136800" cy="16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4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3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Tools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3"/>
          <p:cNvSpPr/>
          <p:nvPr/>
        </p:nvSpPr>
        <p:spPr>
          <a:xfrm>
            <a:off x="145753" y="2605558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User: “what’s the stock price of GOOGL”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1732728" y="2605558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Your n8n workflow calls the LLM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3323590" y="2605558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LLM can use tools to respond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1732715" y="3626512"/>
            <a:ext cx="1450200" cy="8748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Make an API request to MarketStack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1598283" y="2978025"/>
            <a:ext cx="136800" cy="16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3186820" y="2978025"/>
            <a:ext cx="136800" cy="16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3"/>
          <p:cNvSpPr/>
          <p:nvPr/>
        </p:nvSpPr>
        <p:spPr>
          <a:xfrm rot="5400000">
            <a:off x="2389420" y="3471037"/>
            <a:ext cx="136800" cy="16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3" y="352925"/>
            <a:ext cx="6080087" cy="4790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5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Loop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120550" y="2303377"/>
            <a:ext cx="4665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Your task is to find the current value of my stock portfolio.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 are able to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retrieve my portfolio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look up share price 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just by responding: “Use tool to retrieve portfolio” or “Use tool to lookup share price”.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5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Loop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120550" y="2303377"/>
            <a:ext cx="4665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Your task is to find the current value of my stock portfolio.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 are able to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retrieve my portfolio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look up share price 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just by responding: “Use tool to retrieve portfolio” or “Use tool to lookup share price”.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retrieve portfolio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5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Loop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120550" y="2303377"/>
            <a:ext cx="46653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Your task is to find the current value of my stock portfolio.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 are able to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retrieve my portfolio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look up share price 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just by responding: “Use tool to retrieve portfolio” or “Use tool to lookup share price”.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retrieve portfolio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3 shares of GOOGL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5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Loop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120550" y="2303377"/>
            <a:ext cx="4665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Your task is to find the current value of my stock portfolio.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 are able to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retrieve my portfolio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look up share price 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just by responding: “Use tool to retrieve portfolio” or “Use tool to lookup share price”.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retrieve portfolio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3 shares of GOOGL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lookup share price: GOOGL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5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7" name="Google Shape;237;p29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9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Loop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120550" y="2303377"/>
            <a:ext cx="46653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Your task is to find the current value of my stock portfolio.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 are able to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retrieve my portfolio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look up share price 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just by responding: “Use tool to retrieve portfolio” or “Use tool to lookup share price”.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retrieve portfolio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3 shares of GOOGL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lookup share price: GOOGL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GOOGL share price is $100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Trick 5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Loop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0"/>
          <p:cNvSpPr txBox="1"/>
          <p:nvPr/>
        </p:nvSpPr>
        <p:spPr>
          <a:xfrm>
            <a:off x="120550" y="2303377"/>
            <a:ext cx="46653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Prompt: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Your task is to find the current value of my stock portfolio.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You are able to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retrieve my portfolio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look up share price </a:t>
            </a: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just by responding: “Use tool to retrieve portfolio” or “Use tool to lookup share price”.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retrieve portfolio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3 shares of GOOGL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Use tool to lookup share price: GOOGL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rPr>
              <a:t>GOOGL share price is $100</a:t>
            </a:r>
            <a:endParaRPr sz="1100">
              <a:solidFill>
                <a:srgbClr val="1775A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Completion: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The value of your portfolio is $300</a:t>
            </a:r>
            <a:endParaRPr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TRAP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Agentic AI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272875" y="1110200"/>
            <a:ext cx="1137000" cy="1137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Human Trap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120550" y="2303375"/>
            <a:ext cx="4665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is so common: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Objective is to automate a business process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 by creating an Agent Architecture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Assign roles &amp; responsibilities to Agents as if they are people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449600" y="3352025"/>
            <a:ext cx="466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problem: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LLMs love to generate realistic content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Convincing but not necessarily accurate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449600" y="4182575"/>
            <a:ext cx="4665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right way: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Divide up responsibilities because it better solves your problem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Evaluate each step in your workflow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277263" y="3467741"/>
            <a:ext cx="114900" cy="68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277263" y="4316406"/>
            <a:ext cx="114900" cy="63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Navigating n8n cloud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n8n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2000875" y="1387060"/>
            <a:ext cx="2611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“Dashboard”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“Admin Panel”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https://app.n8n.cloud/dashboard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118712" y="1271750"/>
            <a:ext cx="1774800" cy="111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Cloud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118712" y="2498275"/>
            <a:ext cx="1774800" cy="11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Instance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118712" y="3724800"/>
            <a:ext cx="1774800" cy="111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2000875" y="2639432"/>
            <a:ext cx="370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“Home”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“Overview”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https://eddonner.app.n8n.cloud/home/workflows</a:t>
            </a:r>
            <a:endParaRPr b="1" sz="9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2034800" y="3865957"/>
            <a:ext cx="370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“Canvas”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“Editor”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https://eddonner.app.n8n.cloud/workflow/xxxxx</a:t>
            </a:r>
            <a:endParaRPr b="1"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Navigating n8n cloud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n8n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33"/>
          <p:cNvSpPr txBox="1"/>
          <p:nvPr/>
        </p:nvSpPr>
        <p:spPr>
          <a:xfrm>
            <a:off x="2000875" y="1387060"/>
            <a:ext cx="2611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“Dashboard”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“Admin Panel”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https://app.n8n.cloud/dashboard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118712" y="1271750"/>
            <a:ext cx="1774800" cy="111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Cloud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118712" y="2498275"/>
            <a:ext cx="1774800" cy="11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Instance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118712" y="3724800"/>
            <a:ext cx="1774800" cy="111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2000875" y="2639432"/>
            <a:ext cx="370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“Home”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“Overview”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https://eddonner.app.n8n.cloud/home/workflows</a:t>
            </a:r>
            <a:endParaRPr b="1" sz="9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3"/>
          <p:cNvSpPr txBox="1"/>
          <p:nvPr/>
        </p:nvSpPr>
        <p:spPr>
          <a:xfrm>
            <a:off x="2034800" y="3865957"/>
            <a:ext cx="370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“Canvas”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“Editor”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https://eddonner.app.n8n.cloud/workflow/xxxxx</a:t>
            </a:r>
            <a:endParaRPr b="1"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50875" y="2436100"/>
            <a:ext cx="5233800" cy="2492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Some initial terminology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0" name="Google Shape;290;p34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n8n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4"/>
          <p:cNvSpPr txBox="1"/>
          <p:nvPr/>
        </p:nvSpPr>
        <p:spPr>
          <a:xfrm>
            <a:off x="171437" y="1845526"/>
            <a:ext cx="5379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Node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single step in a business process - can be a Trigger or an Action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Connection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link - passes data from the output of one node to the input of another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collection of nodes connected together to automate a process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Execution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single run of a workflow; can be Manual (testing) or Active (production)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Templates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prebuilt workflow that you can use as a 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starting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point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350450" y="1031025"/>
            <a:ext cx="323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we’ll mostly pick it up as we go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3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3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12" name="Google Shape;312;p3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3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3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3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319" name="Google Shape;319;p3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320" name="Google Shape;320;p3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1" name="Google Shape;321;p3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22" name="Google Shape;322;p3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323" name="Google Shape;323;p3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4" name="Google Shape;324;p3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325" name="Google Shape;325;p3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326" name="Google Shape;326;p3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27" name="Google Shape;327;p3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6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34" name="Google Shape;3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