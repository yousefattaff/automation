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Montserrat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MontserratMedium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Italic.fntdata"/><Relationship Id="rId30" Type="http://schemas.openxmlformats.org/officeDocument/2006/relationships/font" Target="fonts/Montserrat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19d146eff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919d146eff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186748443_0_2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9186748443_0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06d646e42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g3b06d646e42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06d646e42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g3b06d646e42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06d646e42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b06d646e42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06d646e42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b06d646e42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06d646e42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b06d646e42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06d646e42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b06d646e42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06d646e42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b06d646e42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19d146eff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919d146eff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06d646e42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b06d646e42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06d646e4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b06d646e4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FBE097"/>
          </a:solidFill>
          <a:ln cap="flat" cmpd="sng" w="2857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JSON in 4 steps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316825" y="2162525"/>
            <a:ext cx="53790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1. Key/value pairs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 strings, numbers, booleans, ..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2. An object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bunch of key/value pairs, also called a dictionary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3. An array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ordered list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4. Nesting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Values can themselves be objects or lists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350450" y="1031025"/>
            <a:ext cx="477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 simple way to represent structured data that’s easy to read</a:t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Most are probably familiar with JSON, and for those new: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will become second nature with some practice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</a:t>
            </a: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Key-value pairs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350450" y="1537850"/>
            <a:ext cx="4144500" cy="1369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"age": 30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"is_student": false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"middle_name": null</a:t>
            </a:r>
            <a:endParaRPr b="1" sz="1100">
              <a:solidFill>
                <a:srgbClr val="572A6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50450" y="1031025"/>
            <a:ext cx="369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All data is represented this way</a:t>
            </a:r>
            <a:endParaRPr b="1" sz="9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350450" y="3324175"/>
            <a:ext cx="5379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Important: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Needs to be double quotes, not single quotes (and not curly quotes!)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true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false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are in lowercase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It’s a best practice not to have spaces in key names, although it is allowed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An object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350450" y="1537850"/>
            <a:ext cx="4144500" cy="120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"name": "Alice",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"age": 30,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"is_student": false,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"middle_name": null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350450" y="1031025"/>
            <a:ext cx="414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 group of key/value pairs in { } representing a thing</a:t>
            </a:r>
            <a:endParaRPr b="1" sz="9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350450" y="3324175"/>
            <a:ext cx="5379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Important: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Intending doesn’t matter but makes it easier to read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 comma for last key/value pair!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 An array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350450" y="1537850"/>
            <a:ext cx="4144500" cy="204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"apples", "bananas", "oranges"]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[1, 1, 2, 3, 5]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[1, true, "bananas"]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 "apples",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 "bananas",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 "oranges"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350450" y="1031025"/>
            <a:ext cx="414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 list of things in [..]</a:t>
            </a:r>
            <a:endParaRPr b="1" sz="9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 Nesting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350450" y="1537850"/>
            <a:ext cx="4144500" cy="187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uk" sz="1100">
                <a:solidFill>
                  <a:srgbClr val="D0EBF8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100">
              <a:solidFill>
                <a:srgbClr val="D0EB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D0EBF8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uk" sz="1100">
                <a:solidFill>
                  <a:srgbClr val="D0EBF8"/>
                </a:solidFill>
                <a:latin typeface="Courier New"/>
                <a:ea typeface="Courier New"/>
                <a:cs typeface="Courier New"/>
                <a:sym typeface="Courier New"/>
              </a:rPr>
              <a:t>"name": "Alice",</a:t>
            </a:r>
            <a:endParaRPr b="1" sz="1100">
              <a:solidFill>
                <a:srgbClr val="D0EB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D0EBF8"/>
                </a:solidFill>
                <a:latin typeface="Courier New"/>
                <a:ea typeface="Courier New"/>
                <a:cs typeface="Courier New"/>
                <a:sym typeface="Courier New"/>
              </a:rPr>
              <a:t>    "age": 30</a:t>
            </a:r>
            <a:endParaRPr b="1" sz="1100">
              <a:solidFill>
                <a:srgbClr val="D0EB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D0EBF8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uk" sz="1100">
                <a:solidFill>
                  <a:srgbClr val="CAA5D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CAA5DC"/>
                </a:solidFill>
                <a:latin typeface="Courier New"/>
                <a:ea typeface="Courier New"/>
                <a:cs typeface="Courier New"/>
                <a:sym typeface="Courier New"/>
              </a:rPr>
              <a:t>    "name": "Bob",</a:t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CAA5DC"/>
                </a:solidFill>
                <a:latin typeface="Courier New"/>
                <a:ea typeface="Courier New"/>
                <a:cs typeface="Courier New"/>
                <a:sym typeface="Courier New"/>
              </a:rPr>
              <a:t>    "age": 35</a:t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CAA5DC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350450" y="1031025"/>
            <a:ext cx="414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list of objects!</a:t>
            </a:r>
            <a:endParaRPr b="1" sz="9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350450" y="3710400"/>
            <a:ext cx="4144500" cy="86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uk" sz="1100">
                <a:solidFill>
                  <a:srgbClr val="D0EBF8"/>
                </a:solidFill>
                <a:latin typeface="Courier New"/>
                <a:ea typeface="Courier New"/>
                <a:cs typeface="Courier New"/>
                <a:sym typeface="Courier New"/>
              </a:rPr>
              <a:t>{"name": "Alice", "age": 30}</a:t>
            </a: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uk" sz="1100">
                <a:solidFill>
                  <a:srgbClr val="CAA5DC"/>
                </a:solidFill>
                <a:latin typeface="Courier New"/>
                <a:ea typeface="Courier New"/>
                <a:cs typeface="Courier New"/>
                <a:sym typeface="Courier New"/>
              </a:rPr>
              <a:t>{"name": "Bob", "age": 35}</a:t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 Nesting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350450" y="1537850"/>
            <a:ext cx="4144500" cy="103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"street": "1 Main Street",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"city": "New York",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"country": "US"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350450" y="1031025"/>
            <a:ext cx="414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An object can contain an object:</a:t>
            </a:r>
            <a:endParaRPr b="1" sz="9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350450" y="2673600"/>
            <a:ext cx="4144500" cy="170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CAA5D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CAA5DC"/>
                </a:solidFill>
                <a:latin typeface="Courier New"/>
                <a:ea typeface="Courier New"/>
                <a:cs typeface="Courier New"/>
                <a:sym typeface="Courier New"/>
              </a:rPr>
              <a:t>	"name": "Alice",</a:t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CAA5DC"/>
                </a:solidFill>
                <a:latin typeface="Courier New"/>
                <a:ea typeface="Courier New"/>
                <a:cs typeface="Courier New"/>
                <a:sym typeface="Courier New"/>
              </a:rPr>
              <a:t>"age": 30,</a:t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CAA5DC"/>
                </a:solidFill>
                <a:latin typeface="Courier New"/>
                <a:ea typeface="Courier New"/>
                <a:cs typeface="Courier New"/>
                <a:sym typeface="Courier New"/>
              </a:rPr>
              <a:t>"address":</a:t>
            </a: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"street": "1 Main Street",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"city": "New York",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"country": "US"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CAA5D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Expressions in n8n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Expressions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316825" y="1031025"/>
            <a:ext cx="491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Determine something on the fly, rather than using a fixed value</a:t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393650" y="2452800"/>
            <a:ext cx="4144500" cy="170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	"name": "Alice",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"age": 30,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"address": {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"street": "1 Main Street",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"city": "New York",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"country": "US"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393650" y="1385025"/>
            <a:ext cx="5035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Toggle between “expression” and “fixed”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Surrounded in double curlies {{ … }}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Grab the incoming data from the prior node in json format with $json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a dot to select a particular key: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393650" y="4347600"/>
            <a:ext cx="4144500" cy="69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CAA5DC"/>
                </a:solidFill>
                <a:latin typeface="Courier New"/>
                <a:ea typeface="Courier New"/>
                <a:cs typeface="Courier New"/>
                <a:sym typeface="Courier New"/>
              </a:rPr>
              <a:t>{{ $json.name }}</a:t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CAA5DC"/>
                </a:solidFill>
                <a:latin typeface="Courier New"/>
                <a:ea typeface="Courier New"/>
                <a:cs typeface="Courier New"/>
                <a:sym typeface="Courier New"/>
              </a:rPr>
              <a:t>{{ $json.address.city }}</a:t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couple of extras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Expressions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316825" y="1031025"/>
            <a:ext cx="491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Some expressions we will use</a:t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316825" y="1985400"/>
            <a:ext cx="4144500" cy="35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{{ $node["My Previous Node"].json }}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316825" y="1632825"/>
            <a:ext cx="503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 grab the data from an earlier node in the workflow, use it’s name: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316825" y="3143175"/>
            <a:ext cx="4144500" cy="35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{{ JSON.stringify($json) }}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316825" y="2765625"/>
            <a:ext cx="503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 turn JSON into text, perhaps to pass it to an LLM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316825" y="3807225"/>
            <a:ext cx="518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Not important to memorize this; just pick up examples along the way</a:t>
            </a:r>
            <a:endParaRPr sz="11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Authentication patterns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Integrations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3" name="Google Shape;173;p24"/>
          <p:cNvGrpSpPr/>
          <p:nvPr/>
        </p:nvGrpSpPr>
        <p:grpSpPr>
          <a:xfrm>
            <a:off x="148477" y="1300688"/>
            <a:ext cx="5867674" cy="1002900"/>
            <a:chOff x="148477" y="1300688"/>
            <a:chExt cx="5867674" cy="1002900"/>
          </a:xfrm>
        </p:grpSpPr>
        <p:sp>
          <p:nvSpPr>
            <p:cNvPr id="174" name="Google Shape;174;p24"/>
            <p:cNvSpPr txBox="1"/>
            <p:nvPr/>
          </p:nvSpPr>
          <p:spPr>
            <a:xfrm>
              <a:off x="1216451" y="1531701"/>
              <a:ext cx="4799700" cy="369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Easy:</a:t>
              </a: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API Key Based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4"/>
            <p:cNvSpPr txBox="1"/>
            <p:nvPr/>
          </p:nvSpPr>
          <p:spPr>
            <a:xfrm>
              <a:off x="1216451" y="1753474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Simple password-based access to the third party 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48477" y="1300688"/>
              <a:ext cx="1002900" cy="1002900"/>
            </a:xfrm>
            <a:prstGeom prst="ellipse">
              <a:avLst/>
            </a:prstGeom>
            <a:solidFill>
              <a:srgbClr val="B179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77" name="Google Shape;177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2525" y="1471122"/>
              <a:ext cx="698650" cy="6986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24"/>
          <p:cNvGrpSpPr/>
          <p:nvPr/>
        </p:nvGrpSpPr>
        <p:grpSpPr>
          <a:xfrm>
            <a:off x="148477" y="2479125"/>
            <a:ext cx="5961873" cy="1002900"/>
            <a:chOff x="148477" y="2479125"/>
            <a:chExt cx="5961873" cy="1002900"/>
          </a:xfrm>
        </p:grpSpPr>
        <p:sp>
          <p:nvSpPr>
            <p:cNvPr id="179" name="Google Shape;179;p24"/>
            <p:cNvSpPr txBox="1"/>
            <p:nvPr/>
          </p:nvSpPr>
          <p:spPr>
            <a:xfrm>
              <a:off x="1216450" y="2701650"/>
              <a:ext cx="4893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Medium: </a:t>
              </a: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Login-style, pre-configured OAuth2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4"/>
            <p:cNvSpPr txBox="1"/>
            <p:nvPr/>
          </p:nvSpPr>
          <p:spPr>
            <a:xfrm>
              <a:off x="1216450" y="2923426"/>
              <a:ext cx="4799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One click - n8n has already done the setup, like Google Sheets and Gmail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Authenticating for a specific end-user of the product</a:t>
              </a:r>
              <a:endParaRPr b="1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1" name="Google Shape;181;p24"/>
            <p:cNvSpPr/>
            <p:nvPr/>
          </p:nvSpPr>
          <p:spPr>
            <a:xfrm>
              <a:off x="148477" y="2479125"/>
              <a:ext cx="1002900" cy="1002900"/>
            </a:xfrm>
            <a:prstGeom prst="ellipse">
              <a:avLst/>
            </a:prstGeom>
            <a:solidFill>
              <a:srgbClr val="5829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82" name="Google Shape;182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7757" y="2658435"/>
              <a:ext cx="644332" cy="644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" name="Google Shape;183;p24"/>
          <p:cNvGrpSpPr/>
          <p:nvPr/>
        </p:nvGrpSpPr>
        <p:grpSpPr>
          <a:xfrm>
            <a:off x="148477" y="3657563"/>
            <a:ext cx="5867674" cy="1002900"/>
            <a:chOff x="148477" y="3657563"/>
            <a:chExt cx="5867674" cy="1002900"/>
          </a:xfrm>
        </p:grpSpPr>
        <p:sp>
          <p:nvSpPr>
            <p:cNvPr id="184" name="Google Shape;184;p24"/>
            <p:cNvSpPr txBox="1"/>
            <p:nvPr/>
          </p:nvSpPr>
          <p:spPr>
            <a:xfrm>
              <a:off x="1216451" y="3880091"/>
              <a:ext cx="4799700" cy="369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Hard:</a:t>
              </a: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OAuth2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4"/>
            <p:cNvSpPr txBox="1"/>
            <p:nvPr/>
          </p:nvSpPr>
          <p:spPr>
            <a:xfrm>
              <a:off x="1216450" y="4101863"/>
              <a:ext cx="4799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complete multi-step way to build a custom authenticated integration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REQUIRES PATIENCE AND THICK SKIN</a:t>
              </a:r>
              <a:endParaRPr b="1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6" name="Google Shape;186;p24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solidFill>
              <a:srgbClr val="3A1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87" name="Google Shape;187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7750" y="3880090"/>
              <a:ext cx="644349" cy="6443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Integrations!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3" name="Google Shape;193;p25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Integrations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4" name="Google Shape;194;p25"/>
          <p:cNvGrpSpPr/>
          <p:nvPr/>
        </p:nvGrpSpPr>
        <p:grpSpPr>
          <a:xfrm>
            <a:off x="258877" y="1689488"/>
            <a:ext cx="1002900" cy="1469113"/>
            <a:chOff x="258877" y="1689488"/>
            <a:chExt cx="1002900" cy="1469113"/>
          </a:xfrm>
        </p:grpSpPr>
        <p:sp>
          <p:nvSpPr>
            <p:cNvPr id="195" name="Google Shape;195;p25"/>
            <p:cNvSpPr txBox="1"/>
            <p:nvPr/>
          </p:nvSpPr>
          <p:spPr>
            <a:xfrm>
              <a:off x="425375" y="2789300"/>
              <a:ext cx="669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Push</a:t>
              </a:r>
              <a:endPara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6" name="Google Shape;196;p25"/>
            <p:cNvGrpSpPr/>
            <p:nvPr/>
          </p:nvGrpSpPr>
          <p:grpSpPr>
            <a:xfrm>
              <a:off x="258877" y="1689488"/>
              <a:ext cx="1002900" cy="1002900"/>
              <a:chOff x="148477" y="1300688"/>
              <a:chExt cx="1002900" cy="1002900"/>
            </a:xfrm>
          </p:grpSpPr>
          <p:sp>
            <p:nvSpPr>
              <p:cNvPr id="197" name="Google Shape;197;p25"/>
              <p:cNvSpPr/>
              <p:nvPr/>
            </p:nvSpPr>
            <p:spPr>
              <a:xfrm>
                <a:off x="148477" y="1300688"/>
                <a:ext cx="1002900" cy="1002900"/>
              </a:xfrm>
              <a:prstGeom prst="ellipse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id="198" name="Google Shape;198;p2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12475" y="1464734"/>
                <a:ext cx="674875" cy="6748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9" name="Google Shape;199;p25"/>
          <p:cNvGrpSpPr/>
          <p:nvPr/>
        </p:nvGrpSpPr>
        <p:grpSpPr>
          <a:xfrm>
            <a:off x="1721225" y="1689488"/>
            <a:ext cx="1023752" cy="1469113"/>
            <a:chOff x="1721225" y="1689488"/>
            <a:chExt cx="1023752" cy="1469113"/>
          </a:xfrm>
        </p:grpSpPr>
        <p:grpSp>
          <p:nvGrpSpPr>
            <p:cNvPr id="200" name="Google Shape;200;p25"/>
            <p:cNvGrpSpPr/>
            <p:nvPr/>
          </p:nvGrpSpPr>
          <p:grpSpPr>
            <a:xfrm>
              <a:off x="1742077" y="1689488"/>
              <a:ext cx="1002900" cy="1002900"/>
              <a:chOff x="148477" y="2479125"/>
              <a:chExt cx="1002900" cy="1002900"/>
            </a:xfrm>
          </p:grpSpPr>
          <p:sp>
            <p:nvSpPr>
              <p:cNvPr id="201" name="Google Shape;201;p25"/>
              <p:cNvSpPr/>
              <p:nvPr/>
            </p:nvSpPr>
            <p:spPr>
              <a:xfrm>
                <a:off x="148477" y="2479125"/>
                <a:ext cx="1002900" cy="1002900"/>
              </a:xfrm>
              <a:prstGeom prst="ellipse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id="202" name="Google Shape;202;p2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48487" y="2679172"/>
                <a:ext cx="602875" cy="6028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3" name="Google Shape;203;p25"/>
            <p:cNvSpPr txBox="1"/>
            <p:nvPr/>
          </p:nvSpPr>
          <p:spPr>
            <a:xfrm>
              <a:off x="1721225" y="2789300"/>
              <a:ext cx="1002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Telegram</a:t>
              </a:r>
              <a:endPara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25"/>
          <p:cNvGrpSpPr/>
          <p:nvPr/>
        </p:nvGrpSpPr>
        <p:grpSpPr>
          <a:xfrm>
            <a:off x="3225275" y="1689488"/>
            <a:ext cx="1002902" cy="1469113"/>
            <a:chOff x="3225275" y="1689488"/>
            <a:chExt cx="1002902" cy="1469113"/>
          </a:xfrm>
        </p:grpSpPr>
        <p:grpSp>
          <p:nvGrpSpPr>
            <p:cNvPr id="205" name="Google Shape;205;p25"/>
            <p:cNvGrpSpPr/>
            <p:nvPr/>
          </p:nvGrpSpPr>
          <p:grpSpPr>
            <a:xfrm>
              <a:off x="3225277" y="1689488"/>
              <a:ext cx="1002900" cy="1002900"/>
              <a:chOff x="148477" y="3657563"/>
              <a:chExt cx="1002900" cy="1002900"/>
            </a:xfrm>
          </p:grpSpPr>
          <p:sp>
            <p:nvSpPr>
              <p:cNvPr id="206" name="Google Shape;206;p25"/>
              <p:cNvSpPr/>
              <p:nvPr/>
            </p:nvSpPr>
            <p:spPr>
              <a:xfrm>
                <a:off x="148477" y="3657563"/>
                <a:ext cx="1002900" cy="1002900"/>
              </a:xfrm>
              <a:prstGeom prst="ellipse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id="207" name="Google Shape;207;p2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27750" y="3856115"/>
                <a:ext cx="644349" cy="6443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8" name="Google Shape;208;p25"/>
            <p:cNvSpPr txBox="1"/>
            <p:nvPr/>
          </p:nvSpPr>
          <p:spPr>
            <a:xfrm>
              <a:off x="3225275" y="2789300"/>
              <a:ext cx="1002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Slack</a:t>
              </a:r>
              <a:endPara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25"/>
          <p:cNvSpPr txBox="1"/>
          <p:nvPr/>
        </p:nvSpPr>
        <p:spPr>
          <a:xfrm>
            <a:off x="258875" y="3543225"/>
            <a:ext cx="5035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Integrations survival guide: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an integration doesn’t work for you: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Try again!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Post for help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"/>
              <a:buAutoNum type="arabicPeriod"/>
            </a:pP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Simply pick another</a:t>
            </a:r>
            <a:endParaRPr b="1" sz="11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6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9" name="Google Shape;229;p26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26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26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36" name="Google Shape;236;p26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37" name="Google Shape;237;p26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8" name="Google Shape;238;p26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39" name="Google Shape;239;p26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240" name="Google Shape;240;p26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1" name="Google Shape;241;p26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42" name="Google Shape;242;p26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43" name="Google Shape;243;p26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4" name="Google Shape;244;p26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7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27%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