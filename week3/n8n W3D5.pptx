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dd265689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3dd265689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3dd265689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b3dd265689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3dd265689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b3dd265689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3dd265689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b3dd265689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3dd265689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b3dd265689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3dd265689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b3dd265689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ef7d444e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b3ef7d444e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3f211c96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b3f211c96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3ef7d444e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b3ef7d444e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3ef7d444e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b3ef7d444e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3ef7d444e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b3ef7d444e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 cap="flat" cmpd="sng" w="2857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new skill is</a:t>
            </a:r>
            <a:b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Engineering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SUCCESSOR TO PROMPT ENGINEERING: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166602" y="1542438"/>
            <a:ext cx="5867674" cy="1002900"/>
            <a:chOff x="166602" y="1542438"/>
            <a:chExt cx="5867674" cy="1002900"/>
          </a:xfrm>
        </p:grpSpPr>
        <p:grpSp>
          <p:nvGrpSpPr>
            <p:cNvPr id="100" name="Google Shape;100;p16"/>
            <p:cNvGrpSpPr/>
            <p:nvPr/>
          </p:nvGrpSpPr>
          <p:grpSpPr>
            <a:xfrm>
              <a:off x="1234575" y="1773451"/>
              <a:ext cx="4799700" cy="544873"/>
              <a:chOff x="1564455" y="2218001"/>
              <a:chExt cx="6399600" cy="726497"/>
            </a:xfrm>
          </p:grpSpPr>
          <p:sp>
            <p:nvSpPr>
              <p:cNvPr id="101" name="Google Shape;101;p16"/>
              <p:cNvSpPr txBox="1"/>
              <p:nvPr/>
            </p:nvSpPr>
            <p:spPr>
              <a:xfrm>
                <a:off x="1564455" y="2218001"/>
                <a:ext cx="6399600" cy="49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LLMs can only process a limited size of input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6"/>
              <p:cNvSpPr txBox="1"/>
              <p:nvPr/>
            </p:nvSpPr>
            <p:spPr>
              <a:xfrm>
                <a:off x="1564455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‘context window’ includes all the conversation so far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" name="Google Shape;103;p16"/>
            <p:cNvSpPr/>
            <p:nvPr/>
          </p:nvSpPr>
          <p:spPr>
            <a:xfrm>
              <a:off x="166602" y="1542438"/>
              <a:ext cx="1002900" cy="10029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4" name="Google Shape;104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2262" y="1734263"/>
              <a:ext cx="631575" cy="631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6"/>
          <p:cNvGrpSpPr/>
          <p:nvPr/>
        </p:nvGrpSpPr>
        <p:grpSpPr>
          <a:xfrm>
            <a:off x="166602" y="2720875"/>
            <a:ext cx="5867674" cy="1002900"/>
            <a:chOff x="166602" y="2720875"/>
            <a:chExt cx="5867674" cy="1002900"/>
          </a:xfrm>
        </p:grpSpPr>
        <p:grpSp>
          <p:nvGrpSpPr>
            <p:cNvPr id="106" name="Google Shape;106;p16"/>
            <p:cNvGrpSpPr/>
            <p:nvPr/>
          </p:nvGrpSpPr>
          <p:grpSpPr>
            <a:xfrm>
              <a:off x="1234575" y="2943403"/>
              <a:ext cx="4799700" cy="544873"/>
              <a:chOff x="1317134" y="2218001"/>
              <a:chExt cx="6399600" cy="726497"/>
            </a:xfrm>
          </p:grpSpPr>
          <p:sp>
            <p:nvSpPr>
              <p:cNvPr id="107" name="Google Shape;107;p16"/>
              <p:cNvSpPr txBox="1"/>
              <p:nvPr/>
            </p:nvSpPr>
            <p:spPr>
              <a:xfrm>
                <a:off x="1317134" y="2218001"/>
                <a:ext cx="6399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More tools gives more flexibility but takes space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6"/>
              <p:cNvSpPr txBox="1"/>
              <p:nvPr/>
            </p:nvSpPr>
            <p:spPr>
              <a:xfrm>
                <a:off x="1317134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model can lose coherence resulting in unreliable outcomes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" name="Google Shape;109;p16"/>
            <p:cNvSpPr/>
            <p:nvPr/>
          </p:nvSpPr>
          <p:spPr>
            <a:xfrm>
              <a:off x="166602" y="2720875"/>
              <a:ext cx="1002900" cy="1002900"/>
            </a:xfrm>
            <a:prstGeom prst="ellipse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0" name="Google Shape;110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2247" y="2965025"/>
              <a:ext cx="588850" cy="588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" name="Google Shape;111;p16"/>
          <p:cNvGrpSpPr/>
          <p:nvPr/>
        </p:nvGrpSpPr>
        <p:grpSpPr>
          <a:xfrm>
            <a:off x="166602" y="3899313"/>
            <a:ext cx="5867674" cy="1002900"/>
            <a:chOff x="166602" y="3899313"/>
            <a:chExt cx="5867674" cy="1002900"/>
          </a:xfrm>
        </p:grpSpPr>
        <p:grpSp>
          <p:nvGrpSpPr>
            <p:cNvPr id="112" name="Google Shape;112;p16"/>
            <p:cNvGrpSpPr/>
            <p:nvPr/>
          </p:nvGrpSpPr>
          <p:grpSpPr>
            <a:xfrm>
              <a:off x="1234575" y="4121841"/>
              <a:ext cx="4799700" cy="544873"/>
              <a:chOff x="1317134" y="2218001"/>
              <a:chExt cx="6399600" cy="726497"/>
            </a:xfrm>
          </p:grpSpPr>
          <p:sp>
            <p:nvSpPr>
              <p:cNvPr id="113" name="Google Shape;113;p16"/>
              <p:cNvSpPr txBox="1"/>
              <p:nvPr/>
            </p:nvSpPr>
            <p:spPr>
              <a:xfrm>
                <a:off x="1317134" y="2218001"/>
                <a:ext cx="6399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Context Engineering is the art of fitting it in perfectly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6"/>
              <p:cNvSpPr txBox="1"/>
              <p:nvPr/>
            </p:nvSpPr>
            <p:spPr>
              <a:xfrm>
                <a:off x="1317134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best selection of prompts, tools and structured outputs for the goal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5" name="Google Shape;115;p16"/>
            <p:cNvSpPr/>
            <p:nvPr/>
          </p:nvSpPr>
          <p:spPr>
            <a:xfrm>
              <a:off x="166602" y="3899313"/>
              <a:ext cx="1002900" cy="1002900"/>
            </a:xfrm>
            <a:prstGeom prst="ellipse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6" name="Google Shape;116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3625" y="4106350"/>
              <a:ext cx="588850" cy="5888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Sub-Agents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 CORE AGENTIC AI PATTERN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657226" y="1271582"/>
            <a:ext cx="46395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Divide into smaller, independently testable steps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Good for reuse - share the same sub-agent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Optimizes context window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Easily implemented in n8n with sub-workflows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657225" y="3127202"/>
            <a:ext cx="44631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Beware the Trap! Don’t anthropomorphize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Reduces Autonomy; the model has less flexibility on how to tackle problems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Typically, more to build! (But easier to test)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19000" y="1257657"/>
            <a:ext cx="148500" cy="1627500"/>
          </a:xfrm>
          <a:prstGeom prst="rect">
            <a:avLst/>
          </a:prstGeom>
          <a:solidFill>
            <a:srgbClr val="4CBB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19000" y="3116200"/>
            <a:ext cx="148500" cy="1452600"/>
          </a:xfrm>
          <a:prstGeom prst="rect">
            <a:avLst/>
          </a:prstGeom>
          <a:solidFill>
            <a:srgbClr val="BC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316814" y="571013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hallmarks of a strong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Agentic solution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EVALS!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672850" y="1586702"/>
            <a:ext cx="44631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 anti-pattern is The Trap / anthroporphizing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Another red flag is being overly solution focused: I need an Agent for X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And another is taking generated content as the goal: “Provide a business strategy for X”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34625" y="1547754"/>
            <a:ext cx="148500" cy="1718100"/>
          </a:xfrm>
          <a:prstGeom prst="rect">
            <a:avLst/>
          </a:prstGeom>
          <a:solidFill>
            <a:srgbClr val="BC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672847" y="3557582"/>
            <a:ext cx="46395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clearly identifiable business problem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metric to evaluate with established success criteria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Rigorous testing to demonstrate </a:t>
            </a: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criteria</a:t>
            </a: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met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34622" y="3423890"/>
            <a:ext cx="148500" cy="1627500"/>
          </a:xfrm>
          <a:prstGeom prst="rect">
            <a:avLst/>
          </a:prstGeom>
          <a:solidFill>
            <a:srgbClr val="4CBB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27075" y="4501175"/>
            <a:ext cx="5066700" cy="53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sz="2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308539" y="2231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Capstone: 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Amplify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Your Business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707950" y="893913"/>
            <a:ext cx="51828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Applicable to all businesses, agencies and yourself!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 Agentic solution to generate new business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Many opportunities to extend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34625" y="861964"/>
            <a:ext cx="148500" cy="121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34622" y="2323482"/>
            <a:ext cx="463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1: Outbound Sales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1732725" y="3026475"/>
            <a:ext cx="1822200" cy="71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Development Manager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145775" y="4156975"/>
            <a:ext cx="1462800" cy="71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Prospecting 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1912425" y="41569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RevOps</a:t>
            </a: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3679075" y="41569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SDR</a:t>
            </a:r>
            <a:b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5" name="Google Shape;155;p20"/>
          <p:cNvGrpSpPr/>
          <p:nvPr/>
        </p:nvGrpSpPr>
        <p:grpSpPr>
          <a:xfrm>
            <a:off x="877175" y="3738675"/>
            <a:ext cx="3533300" cy="418350"/>
            <a:chOff x="877175" y="3738675"/>
            <a:chExt cx="3533300" cy="418350"/>
          </a:xfrm>
        </p:grpSpPr>
        <p:cxnSp>
          <p:nvCxnSpPr>
            <p:cNvPr id="156" name="Google Shape;156;p20"/>
            <p:cNvCxnSpPr>
              <a:stCxn id="151" idx="2"/>
              <a:endCxn id="153" idx="0"/>
            </p:cNvCxnSpPr>
            <p:nvPr/>
          </p:nvCxnSpPr>
          <p:spPr>
            <a:xfrm>
              <a:off x="2643825" y="3738675"/>
              <a:ext cx="0" cy="418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20"/>
            <p:cNvCxnSpPr>
              <a:endCxn id="152" idx="0"/>
            </p:cNvCxnSpPr>
            <p:nvPr/>
          </p:nvCxnSpPr>
          <p:spPr>
            <a:xfrm>
              <a:off x="877175" y="3945775"/>
              <a:ext cx="0" cy="21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20"/>
            <p:cNvCxnSpPr/>
            <p:nvPr/>
          </p:nvCxnSpPr>
          <p:spPr>
            <a:xfrm>
              <a:off x="4410475" y="3945825"/>
              <a:ext cx="0" cy="21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20"/>
            <p:cNvCxnSpPr/>
            <p:nvPr/>
          </p:nvCxnSpPr>
          <p:spPr>
            <a:xfrm rot="10800000">
              <a:off x="879675" y="3954173"/>
              <a:ext cx="3528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0" name="Google Shape;160;p20"/>
          <p:cNvSpPr/>
          <p:nvPr/>
        </p:nvSpPr>
        <p:spPr>
          <a:xfrm>
            <a:off x="145775" y="41569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Prospecting 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308539" y="2231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Capstone: Amplify Your Business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707950" y="893913"/>
            <a:ext cx="51828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Applicable to all businesses, agencies and yourself!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 Agentic solution to generate new business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Many opportunities to extend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434625" y="861964"/>
            <a:ext cx="148500" cy="121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434622" y="2323482"/>
            <a:ext cx="463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2: Account Executive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1732725" y="3026475"/>
            <a:ext cx="1822200" cy="71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Account Executive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602975" y="4156975"/>
            <a:ext cx="1462800" cy="71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Deal</a:t>
            </a:r>
            <a:b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Recording</a:t>
            </a:r>
            <a:b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221875" y="4156975"/>
            <a:ext cx="1462800" cy="71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Demo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Booking</a:t>
            </a:r>
            <a:b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2" name="Google Shape;172;p21"/>
          <p:cNvCxnSpPr>
            <a:stCxn id="169" idx="2"/>
          </p:cNvCxnSpPr>
          <p:nvPr/>
        </p:nvCxnSpPr>
        <p:spPr>
          <a:xfrm>
            <a:off x="2643825" y="3738675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1"/>
          <p:cNvCxnSpPr>
            <a:endCxn id="170" idx="0"/>
          </p:cNvCxnSpPr>
          <p:nvPr/>
        </p:nvCxnSpPr>
        <p:spPr>
          <a:xfrm>
            <a:off x="1334375" y="3945775"/>
            <a:ext cx="0" cy="21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1"/>
          <p:cNvCxnSpPr/>
          <p:nvPr/>
        </p:nvCxnSpPr>
        <p:spPr>
          <a:xfrm>
            <a:off x="3953275" y="3945825"/>
            <a:ext cx="0" cy="21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1"/>
          <p:cNvCxnSpPr/>
          <p:nvPr/>
        </p:nvCxnSpPr>
        <p:spPr>
          <a:xfrm rot="10800000">
            <a:off x="1334075" y="3954175"/>
            <a:ext cx="2619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/>
        </p:nvSpPr>
        <p:spPr>
          <a:xfrm>
            <a:off x="308539" y="2231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Capstone: Amplify Your Business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732725" y="3178875"/>
            <a:ext cx="1822200" cy="712200"/>
          </a:xfrm>
          <a:prstGeom prst="rect">
            <a:avLst/>
          </a:prstGeom>
          <a:solidFill>
            <a:srgbClr val="572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Account Executive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602975" y="43093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Deal</a:t>
            </a:r>
            <a:b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Recording</a:t>
            </a:r>
            <a:b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3221875" y="43093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Demo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Booking</a:t>
            </a:r>
            <a:b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4" name="Google Shape;184;p22"/>
          <p:cNvCxnSpPr>
            <a:stCxn id="181" idx="2"/>
          </p:cNvCxnSpPr>
          <p:nvPr/>
        </p:nvCxnSpPr>
        <p:spPr>
          <a:xfrm>
            <a:off x="2643825" y="3891075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2"/>
          <p:cNvCxnSpPr>
            <a:endCxn id="182" idx="0"/>
          </p:cNvCxnSpPr>
          <p:nvPr/>
        </p:nvCxnSpPr>
        <p:spPr>
          <a:xfrm>
            <a:off x="1334375" y="4098175"/>
            <a:ext cx="0" cy="21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2"/>
          <p:cNvCxnSpPr/>
          <p:nvPr/>
        </p:nvCxnSpPr>
        <p:spPr>
          <a:xfrm>
            <a:off x="3953275" y="4098225"/>
            <a:ext cx="0" cy="21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2"/>
          <p:cNvCxnSpPr/>
          <p:nvPr/>
        </p:nvCxnSpPr>
        <p:spPr>
          <a:xfrm rot="10800000">
            <a:off x="1334075" y="4106575"/>
            <a:ext cx="2619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2"/>
          <p:cNvSpPr/>
          <p:nvPr/>
        </p:nvSpPr>
        <p:spPr>
          <a:xfrm>
            <a:off x="1732725" y="969075"/>
            <a:ext cx="1822200" cy="712200"/>
          </a:xfrm>
          <a:prstGeom prst="rect">
            <a:avLst/>
          </a:prstGeom>
          <a:solidFill>
            <a:srgbClr val="572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Development Manager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145775" y="2099575"/>
            <a:ext cx="1462800" cy="71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Prospecting 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912425" y="20995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RevOps sub-agent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3679075" y="20995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SDR</a:t>
            </a:r>
            <a:b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2" name="Google Shape;192;p22"/>
          <p:cNvCxnSpPr/>
          <p:nvPr/>
        </p:nvCxnSpPr>
        <p:spPr>
          <a:xfrm>
            <a:off x="2643825" y="1681275"/>
            <a:ext cx="0" cy="41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2"/>
          <p:cNvCxnSpPr/>
          <p:nvPr/>
        </p:nvCxnSpPr>
        <p:spPr>
          <a:xfrm>
            <a:off x="877175" y="1888375"/>
            <a:ext cx="0" cy="21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2"/>
          <p:cNvCxnSpPr/>
          <p:nvPr/>
        </p:nvCxnSpPr>
        <p:spPr>
          <a:xfrm>
            <a:off x="4410475" y="1888425"/>
            <a:ext cx="0" cy="21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2"/>
          <p:cNvCxnSpPr/>
          <p:nvPr/>
        </p:nvCxnSpPr>
        <p:spPr>
          <a:xfrm rot="10800000">
            <a:off x="879675" y="1896773"/>
            <a:ext cx="352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2"/>
          <p:cNvSpPr/>
          <p:nvPr/>
        </p:nvSpPr>
        <p:spPr>
          <a:xfrm>
            <a:off x="145775" y="20995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Prospecting sub-agent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23" name="Google Shape;223;p23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24" name="Google Shape;224;p23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5" name="Google Shape;225;p23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6" name="Google Shape;226;p23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27" name="Google Shape;227;p23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8" name="Google Shape;228;p23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9" name="Google Shape;229;p23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30" name="Google Shape;230;p23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23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58" name="Google Shape;258;p24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59" name="Google Shape;259;p24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0" name="Google Shape;260;p24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62" name="Google Shape;262;p24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3" name="Google Shape;263;p24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64" name="Google Shape;264;p24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65" name="Google Shape;265;p24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267" name="Google Shape;2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096" y="1417509"/>
            <a:ext cx="461300" cy="4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/>
        </p:nvSpPr>
        <p:spPr>
          <a:xfrm>
            <a:off x="308200" y="3376742"/>
            <a:ext cx="3747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  <a:t>Remember - I come with the package!</a:t>
            </a:r>
            <a:b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uk" sz="11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  <a:t>https://www.linkedin.com/in/eddonner/</a:t>
            </a:r>
            <a:endParaRPr b="1" sz="1100">
              <a:solidFill>
                <a:srgbClr val="209DD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  <a:t>Post your certificate on LinkedIn and I will amplify</a:t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  <a:t>Consider my AI Engineering courses if you’d like to go deeper, like AI Engineer Agentic Track</a:t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  <a:t>Most importantly: </a:t>
            </a:r>
            <a:r>
              <a:rPr b="1" lang="uk" sz="1100">
                <a:solidFill>
                  <a:srgbClr val="753991"/>
                </a:solidFill>
                <a:latin typeface="Montserrat"/>
                <a:ea typeface="Montserrat"/>
                <a:cs typeface="Montserrat"/>
                <a:sym typeface="Montserrat"/>
              </a:rPr>
              <a:t>Build Agents &amp; </a:t>
            </a:r>
            <a:r>
              <a:rPr b="1" lang="uk" sz="1100">
                <a:solidFill>
                  <a:srgbClr val="753991"/>
                </a:solidFill>
                <a:latin typeface="Montserrat"/>
                <a:ea typeface="Montserrat"/>
                <a:cs typeface="Montserrat"/>
                <a:sym typeface="Montserrat"/>
              </a:rPr>
              <a:t>Voice Agents!</a:t>
            </a:r>
            <a:endParaRPr b="1" sz="1100">
              <a:solidFill>
                <a:srgbClr val="75399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347539" y="1122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You’ve earned BLACK BELT!</a:t>
            </a:r>
            <a:endParaRPr sz="1700"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74" name="Google Shape;274;p25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433050" y="583363"/>
            <a:ext cx="3154701" cy="276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81" name="Google Shape;2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