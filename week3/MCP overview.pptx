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 SemiBold"/>
      <p:regular r:id="rId10"/>
      <p:bold r:id="rId11"/>
      <p:italic r:id="rId12"/>
      <p:boldItalic r:id="rId13"/>
    </p:embeddedFont>
    <p:embeddedFont>
      <p:font typeface="Montserra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SemiBold-bold.fntdata"/><Relationship Id="rId10" Type="http://schemas.openxmlformats.org/officeDocument/2006/relationships/font" Target="fonts/MontserratSemiBold-regular.fntdata"/><Relationship Id="rId13" Type="http://schemas.openxmlformats.org/officeDocument/2006/relationships/font" Target="fonts/MontserratSemiBold-boldItalic.fntdata"/><Relationship Id="rId12" Type="http://schemas.openxmlformats.org/officeDocument/2006/relationships/font" Target="fonts/Montserrat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b3c72b8d84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b3c72b8d84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3c72b8d84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b3c72b8d84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3c72b8d84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g3b3c72b8d84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3c72b8d84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3b3c72b8d84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316814" y="14672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MCP?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6422150" y="1288275"/>
            <a:ext cx="2313000" cy="28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odel</a:t>
            </a:r>
            <a:b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b="1" lang="uk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ontext</a:t>
            </a:r>
            <a:b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b="1" lang="uk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rotocol</a:t>
            </a:r>
            <a:b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from Anthropic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“The usb-c port for AI applications”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“an open-source standard for connecting AI applications to external systems” 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01" y="1002850"/>
            <a:ext cx="5839476" cy="389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4672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 practice: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657227" y="1037775"/>
            <a:ext cx="51483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Easy way to use Tools written by someone else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Easy way to share your Tools with others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Easy way to connect LLMs with Tools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game-changer is the adoption &amp; ecosystem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657225" y="3210544"/>
            <a:ext cx="69819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It’s the interface, not the tools themselves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It’s an agreed standard, not major innovation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Still might be ‘passing fad’ - there are new evolving ways to integrate LLMs with Tools like Skills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19000" y="1023850"/>
            <a:ext cx="148500" cy="162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419000" y="3116200"/>
            <a:ext cx="148500" cy="162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316814" y="14672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Technicality 1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380239" y="622836"/>
            <a:ext cx="4429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pieces of the puzzle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73" name="Google Shape;73;p16"/>
          <p:cNvGrpSpPr/>
          <p:nvPr/>
        </p:nvGrpSpPr>
        <p:grpSpPr>
          <a:xfrm>
            <a:off x="380250" y="1116325"/>
            <a:ext cx="2076900" cy="3418200"/>
            <a:chOff x="380250" y="1116325"/>
            <a:chExt cx="2076900" cy="3418200"/>
          </a:xfrm>
        </p:grpSpPr>
        <p:sp>
          <p:nvSpPr>
            <p:cNvPr id="74" name="Google Shape;74;p16"/>
            <p:cNvSpPr/>
            <p:nvPr/>
          </p:nvSpPr>
          <p:spPr>
            <a:xfrm>
              <a:off x="380250" y="1116325"/>
              <a:ext cx="2076900" cy="34182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rgbClr val="F7F7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5" name="Google Shape;75;p16"/>
            <p:cNvSpPr txBox="1"/>
            <p:nvPr/>
          </p:nvSpPr>
          <p:spPr>
            <a:xfrm>
              <a:off x="505593" y="1240350"/>
              <a:ext cx="1681500" cy="9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2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MCP Host</a:t>
              </a:r>
              <a:endParaRPr sz="1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8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Like,</a:t>
              </a:r>
              <a:endParaRPr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8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Claude</a:t>
              </a:r>
              <a:endParaRPr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8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Claude Code</a:t>
              </a:r>
              <a:endParaRPr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8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OpenAI Agents SDK</a:t>
              </a:r>
              <a:endParaRPr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76" name="Google Shape;76;p16"/>
          <p:cNvSpPr/>
          <p:nvPr/>
        </p:nvSpPr>
        <p:spPr>
          <a:xfrm>
            <a:off x="1175800" y="2533350"/>
            <a:ext cx="1011300" cy="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MCP Client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1175800" y="3150875"/>
            <a:ext cx="1011300" cy="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MCP Client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1175800" y="3768400"/>
            <a:ext cx="1011300" cy="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MCP Client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604600" y="2533350"/>
            <a:ext cx="1011300" cy="51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 Server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2604600" y="3150875"/>
            <a:ext cx="1011300" cy="51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 Server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2604600" y="3768400"/>
            <a:ext cx="1011300" cy="51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 Server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2" name="Google Shape;82;p16"/>
          <p:cNvCxnSpPr>
            <a:stCxn id="76" idx="3"/>
            <a:endCxn id="79" idx="1"/>
          </p:cNvCxnSpPr>
          <p:nvPr/>
        </p:nvCxnSpPr>
        <p:spPr>
          <a:xfrm>
            <a:off x="2187100" y="2790300"/>
            <a:ext cx="4176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3" name="Google Shape;83;p16"/>
          <p:cNvCxnSpPr/>
          <p:nvPr/>
        </p:nvCxnSpPr>
        <p:spPr>
          <a:xfrm>
            <a:off x="2187100" y="3429475"/>
            <a:ext cx="4176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4" name="Google Shape;84;p16"/>
          <p:cNvCxnSpPr/>
          <p:nvPr/>
        </p:nvCxnSpPr>
        <p:spPr>
          <a:xfrm>
            <a:off x="2187100" y="4025350"/>
            <a:ext cx="4176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/>
        </p:nvSpPr>
        <p:spPr>
          <a:xfrm>
            <a:off x="316814" y="14672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Technicality 2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380239" y="622836"/>
            <a:ext cx="4429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transport mechanisms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380250" y="2138525"/>
            <a:ext cx="2076900" cy="2396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440718" y="2211063"/>
            <a:ext cx="1681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MCP Host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1175800" y="2533350"/>
            <a:ext cx="1011300" cy="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MCP Client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1175800" y="3150875"/>
            <a:ext cx="1011300" cy="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MCP Client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1175800" y="3768400"/>
            <a:ext cx="1011300" cy="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MCP Client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2604600" y="2533350"/>
            <a:ext cx="1011300" cy="51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 Server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2604600" y="3150875"/>
            <a:ext cx="1011300" cy="51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 Server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2604600" y="3768400"/>
            <a:ext cx="1011300" cy="51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 Server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" name="Google Shape;99;p17"/>
          <p:cNvCxnSpPr>
            <a:stCxn id="93" idx="3"/>
            <a:endCxn id="96" idx="1"/>
          </p:cNvCxnSpPr>
          <p:nvPr/>
        </p:nvCxnSpPr>
        <p:spPr>
          <a:xfrm>
            <a:off x="2187100" y="2790300"/>
            <a:ext cx="4176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00" name="Google Shape;100;p17"/>
          <p:cNvCxnSpPr/>
          <p:nvPr/>
        </p:nvCxnSpPr>
        <p:spPr>
          <a:xfrm>
            <a:off x="2187100" y="3429475"/>
            <a:ext cx="4176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01" name="Google Shape;101;p17"/>
          <p:cNvCxnSpPr/>
          <p:nvPr/>
        </p:nvCxnSpPr>
        <p:spPr>
          <a:xfrm>
            <a:off x="2187100" y="4025350"/>
            <a:ext cx="4176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02" name="Google Shape;102;p17"/>
          <p:cNvSpPr txBox="1"/>
          <p:nvPr/>
        </p:nvSpPr>
        <p:spPr>
          <a:xfrm>
            <a:off x="380239" y="1082561"/>
            <a:ext cx="44292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SemiBold"/>
              <a:buAutoNum type="arabicPeriod"/>
            </a:pPr>
            <a:r>
              <a:rPr b="1" lang="uk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stdio</a:t>
            </a: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- MCP server runs on your computer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SemiBold"/>
              <a:buAutoNum type="arabicPeriod"/>
            </a:pPr>
            <a:r>
              <a:rPr b="1" lang="uk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sse</a:t>
            </a: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- a legacy approach now deprecated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SemiBold"/>
              <a:buAutoNum type="arabicPeriod"/>
            </a:pPr>
            <a:r>
              <a:rPr b="1" lang="uk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Streamable HTTP</a:t>
            </a: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- the updated version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