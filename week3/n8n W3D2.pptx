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Montserrat SemiBold"/>
      <p:regular r:id="rId12"/>
      <p:bold r:id="rId13"/>
      <p:italic r:id="rId14"/>
      <p:boldItalic r:id="rId15"/>
    </p:embeddedFont>
    <p:embeddedFont>
      <p:font typeface="Montserrat"/>
      <p:regular r:id="rId16"/>
      <p:bold r:id="rId17"/>
      <p:italic r:id="rId18"/>
      <p:boldItalic r:id="rId19"/>
    </p:embeddedFont>
    <p:embeddedFont>
      <p:font typeface="Montserrat Medium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Medium-regular.fntdata"/><Relationship Id="rId11" Type="http://schemas.openxmlformats.org/officeDocument/2006/relationships/slide" Target="slides/slide6.xml"/><Relationship Id="rId22" Type="http://schemas.openxmlformats.org/officeDocument/2006/relationships/font" Target="fonts/MontserratMedium-italic.fntdata"/><Relationship Id="rId10" Type="http://schemas.openxmlformats.org/officeDocument/2006/relationships/slide" Target="slides/slide5.xml"/><Relationship Id="rId21" Type="http://schemas.openxmlformats.org/officeDocument/2006/relationships/font" Target="fonts/MontserratMedium-bold.fntdata"/><Relationship Id="rId13" Type="http://schemas.openxmlformats.org/officeDocument/2006/relationships/font" Target="fonts/MontserratSemiBold-bold.fntdata"/><Relationship Id="rId12" Type="http://schemas.openxmlformats.org/officeDocument/2006/relationships/font" Target="fonts/MontserratSemiBold-regular.fntdata"/><Relationship Id="rId23" Type="http://schemas.openxmlformats.org/officeDocument/2006/relationships/font" Target="fonts/MontserratMedium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MontserratSemiBold-boldItalic.fntdata"/><Relationship Id="rId14" Type="http://schemas.openxmlformats.org/officeDocument/2006/relationships/font" Target="fonts/MontserratSemiBold-italic.fntdata"/><Relationship Id="rId17" Type="http://schemas.openxmlformats.org/officeDocument/2006/relationships/font" Target="fonts/Montserrat-bold.fntdata"/><Relationship Id="rId16" Type="http://schemas.openxmlformats.org/officeDocument/2006/relationships/font" Target="fonts/Montserrat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Montserrat-boldItalic.fntdata"/><Relationship Id="rId6" Type="http://schemas.openxmlformats.org/officeDocument/2006/relationships/slide" Target="slides/slide1.xml"/><Relationship Id="rId18" Type="http://schemas.openxmlformats.org/officeDocument/2006/relationships/font" Target="fonts/Montserrat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7158c58547_0_34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3" name="Google Shape;53;g37158c58547_0_3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b38123ef18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0" name="Google Shape;60;g3b38123ef18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8676c49979_0_9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5" name="Google Shape;95;g38676c49979_0_9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b38123ef18_0_3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6" name="Google Shape;116;g3b38123ef18_0_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8676c49979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5" name="Google Shape;125;g38676c49979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4558ba40b8_0_36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0" name="Google Shape;160;g34558ba40b8_0_3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ий слайд 1">
  <p:cSld name="Титульний слайд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SemiBold"/>
              <a:buNone/>
              <a:defRPr sz="28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Char char="●"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ransition spd="med">
    <p:fade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3429000" y="-25"/>
            <a:ext cx="19569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" name="Google Shape;56;p14"/>
          <p:cNvSpPr txBox="1"/>
          <p:nvPr/>
        </p:nvSpPr>
        <p:spPr>
          <a:xfrm>
            <a:off x="3538375" y="230275"/>
            <a:ext cx="1751100" cy="45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uk" sz="2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Agentic AI Builder: Low-Code AI Agents &amp; Voice Agents in n8n</a:t>
            </a:r>
            <a:endParaRPr b="1" sz="2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sz="2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18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Week 3</a:t>
            </a:r>
            <a:endParaRPr sz="18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18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Day 2</a:t>
            </a:r>
            <a:endParaRPr sz="18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57" name="Google Shape;57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25"/>
            <a:ext cx="3429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/>
          <p:nvPr/>
        </p:nvSpPr>
        <p:spPr>
          <a:xfrm>
            <a:off x="316814" y="113813"/>
            <a:ext cx="8448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3 Weeks to Agentic AI Builder</a:t>
            </a:r>
            <a:endParaRPr b="0" i="0" sz="2400" u="none" cap="none" strike="noStrike">
              <a:solidFill>
                <a:schemeClr val="accen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63" name="Google Shape;63;p15"/>
          <p:cNvSpPr/>
          <p:nvPr/>
        </p:nvSpPr>
        <p:spPr>
          <a:xfrm>
            <a:off x="243825" y="3743708"/>
            <a:ext cx="5247000" cy="1029000"/>
          </a:xfrm>
          <a:prstGeom prst="rect">
            <a:avLst/>
          </a:prstGeom>
          <a:solidFill>
            <a:srgbClr val="888888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4" name="Google Shape;64;p15"/>
          <p:cNvSpPr/>
          <p:nvPr/>
        </p:nvSpPr>
        <p:spPr>
          <a:xfrm>
            <a:off x="384025" y="4110058"/>
            <a:ext cx="934800" cy="538200"/>
          </a:xfrm>
          <a:prstGeom prst="rect">
            <a:avLst/>
          </a:prstGeom>
          <a:solidFill>
            <a:srgbClr val="58296C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First n8n AI Agent Live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5" name="Google Shape;65;p15"/>
          <p:cNvSpPr/>
          <p:nvPr/>
        </p:nvSpPr>
        <p:spPr>
          <a:xfrm>
            <a:off x="1395072" y="4110058"/>
            <a:ext cx="934800" cy="538200"/>
          </a:xfrm>
          <a:prstGeom prst="rect">
            <a:avLst/>
          </a:prstGeom>
          <a:solidFill>
            <a:srgbClr val="58296C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Foundations: Agentic AI and n8n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" name="Google Shape;66;p15"/>
          <p:cNvSpPr/>
          <p:nvPr/>
        </p:nvSpPr>
        <p:spPr>
          <a:xfrm>
            <a:off x="2406118" y="4110058"/>
            <a:ext cx="934800" cy="538200"/>
          </a:xfrm>
          <a:prstGeom prst="rect">
            <a:avLst/>
          </a:prstGeom>
          <a:solidFill>
            <a:srgbClr val="B18107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Integrations with docs and email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7" name="Google Shape;67;p15"/>
          <p:cNvSpPr/>
          <p:nvPr/>
        </p:nvSpPr>
        <p:spPr>
          <a:xfrm>
            <a:off x="3417153" y="4110058"/>
            <a:ext cx="934800" cy="538200"/>
          </a:xfrm>
          <a:prstGeom prst="rect">
            <a:avLst/>
          </a:prstGeom>
          <a:solidFill>
            <a:srgbClr val="B18107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Data and integrations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8" name="Google Shape;68;p15"/>
          <p:cNvSpPr/>
          <p:nvPr/>
        </p:nvSpPr>
        <p:spPr>
          <a:xfrm>
            <a:off x="4445172" y="4110058"/>
            <a:ext cx="934800" cy="538200"/>
          </a:xfrm>
          <a:prstGeom prst="rect">
            <a:avLst/>
          </a:prstGeom>
          <a:solidFill>
            <a:srgbClr val="1775A1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Daily Portfolio Rebalancer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9" name="Google Shape;69;p15"/>
          <p:cNvSpPr txBox="1"/>
          <p:nvPr/>
        </p:nvSpPr>
        <p:spPr>
          <a:xfrm>
            <a:off x="393675" y="3743708"/>
            <a:ext cx="498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Week 1: Automate</a:t>
            </a:r>
            <a:r>
              <a:rPr lang="uk"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with workflows in n8n cloud</a:t>
            </a:r>
            <a:endParaRPr b="0" i="0" sz="1200" u="none" cap="none" strike="noStrike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70" name="Google Shape;70;p15"/>
          <p:cNvSpPr/>
          <p:nvPr/>
        </p:nvSpPr>
        <p:spPr>
          <a:xfrm>
            <a:off x="243825" y="2638508"/>
            <a:ext cx="5247000" cy="1029000"/>
          </a:xfrm>
          <a:prstGeom prst="rect">
            <a:avLst/>
          </a:prstGeom>
          <a:solidFill>
            <a:srgbClr val="888888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1" name="Google Shape;71;p15"/>
          <p:cNvSpPr/>
          <p:nvPr/>
        </p:nvSpPr>
        <p:spPr>
          <a:xfrm>
            <a:off x="384025" y="3004858"/>
            <a:ext cx="934800" cy="538200"/>
          </a:xfrm>
          <a:prstGeom prst="rect">
            <a:avLst/>
          </a:prstGeom>
          <a:solidFill>
            <a:srgbClr val="58296C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Voice Agents with ElevenLabs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2" name="Google Shape;72;p15"/>
          <p:cNvSpPr/>
          <p:nvPr/>
        </p:nvSpPr>
        <p:spPr>
          <a:xfrm>
            <a:off x="1395072" y="3004858"/>
            <a:ext cx="934800" cy="538200"/>
          </a:xfrm>
          <a:prstGeom prst="rect">
            <a:avLst/>
          </a:prstGeom>
          <a:solidFill>
            <a:srgbClr val="B18107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Integrating ElevenLabs and n8n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3" name="Google Shape;73;p15"/>
          <p:cNvSpPr/>
          <p:nvPr/>
        </p:nvSpPr>
        <p:spPr>
          <a:xfrm>
            <a:off x="2406118" y="3004858"/>
            <a:ext cx="934800" cy="538200"/>
          </a:xfrm>
          <a:prstGeom prst="rect">
            <a:avLst/>
          </a:prstGeom>
          <a:solidFill>
            <a:srgbClr val="58296C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RAG and Agentic RAG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4" name="Google Shape;74;p15"/>
          <p:cNvSpPr/>
          <p:nvPr/>
        </p:nvSpPr>
        <p:spPr>
          <a:xfrm>
            <a:off x="3417153" y="3004858"/>
            <a:ext cx="934800" cy="538200"/>
          </a:xfrm>
          <a:prstGeom prst="rect">
            <a:avLst/>
          </a:prstGeom>
          <a:solidFill>
            <a:srgbClr val="B18107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Supabase Vectors and Data ingest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5" name="Google Shape;75;p15"/>
          <p:cNvSpPr/>
          <p:nvPr/>
        </p:nvSpPr>
        <p:spPr>
          <a:xfrm>
            <a:off x="4445172" y="3004858"/>
            <a:ext cx="934800" cy="538200"/>
          </a:xfrm>
          <a:prstGeom prst="rect">
            <a:avLst/>
          </a:prstGeom>
          <a:solidFill>
            <a:srgbClr val="1775A1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Product Expert Voice Agent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6" name="Google Shape;76;p15"/>
          <p:cNvSpPr txBox="1"/>
          <p:nvPr/>
        </p:nvSpPr>
        <p:spPr>
          <a:xfrm>
            <a:off x="393675" y="2638508"/>
            <a:ext cx="498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Week 2: Accelerate</a:t>
            </a:r>
            <a:r>
              <a:rPr lang="uk"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with Voice Agents and RAG</a:t>
            </a:r>
            <a:endParaRPr b="0" i="0" sz="1200" u="none" cap="none" strike="noStrike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77" name="Google Shape;77;p15"/>
          <p:cNvSpPr/>
          <p:nvPr/>
        </p:nvSpPr>
        <p:spPr>
          <a:xfrm>
            <a:off x="243825" y="1533308"/>
            <a:ext cx="5247000" cy="10290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8" name="Google Shape;78;p15"/>
          <p:cNvSpPr/>
          <p:nvPr/>
        </p:nvSpPr>
        <p:spPr>
          <a:xfrm>
            <a:off x="384025" y="1899658"/>
            <a:ext cx="934800" cy="538200"/>
          </a:xfrm>
          <a:prstGeom prst="rect">
            <a:avLst/>
          </a:prstGeom>
          <a:solidFill>
            <a:srgbClr val="58296C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Self-hosted n8n and Local LLMs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9" name="Google Shape;79;p15"/>
          <p:cNvSpPr/>
          <p:nvPr/>
        </p:nvSpPr>
        <p:spPr>
          <a:xfrm>
            <a:off x="1395072" y="1899658"/>
            <a:ext cx="934800" cy="538200"/>
          </a:xfrm>
          <a:prstGeom prst="rect">
            <a:avLst/>
          </a:prstGeom>
          <a:solidFill>
            <a:srgbClr val="FBE097"/>
          </a:solidFill>
          <a:ln cap="flat" cmpd="sng" w="28575">
            <a:solidFill>
              <a:srgbClr val="B1810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Advanced Integrations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0" name="Google Shape;80;p15"/>
          <p:cNvSpPr/>
          <p:nvPr/>
        </p:nvSpPr>
        <p:spPr>
          <a:xfrm>
            <a:off x="2406118" y="1899658"/>
            <a:ext cx="934800" cy="538200"/>
          </a:xfrm>
          <a:prstGeom prst="rect">
            <a:avLst/>
          </a:prstGeom>
          <a:solidFill>
            <a:srgbClr val="CAA5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MCP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1" name="Google Shape;81;p15"/>
          <p:cNvSpPr/>
          <p:nvPr/>
        </p:nvSpPr>
        <p:spPr>
          <a:xfrm>
            <a:off x="3417153" y="1899658"/>
            <a:ext cx="934800" cy="538200"/>
          </a:xfrm>
          <a:prstGeom prst="rect">
            <a:avLst/>
          </a:prstGeom>
          <a:solidFill>
            <a:srgbClr val="CAA5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Context Engineering, Sub-Agents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2" name="Google Shape;82;p15"/>
          <p:cNvSpPr/>
          <p:nvPr/>
        </p:nvSpPr>
        <p:spPr>
          <a:xfrm>
            <a:off x="4445172" y="1899658"/>
            <a:ext cx="934800" cy="538200"/>
          </a:xfrm>
          <a:prstGeom prst="rect">
            <a:avLst/>
          </a:prstGeom>
          <a:solidFill>
            <a:srgbClr val="D0EB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Capstone: Amplify your business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3" name="Google Shape;83;p15"/>
          <p:cNvSpPr txBox="1"/>
          <p:nvPr/>
        </p:nvSpPr>
        <p:spPr>
          <a:xfrm>
            <a:off x="393675" y="1533308"/>
            <a:ext cx="498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Week 3: </a:t>
            </a:r>
            <a:r>
              <a:rPr b="1" lang="uk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Amplify </a:t>
            </a:r>
            <a:r>
              <a:rPr lang="uk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with multi-agent systems and MCP  </a:t>
            </a:r>
            <a:endParaRPr i="0" sz="1200" u="none" cap="none" strike="noStrike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pSp>
        <p:nvGrpSpPr>
          <p:cNvPr id="84" name="Google Shape;84;p15"/>
          <p:cNvGrpSpPr/>
          <p:nvPr/>
        </p:nvGrpSpPr>
        <p:grpSpPr>
          <a:xfrm>
            <a:off x="837139" y="852239"/>
            <a:ext cx="1215893" cy="323100"/>
            <a:chOff x="316825" y="809164"/>
            <a:chExt cx="1215893" cy="323100"/>
          </a:xfrm>
        </p:grpSpPr>
        <p:sp>
          <p:nvSpPr>
            <p:cNvPr id="85" name="Google Shape;85;p15"/>
            <p:cNvSpPr/>
            <p:nvPr/>
          </p:nvSpPr>
          <p:spPr>
            <a:xfrm>
              <a:off x="316825" y="879951"/>
              <a:ext cx="237300" cy="178500"/>
            </a:xfrm>
            <a:prstGeom prst="rect">
              <a:avLst/>
            </a:prstGeom>
            <a:solidFill>
              <a:srgbClr val="CAA5DC"/>
            </a:solidFill>
            <a:ln cap="flat" cmpd="sng" w="9525">
              <a:solidFill>
                <a:srgbClr val="572A6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86" name="Google Shape;86;p15"/>
            <p:cNvSpPr txBox="1"/>
            <p:nvPr/>
          </p:nvSpPr>
          <p:spPr>
            <a:xfrm>
              <a:off x="541818" y="809164"/>
              <a:ext cx="9909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9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Core skills</a:t>
              </a:r>
              <a:endParaRPr b="0" i="0" sz="9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87" name="Google Shape;87;p15"/>
          <p:cNvGrpSpPr/>
          <p:nvPr/>
        </p:nvGrpSpPr>
        <p:grpSpPr>
          <a:xfrm>
            <a:off x="2278877" y="852239"/>
            <a:ext cx="1215893" cy="323100"/>
            <a:chOff x="1670575" y="809164"/>
            <a:chExt cx="1215893" cy="323100"/>
          </a:xfrm>
        </p:grpSpPr>
        <p:sp>
          <p:nvSpPr>
            <p:cNvPr id="88" name="Google Shape;88;p15"/>
            <p:cNvSpPr/>
            <p:nvPr/>
          </p:nvSpPr>
          <p:spPr>
            <a:xfrm>
              <a:off x="1670575" y="879951"/>
              <a:ext cx="237300" cy="178500"/>
            </a:xfrm>
            <a:prstGeom prst="rect">
              <a:avLst/>
            </a:prstGeom>
            <a:solidFill>
              <a:srgbClr val="FBE097"/>
            </a:solidFill>
            <a:ln cap="flat" cmpd="sng" w="9525">
              <a:solidFill>
                <a:srgbClr val="B1810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89" name="Google Shape;89;p15"/>
            <p:cNvSpPr txBox="1"/>
            <p:nvPr/>
          </p:nvSpPr>
          <p:spPr>
            <a:xfrm>
              <a:off x="1895568" y="809164"/>
              <a:ext cx="9909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9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Integrations</a:t>
              </a:r>
              <a:endParaRPr b="0" i="0" sz="9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90" name="Google Shape;90;p15"/>
          <p:cNvGrpSpPr/>
          <p:nvPr/>
        </p:nvGrpSpPr>
        <p:grpSpPr>
          <a:xfrm>
            <a:off x="3720614" y="852239"/>
            <a:ext cx="1215893" cy="323100"/>
            <a:chOff x="3200300" y="809164"/>
            <a:chExt cx="1215893" cy="323100"/>
          </a:xfrm>
        </p:grpSpPr>
        <p:sp>
          <p:nvSpPr>
            <p:cNvPr id="91" name="Google Shape;91;p15"/>
            <p:cNvSpPr/>
            <p:nvPr/>
          </p:nvSpPr>
          <p:spPr>
            <a:xfrm>
              <a:off x="3200300" y="879951"/>
              <a:ext cx="237300" cy="178500"/>
            </a:xfrm>
            <a:prstGeom prst="rect">
              <a:avLst/>
            </a:prstGeom>
            <a:solidFill>
              <a:srgbClr val="D0EBF8"/>
            </a:solidFill>
            <a:ln cap="flat" cmpd="sng" w="9525">
              <a:solidFill>
                <a:srgbClr val="1775A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92" name="Google Shape;92;p15"/>
            <p:cNvSpPr txBox="1"/>
            <p:nvPr/>
          </p:nvSpPr>
          <p:spPr>
            <a:xfrm>
              <a:off x="3425293" y="809164"/>
              <a:ext cx="9909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9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Projects</a:t>
              </a:r>
              <a:endParaRPr b="0" i="0" sz="9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6"/>
          <p:cNvSpPr txBox="1"/>
          <p:nvPr/>
        </p:nvSpPr>
        <p:spPr>
          <a:xfrm>
            <a:off x="316814" y="571013"/>
            <a:ext cx="8448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Authentication patterns</a:t>
            </a:r>
            <a:endParaRPr b="0" i="0" sz="2400" u="none" cap="none" strike="noStrike">
              <a:solidFill>
                <a:schemeClr val="accen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98" name="Google Shape;98;p16"/>
          <p:cNvSpPr txBox="1"/>
          <p:nvPr/>
        </p:nvSpPr>
        <p:spPr>
          <a:xfrm>
            <a:off x="316814" y="241826"/>
            <a:ext cx="2442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uk" sz="800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rPr>
              <a:t>Recap</a:t>
            </a:r>
            <a:endParaRPr b="0" i="0" sz="800" u="none" cap="none" strike="noStrike">
              <a:solidFill>
                <a:srgbClr val="88888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99" name="Google Shape;99;p16"/>
          <p:cNvGrpSpPr/>
          <p:nvPr/>
        </p:nvGrpSpPr>
        <p:grpSpPr>
          <a:xfrm>
            <a:off x="148477" y="1300688"/>
            <a:ext cx="5867674" cy="1002900"/>
            <a:chOff x="148477" y="1300688"/>
            <a:chExt cx="5867674" cy="1002900"/>
          </a:xfrm>
        </p:grpSpPr>
        <p:sp>
          <p:nvSpPr>
            <p:cNvPr id="100" name="Google Shape;100;p16"/>
            <p:cNvSpPr txBox="1"/>
            <p:nvPr/>
          </p:nvSpPr>
          <p:spPr>
            <a:xfrm>
              <a:off x="1216450" y="1531701"/>
              <a:ext cx="47997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lang="uk" sz="1200">
                  <a:solidFill>
                    <a:schemeClr val="accent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Easy:</a:t>
              </a:r>
              <a:r>
                <a:rPr lang="uk" sz="12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 API Key Based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" name="Google Shape;101;p16"/>
            <p:cNvSpPr txBox="1"/>
            <p:nvPr/>
          </p:nvSpPr>
          <p:spPr>
            <a:xfrm>
              <a:off x="1216450" y="1753474"/>
              <a:ext cx="47997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uk" sz="900">
                  <a:solidFill>
                    <a:srgbClr val="88888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Simple password-based access to the third party 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" name="Google Shape;102;p16"/>
            <p:cNvSpPr/>
            <p:nvPr/>
          </p:nvSpPr>
          <p:spPr>
            <a:xfrm>
              <a:off x="148477" y="1300688"/>
              <a:ext cx="1002900" cy="1002900"/>
            </a:xfrm>
            <a:prstGeom prst="ellipse">
              <a:avLst/>
            </a:prstGeom>
            <a:solidFill>
              <a:srgbClr val="B179C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pic>
          <p:nvPicPr>
            <p:cNvPr id="103" name="Google Shape;103;p1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2525" y="1471122"/>
              <a:ext cx="698650" cy="69862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4" name="Google Shape;104;p16"/>
          <p:cNvGrpSpPr/>
          <p:nvPr/>
        </p:nvGrpSpPr>
        <p:grpSpPr>
          <a:xfrm>
            <a:off x="148477" y="2479125"/>
            <a:ext cx="5961873" cy="1002900"/>
            <a:chOff x="148477" y="2479125"/>
            <a:chExt cx="5961873" cy="1002900"/>
          </a:xfrm>
        </p:grpSpPr>
        <p:sp>
          <p:nvSpPr>
            <p:cNvPr id="105" name="Google Shape;105;p16"/>
            <p:cNvSpPr txBox="1"/>
            <p:nvPr/>
          </p:nvSpPr>
          <p:spPr>
            <a:xfrm>
              <a:off x="1216450" y="2701650"/>
              <a:ext cx="48939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lang="uk" sz="1200">
                  <a:solidFill>
                    <a:schemeClr val="accent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Medium: </a:t>
              </a:r>
              <a:r>
                <a:rPr lang="uk" sz="12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Login-style, pre-configured OAuth2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p16"/>
            <p:cNvSpPr txBox="1"/>
            <p:nvPr/>
          </p:nvSpPr>
          <p:spPr>
            <a:xfrm>
              <a:off x="1216450" y="2923426"/>
              <a:ext cx="47997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uk" sz="900">
                  <a:solidFill>
                    <a:srgbClr val="88888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One click - n8n has already done the setup, like Google Sheets and Gmail</a:t>
              </a:r>
              <a:endParaRPr sz="900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lang="uk" sz="900">
                  <a:solidFill>
                    <a:srgbClr val="88888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Authenticating for a specific end-user of the product</a:t>
              </a:r>
              <a:endParaRPr b="1" sz="900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07" name="Google Shape;107;p16"/>
            <p:cNvSpPr/>
            <p:nvPr/>
          </p:nvSpPr>
          <p:spPr>
            <a:xfrm>
              <a:off x="148477" y="2479125"/>
              <a:ext cx="1002900" cy="1002900"/>
            </a:xfrm>
            <a:prstGeom prst="ellipse">
              <a:avLst/>
            </a:prstGeom>
            <a:solidFill>
              <a:srgbClr val="58296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pic>
          <p:nvPicPr>
            <p:cNvPr id="108" name="Google Shape;108;p1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27757" y="2658435"/>
              <a:ext cx="644332" cy="64432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9" name="Google Shape;109;p16"/>
          <p:cNvGrpSpPr/>
          <p:nvPr/>
        </p:nvGrpSpPr>
        <p:grpSpPr>
          <a:xfrm>
            <a:off x="148477" y="3657563"/>
            <a:ext cx="5867674" cy="1002900"/>
            <a:chOff x="148477" y="3657563"/>
            <a:chExt cx="5867674" cy="1002900"/>
          </a:xfrm>
        </p:grpSpPr>
        <p:sp>
          <p:nvSpPr>
            <p:cNvPr id="110" name="Google Shape;110;p16"/>
            <p:cNvSpPr txBox="1"/>
            <p:nvPr/>
          </p:nvSpPr>
          <p:spPr>
            <a:xfrm>
              <a:off x="1216450" y="3880091"/>
              <a:ext cx="47997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lang="uk" sz="1200">
                  <a:solidFill>
                    <a:schemeClr val="accent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Hard:</a:t>
              </a:r>
              <a:r>
                <a:rPr lang="uk" sz="12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 OAuth2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" name="Google Shape;111;p16"/>
            <p:cNvSpPr txBox="1"/>
            <p:nvPr/>
          </p:nvSpPr>
          <p:spPr>
            <a:xfrm>
              <a:off x="1216450" y="4101863"/>
              <a:ext cx="47997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uk" sz="900">
                  <a:solidFill>
                    <a:srgbClr val="88888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The complete multi-step way to build a custom authenticated integration</a:t>
              </a:r>
              <a:endParaRPr sz="900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lang="uk" sz="900">
                  <a:solidFill>
                    <a:srgbClr val="88888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REQUIRES PATIENCE AND THICK SKIN</a:t>
              </a:r>
              <a:endParaRPr b="1" sz="900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12" name="Google Shape;112;p16"/>
            <p:cNvSpPr/>
            <p:nvPr/>
          </p:nvSpPr>
          <p:spPr>
            <a:xfrm>
              <a:off x="148477" y="3657563"/>
              <a:ext cx="1002900" cy="1002900"/>
            </a:xfrm>
            <a:prstGeom prst="ellipse">
              <a:avLst/>
            </a:prstGeom>
            <a:solidFill>
              <a:srgbClr val="3A1D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pic>
          <p:nvPicPr>
            <p:cNvPr id="113" name="Google Shape;113;p16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327750" y="3880090"/>
              <a:ext cx="644349" cy="644344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7"/>
          <p:cNvSpPr txBox="1"/>
          <p:nvPr/>
        </p:nvSpPr>
        <p:spPr>
          <a:xfrm>
            <a:off x="316814" y="148438"/>
            <a:ext cx="8448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Deeper terminology on APIs</a:t>
            </a:r>
            <a:endParaRPr b="0" i="0" sz="2400" u="none" cap="none" strike="noStrike">
              <a:solidFill>
                <a:schemeClr val="accen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19" name="Google Shape;119;p17"/>
          <p:cNvSpPr txBox="1"/>
          <p:nvPr/>
        </p:nvSpPr>
        <p:spPr>
          <a:xfrm>
            <a:off x="316824" y="710000"/>
            <a:ext cx="4676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uk" sz="1200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rPr>
              <a:t>You don’t need to remember this! We will review often.</a:t>
            </a:r>
            <a:endParaRPr b="0" i="0" sz="1200" u="none" cap="none" strike="noStrike">
              <a:solidFill>
                <a:srgbClr val="88888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0" name="Google Shape;120;p17"/>
          <p:cNvSpPr txBox="1"/>
          <p:nvPr/>
        </p:nvSpPr>
        <p:spPr>
          <a:xfrm>
            <a:off x="145150" y="1210925"/>
            <a:ext cx="5369400" cy="1293000"/>
          </a:xfrm>
          <a:prstGeom prst="rect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“</a:t>
            </a:r>
            <a:r>
              <a:rPr b="1" lang="uk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Calling an API</a:t>
            </a:r>
            <a:r>
              <a:rPr lang="uk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” is achieved by making a web request using HTTP, the language of the internet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The URL is known as an </a:t>
            </a:r>
            <a:r>
              <a:rPr b="1" lang="uk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Endpoint</a:t>
            </a:r>
            <a:endParaRPr b="1"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uk"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“I’m calling an API by making an HTTP request to an Endpoint”</a:t>
            </a:r>
            <a:endParaRPr sz="1200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1" name="Google Shape;121;p17"/>
          <p:cNvSpPr txBox="1"/>
          <p:nvPr/>
        </p:nvSpPr>
        <p:spPr>
          <a:xfrm>
            <a:off x="145150" y="2591411"/>
            <a:ext cx="5369400" cy="1293000"/>
          </a:xfrm>
          <a:prstGeom prst="rect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When you’re on the receiving end, and you want someone to call your URL when they have information for you, that endpoint is known as a </a:t>
            </a:r>
            <a:r>
              <a:rPr b="1" lang="uk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Webhook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uk" sz="1200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“I’ve set up a Webhook - make an HTTP request there to notify me about X” or “Tell me your Webhook so I can notify you”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2" name="Google Shape;122;p17"/>
          <p:cNvSpPr txBox="1"/>
          <p:nvPr/>
        </p:nvSpPr>
        <p:spPr>
          <a:xfrm>
            <a:off x="145150" y="4004947"/>
            <a:ext cx="5369400" cy="923400"/>
          </a:xfrm>
          <a:prstGeom prst="rect">
            <a:avLst/>
          </a:prstGeom>
          <a:noFill/>
          <a:ln cap="flat" cmpd="sng" w="28575">
            <a:solidFill>
              <a:srgbClr val="B1810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There are different flavors of HTTP Request, called the </a:t>
            </a:r>
            <a:r>
              <a:rPr b="1" lang="uk" sz="1200">
                <a:solidFill>
                  <a:srgbClr val="B18107"/>
                </a:solidFill>
                <a:latin typeface="Montserrat"/>
                <a:ea typeface="Montserrat"/>
                <a:cs typeface="Montserrat"/>
                <a:sym typeface="Montserrat"/>
              </a:rPr>
              <a:t>Method</a:t>
            </a:r>
            <a:r>
              <a:rPr lang="uk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: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The most common are </a:t>
            </a:r>
            <a:r>
              <a:rPr b="1" lang="uk" sz="1200">
                <a:solidFill>
                  <a:srgbClr val="B18107"/>
                </a:solidFill>
                <a:latin typeface="Montserrat"/>
                <a:ea typeface="Montserrat"/>
                <a:cs typeface="Montserrat"/>
                <a:sym typeface="Montserrat"/>
              </a:rPr>
              <a:t>GET</a:t>
            </a:r>
            <a:r>
              <a:rPr lang="uk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 and </a:t>
            </a:r>
            <a:r>
              <a:rPr b="1" lang="uk" sz="1200">
                <a:solidFill>
                  <a:srgbClr val="B18107"/>
                </a:solidFill>
                <a:latin typeface="Montserrat"/>
                <a:ea typeface="Montserrat"/>
                <a:cs typeface="Montserrat"/>
                <a:sym typeface="Montserrat"/>
              </a:rPr>
              <a:t>POST</a:t>
            </a:r>
            <a:endParaRPr b="1" sz="1200">
              <a:solidFill>
                <a:srgbClr val="B1810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GET is usually used to fetch information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POST is usually used to send information with JSON in the </a:t>
            </a:r>
            <a:r>
              <a:rPr b="1" lang="uk" sz="1200">
                <a:solidFill>
                  <a:srgbClr val="B18107"/>
                </a:solidFill>
                <a:latin typeface="Montserrat"/>
                <a:ea typeface="Montserrat"/>
                <a:cs typeface="Montserrat"/>
                <a:sym typeface="Montserrat"/>
              </a:rPr>
              <a:t>body</a:t>
            </a:r>
            <a:endParaRPr b="1" sz="1200">
              <a:solidFill>
                <a:srgbClr val="B1810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8"/>
          <p:cNvSpPr txBox="1"/>
          <p:nvPr/>
        </p:nvSpPr>
        <p:spPr>
          <a:xfrm>
            <a:off x="316814" y="113813"/>
            <a:ext cx="8448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3 Weeks to Agentic AI Builder</a:t>
            </a:r>
            <a:endParaRPr b="0" i="0" sz="2400" u="none" cap="none" strike="noStrike">
              <a:solidFill>
                <a:schemeClr val="accen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28" name="Google Shape;128;p18"/>
          <p:cNvSpPr/>
          <p:nvPr/>
        </p:nvSpPr>
        <p:spPr>
          <a:xfrm>
            <a:off x="243825" y="3743708"/>
            <a:ext cx="5247000" cy="1029000"/>
          </a:xfrm>
          <a:prstGeom prst="rect">
            <a:avLst/>
          </a:prstGeom>
          <a:solidFill>
            <a:srgbClr val="888888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9" name="Google Shape;129;p18"/>
          <p:cNvSpPr/>
          <p:nvPr/>
        </p:nvSpPr>
        <p:spPr>
          <a:xfrm>
            <a:off x="384025" y="4110058"/>
            <a:ext cx="934800" cy="538200"/>
          </a:xfrm>
          <a:prstGeom prst="rect">
            <a:avLst/>
          </a:prstGeom>
          <a:solidFill>
            <a:srgbClr val="58296C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First n8n AI Agent Live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0" name="Google Shape;130;p18"/>
          <p:cNvSpPr/>
          <p:nvPr/>
        </p:nvSpPr>
        <p:spPr>
          <a:xfrm>
            <a:off x="1395072" y="4110058"/>
            <a:ext cx="934800" cy="538200"/>
          </a:xfrm>
          <a:prstGeom prst="rect">
            <a:avLst/>
          </a:prstGeom>
          <a:solidFill>
            <a:srgbClr val="58296C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Foundations: Agentic AI and n8n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1" name="Google Shape;131;p18"/>
          <p:cNvSpPr/>
          <p:nvPr/>
        </p:nvSpPr>
        <p:spPr>
          <a:xfrm>
            <a:off x="2406118" y="4110058"/>
            <a:ext cx="934800" cy="538200"/>
          </a:xfrm>
          <a:prstGeom prst="rect">
            <a:avLst/>
          </a:prstGeom>
          <a:solidFill>
            <a:srgbClr val="B18107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Integrations with docs and email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2" name="Google Shape;132;p18"/>
          <p:cNvSpPr/>
          <p:nvPr/>
        </p:nvSpPr>
        <p:spPr>
          <a:xfrm>
            <a:off x="3417153" y="4110058"/>
            <a:ext cx="934800" cy="538200"/>
          </a:xfrm>
          <a:prstGeom prst="rect">
            <a:avLst/>
          </a:prstGeom>
          <a:solidFill>
            <a:srgbClr val="B18107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Data and integrations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3" name="Google Shape;133;p18"/>
          <p:cNvSpPr/>
          <p:nvPr/>
        </p:nvSpPr>
        <p:spPr>
          <a:xfrm>
            <a:off x="4445172" y="4110058"/>
            <a:ext cx="934800" cy="538200"/>
          </a:xfrm>
          <a:prstGeom prst="rect">
            <a:avLst/>
          </a:prstGeom>
          <a:solidFill>
            <a:srgbClr val="1775A1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Daily Portfolio Rebalancer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4" name="Google Shape;134;p18"/>
          <p:cNvSpPr txBox="1"/>
          <p:nvPr/>
        </p:nvSpPr>
        <p:spPr>
          <a:xfrm>
            <a:off x="393675" y="3743708"/>
            <a:ext cx="498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Week 1: Automate</a:t>
            </a:r>
            <a:r>
              <a:rPr lang="uk"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with workflows in n8n cloud</a:t>
            </a:r>
            <a:endParaRPr b="0" i="0" sz="1200" u="none" cap="none" strike="noStrike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35" name="Google Shape;135;p18"/>
          <p:cNvSpPr/>
          <p:nvPr/>
        </p:nvSpPr>
        <p:spPr>
          <a:xfrm>
            <a:off x="243825" y="2638508"/>
            <a:ext cx="5247000" cy="1029000"/>
          </a:xfrm>
          <a:prstGeom prst="rect">
            <a:avLst/>
          </a:prstGeom>
          <a:solidFill>
            <a:srgbClr val="888888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6" name="Google Shape;136;p18"/>
          <p:cNvSpPr/>
          <p:nvPr/>
        </p:nvSpPr>
        <p:spPr>
          <a:xfrm>
            <a:off x="384025" y="3004858"/>
            <a:ext cx="934800" cy="538200"/>
          </a:xfrm>
          <a:prstGeom prst="rect">
            <a:avLst/>
          </a:prstGeom>
          <a:solidFill>
            <a:srgbClr val="58296C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Voice Agents with ElevenLabs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7" name="Google Shape;137;p18"/>
          <p:cNvSpPr/>
          <p:nvPr/>
        </p:nvSpPr>
        <p:spPr>
          <a:xfrm>
            <a:off x="1395072" y="3004858"/>
            <a:ext cx="934800" cy="538200"/>
          </a:xfrm>
          <a:prstGeom prst="rect">
            <a:avLst/>
          </a:prstGeom>
          <a:solidFill>
            <a:srgbClr val="B18107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Integrating ElevenLabs and n8n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8" name="Google Shape;138;p18"/>
          <p:cNvSpPr/>
          <p:nvPr/>
        </p:nvSpPr>
        <p:spPr>
          <a:xfrm>
            <a:off x="2406118" y="3004858"/>
            <a:ext cx="934800" cy="538200"/>
          </a:xfrm>
          <a:prstGeom prst="rect">
            <a:avLst/>
          </a:prstGeom>
          <a:solidFill>
            <a:srgbClr val="58296C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RAG and Agentic RAG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9" name="Google Shape;139;p18"/>
          <p:cNvSpPr/>
          <p:nvPr/>
        </p:nvSpPr>
        <p:spPr>
          <a:xfrm>
            <a:off x="3417153" y="3004858"/>
            <a:ext cx="934800" cy="538200"/>
          </a:xfrm>
          <a:prstGeom prst="rect">
            <a:avLst/>
          </a:prstGeom>
          <a:solidFill>
            <a:srgbClr val="B18107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Supabase Vectors and Data ingest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0" name="Google Shape;140;p18"/>
          <p:cNvSpPr/>
          <p:nvPr/>
        </p:nvSpPr>
        <p:spPr>
          <a:xfrm>
            <a:off x="4445172" y="3004858"/>
            <a:ext cx="934800" cy="538200"/>
          </a:xfrm>
          <a:prstGeom prst="rect">
            <a:avLst/>
          </a:prstGeom>
          <a:solidFill>
            <a:srgbClr val="1775A1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Product Expert Voice Agent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1" name="Google Shape;141;p18"/>
          <p:cNvSpPr txBox="1"/>
          <p:nvPr/>
        </p:nvSpPr>
        <p:spPr>
          <a:xfrm>
            <a:off x="393675" y="2638508"/>
            <a:ext cx="498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Week 2: Accelerate</a:t>
            </a:r>
            <a:r>
              <a:rPr lang="uk"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with Voice Agents and RAG</a:t>
            </a:r>
            <a:endParaRPr b="0" i="0" sz="1200" u="none" cap="none" strike="noStrike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42" name="Google Shape;142;p18"/>
          <p:cNvSpPr/>
          <p:nvPr/>
        </p:nvSpPr>
        <p:spPr>
          <a:xfrm>
            <a:off x="243825" y="1533308"/>
            <a:ext cx="5247000" cy="10290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3" name="Google Shape;143;p18"/>
          <p:cNvSpPr/>
          <p:nvPr/>
        </p:nvSpPr>
        <p:spPr>
          <a:xfrm>
            <a:off x="384025" y="1899658"/>
            <a:ext cx="934800" cy="538200"/>
          </a:xfrm>
          <a:prstGeom prst="rect">
            <a:avLst/>
          </a:prstGeom>
          <a:solidFill>
            <a:srgbClr val="58296C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Self-hosted n8n and Local LLMs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4" name="Google Shape;144;p18"/>
          <p:cNvSpPr/>
          <p:nvPr/>
        </p:nvSpPr>
        <p:spPr>
          <a:xfrm>
            <a:off x="1395072" y="1899658"/>
            <a:ext cx="934800" cy="538200"/>
          </a:xfrm>
          <a:prstGeom prst="rect">
            <a:avLst/>
          </a:prstGeom>
          <a:solidFill>
            <a:srgbClr val="B18107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Advanced Integrations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5" name="Google Shape;145;p18"/>
          <p:cNvSpPr/>
          <p:nvPr/>
        </p:nvSpPr>
        <p:spPr>
          <a:xfrm>
            <a:off x="2406118" y="1899658"/>
            <a:ext cx="934800" cy="538200"/>
          </a:xfrm>
          <a:prstGeom prst="rect">
            <a:avLst/>
          </a:prstGeom>
          <a:solidFill>
            <a:srgbClr val="CAA5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MCP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6" name="Google Shape;146;p18"/>
          <p:cNvSpPr/>
          <p:nvPr/>
        </p:nvSpPr>
        <p:spPr>
          <a:xfrm>
            <a:off x="3417153" y="1899658"/>
            <a:ext cx="934800" cy="538200"/>
          </a:xfrm>
          <a:prstGeom prst="rect">
            <a:avLst/>
          </a:prstGeom>
          <a:solidFill>
            <a:srgbClr val="CAA5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Context Engineering, Sub-Agents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7" name="Google Shape;147;p18"/>
          <p:cNvSpPr/>
          <p:nvPr/>
        </p:nvSpPr>
        <p:spPr>
          <a:xfrm>
            <a:off x="4445172" y="1899658"/>
            <a:ext cx="934800" cy="538200"/>
          </a:xfrm>
          <a:prstGeom prst="rect">
            <a:avLst/>
          </a:prstGeom>
          <a:solidFill>
            <a:srgbClr val="D0EB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Capstone: Amplify your business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8" name="Google Shape;148;p18"/>
          <p:cNvSpPr txBox="1"/>
          <p:nvPr/>
        </p:nvSpPr>
        <p:spPr>
          <a:xfrm>
            <a:off x="393675" y="1533308"/>
            <a:ext cx="498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Week 3: </a:t>
            </a:r>
            <a:r>
              <a:rPr b="1" lang="uk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Amplify </a:t>
            </a:r>
            <a:r>
              <a:rPr lang="uk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with multi-agent systems and MCP  </a:t>
            </a:r>
            <a:endParaRPr i="0" sz="1200" u="none" cap="none" strike="noStrike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pSp>
        <p:nvGrpSpPr>
          <p:cNvPr id="149" name="Google Shape;149;p18"/>
          <p:cNvGrpSpPr/>
          <p:nvPr/>
        </p:nvGrpSpPr>
        <p:grpSpPr>
          <a:xfrm>
            <a:off x="837139" y="852239"/>
            <a:ext cx="1215893" cy="323100"/>
            <a:chOff x="316825" y="809164"/>
            <a:chExt cx="1215893" cy="323100"/>
          </a:xfrm>
        </p:grpSpPr>
        <p:sp>
          <p:nvSpPr>
            <p:cNvPr id="150" name="Google Shape;150;p18"/>
            <p:cNvSpPr/>
            <p:nvPr/>
          </p:nvSpPr>
          <p:spPr>
            <a:xfrm>
              <a:off x="316825" y="879951"/>
              <a:ext cx="237300" cy="178500"/>
            </a:xfrm>
            <a:prstGeom prst="rect">
              <a:avLst/>
            </a:prstGeom>
            <a:solidFill>
              <a:srgbClr val="CAA5DC"/>
            </a:solidFill>
            <a:ln cap="flat" cmpd="sng" w="9525">
              <a:solidFill>
                <a:srgbClr val="572A6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51" name="Google Shape;151;p18"/>
            <p:cNvSpPr txBox="1"/>
            <p:nvPr/>
          </p:nvSpPr>
          <p:spPr>
            <a:xfrm>
              <a:off x="541818" y="809164"/>
              <a:ext cx="9909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9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Core skills</a:t>
              </a:r>
              <a:endParaRPr b="0" i="0" sz="9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152" name="Google Shape;152;p18"/>
          <p:cNvGrpSpPr/>
          <p:nvPr/>
        </p:nvGrpSpPr>
        <p:grpSpPr>
          <a:xfrm>
            <a:off x="2278877" y="852239"/>
            <a:ext cx="1215893" cy="323100"/>
            <a:chOff x="1670575" y="809164"/>
            <a:chExt cx="1215893" cy="323100"/>
          </a:xfrm>
        </p:grpSpPr>
        <p:sp>
          <p:nvSpPr>
            <p:cNvPr id="153" name="Google Shape;153;p18"/>
            <p:cNvSpPr/>
            <p:nvPr/>
          </p:nvSpPr>
          <p:spPr>
            <a:xfrm>
              <a:off x="1670575" y="879951"/>
              <a:ext cx="237300" cy="178500"/>
            </a:xfrm>
            <a:prstGeom prst="rect">
              <a:avLst/>
            </a:prstGeom>
            <a:solidFill>
              <a:srgbClr val="FBE097"/>
            </a:solidFill>
            <a:ln cap="flat" cmpd="sng" w="9525">
              <a:solidFill>
                <a:srgbClr val="B1810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54" name="Google Shape;154;p18"/>
            <p:cNvSpPr txBox="1"/>
            <p:nvPr/>
          </p:nvSpPr>
          <p:spPr>
            <a:xfrm>
              <a:off x="1895568" y="809164"/>
              <a:ext cx="9909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9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Integrations</a:t>
              </a:r>
              <a:endParaRPr b="0" i="0" sz="9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155" name="Google Shape;155;p18"/>
          <p:cNvGrpSpPr/>
          <p:nvPr/>
        </p:nvGrpSpPr>
        <p:grpSpPr>
          <a:xfrm>
            <a:off x="3720614" y="852239"/>
            <a:ext cx="1215893" cy="323100"/>
            <a:chOff x="3200300" y="809164"/>
            <a:chExt cx="1215893" cy="323100"/>
          </a:xfrm>
        </p:grpSpPr>
        <p:sp>
          <p:nvSpPr>
            <p:cNvPr id="156" name="Google Shape;156;p18"/>
            <p:cNvSpPr/>
            <p:nvPr/>
          </p:nvSpPr>
          <p:spPr>
            <a:xfrm>
              <a:off x="3200300" y="879951"/>
              <a:ext cx="237300" cy="178500"/>
            </a:xfrm>
            <a:prstGeom prst="rect">
              <a:avLst/>
            </a:prstGeom>
            <a:solidFill>
              <a:srgbClr val="D0EBF8"/>
            </a:solidFill>
            <a:ln cap="flat" cmpd="sng" w="9525">
              <a:solidFill>
                <a:srgbClr val="1775A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57" name="Google Shape;157;p18"/>
            <p:cNvSpPr txBox="1"/>
            <p:nvPr/>
          </p:nvSpPr>
          <p:spPr>
            <a:xfrm>
              <a:off x="3425293" y="809164"/>
              <a:ext cx="9909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9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Projects</a:t>
              </a:r>
              <a:endParaRPr b="0" i="0" sz="9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9"/>
          <p:cNvSpPr/>
          <p:nvPr/>
        </p:nvSpPr>
        <p:spPr>
          <a:xfrm>
            <a:off x="3429000" y="-25"/>
            <a:ext cx="19569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>
            <a:off x="3538375" y="230275"/>
            <a:ext cx="1751100" cy="46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uk" sz="2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Agentic AI Builder: Low-Code AI Agents &amp; Voice Agents in n8n</a:t>
            </a:r>
            <a:endParaRPr b="1" sz="2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48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80%</a:t>
            </a:r>
            <a:endParaRPr sz="48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18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Complete</a:t>
            </a:r>
            <a:endParaRPr sz="18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164" name="Google Shape;16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25"/>
            <a:ext cx="3429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32147"/>
      </a:dk1>
      <a:lt1>
        <a:srgbClr val="FFFFFF"/>
      </a:lt1>
      <a:dk2>
        <a:srgbClr val="032147"/>
      </a:dk2>
      <a:lt2>
        <a:srgbClr val="EEEEEE"/>
      </a:lt2>
      <a:accent1>
        <a:srgbClr val="209DD7"/>
      </a:accent1>
      <a:accent2>
        <a:srgbClr val="753991"/>
      </a:accent2>
      <a:accent3>
        <a:srgbClr val="ECAD0A"/>
      </a:accent3>
      <a:accent4>
        <a:srgbClr val="4CBB17"/>
      </a:accent4>
      <a:accent5>
        <a:srgbClr val="BC101F"/>
      </a:accent5>
      <a:accent6>
        <a:srgbClr val="BC101F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