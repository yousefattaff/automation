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c72b8d8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3c72b8d8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676c49979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8676c49979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c72b8d8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b3c72b8d8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3c72b8d8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b3c72b8d8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c72b8d84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b3c72b8d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3c72b8d84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b3c72b8d84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c72b8d84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3c72b8d84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c72b8d84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b3c72b8d84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3c72b8d8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b3c72b8d8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676c499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8676c499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625102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major innovation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 Agentic AI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Setting the stage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16814" y="1598154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accent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..is </a:t>
            </a:r>
            <a:r>
              <a:rPr b="1" lang="uk" sz="2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uk" sz="2400">
                <a:solidFill>
                  <a:schemeClr val="accent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MCP!</a:t>
            </a:r>
            <a:endParaRPr b="0" i="0" sz="2400" u="none" cap="none" strike="noStrike">
              <a:solidFill>
                <a:schemeClr val="accent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16814" y="2201606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is </a:t>
            </a:r>
            <a:r>
              <a:rPr b="1" lang="uk" sz="24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316814" y="2805058"/>
            <a:ext cx="4881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Or, the idea that LLMs can generate tokens to describe </a:t>
            </a:r>
            <a:r>
              <a:rPr b="1" lang="uk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tool to use</a:t>
            </a: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based on </a:t>
            </a:r>
            <a:r>
              <a:rPr b="1" lang="uk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a tool does</a:t>
            </a: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 i="0" sz="18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316814" y="3870211"/>
            <a:ext cx="4429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There’s a ton of hype around MCP,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some of it is warranted and some is misplaced -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hype should be around </a:t>
            </a:r>
            <a:r>
              <a:rPr b="1" lang="uk" sz="18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lang="uk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So, what is MCP?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76789" y="3446086"/>
            <a:ext cx="4429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Context Protocol from Anthropic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“The usb-c port for AI applications”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“an open-source standard for connecting AI applications to external systems” 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89" y="651302"/>
            <a:ext cx="4093187" cy="272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 practice: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657214" y="1037764"/>
            <a:ext cx="4429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use Tools written by someone else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share your Tools with others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connect LLMs with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game-changer is the ADOPTION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57225" y="3127202"/>
            <a:ext cx="44631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the interface, not the tools themselves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an agreed standard, not major innovation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Still might be ‘passing fad’ - there are new evolving ways to integrate LLMs with Tools like Skills and Code Mode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19000" y="1023850"/>
            <a:ext cx="148500" cy="162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19000" y="3116200"/>
            <a:ext cx="148500" cy="162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Technicality 1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80239" y="622836"/>
            <a:ext cx="4429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pieces of the puzzle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5" name="Google Shape;125;p19"/>
          <p:cNvGrpSpPr/>
          <p:nvPr/>
        </p:nvGrpSpPr>
        <p:grpSpPr>
          <a:xfrm>
            <a:off x="380250" y="1116325"/>
            <a:ext cx="2076900" cy="3418200"/>
            <a:chOff x="380250" y="1116325"/>
            <a:chExt cx="2076900" cy="3418200"/>
          </a:xfrm>
        </p:grpSpPr>
        <p:sp>
          <p:nvSpPr>
            <p:cNvPr id="126" name="Google Shape;126;p19"/>
            <p:cNvSpPr/>
            <p:nvPr/>
          </p:nvSpPr>
          <p:spPr>
            <a:xfrm>
              <a:off x="380250" y="1116325"/>
              <a:ext cx="2076900" cy="3418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rgbClr val="F7F7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505593" y="1240350"/>
              <a:ext cx="1681500" cy="9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2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Host</a:t>
              </a:r>
              <a:endParaRPr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Like,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Claude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AI App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n8n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28" name="Google Shape;128;p19"/>
          <p:cNvSpPr/>
          <p:nvPr/>
        </p:nvSpPr>
        <p:spPr>
          <a:xfrm>
            <a:off x="1175800" y="253335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175800" y="3150875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175800" y="376840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604600" y="253335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2604600" y="3150875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604600" y="376840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" name="Google Shape;134;p19"/>
          <p:cNvCxnSpPr>
            <a:stCxn id="128" idx="3"/>
            <a:endCxn id="131" idx="1"/>
          </p:cNvCxnSpPr>
          <p:nvPr/>
        </p:nvCxnSpPr>
        <p:spPr>
          <a:xfrm>
            <a:off x="2187100" y="279030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35" name="Google Shape;135;p19"/>
          <p:cNvCxnSpPr/>
          <p:nvPr/>
        </p:nvCxnSpPr>
        <p:spPr>
          <a:xfrm>
            <a:off x="2187100" y="3429475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36" name="Google Shape;136;p19"/>
          <p:cNvCxnSpPr/>
          <p:nvPr/>
        </p:nvCxnSpPr>
        <p:spPr>
          <a:xfrm>
            <a:off x="2187100" y="402535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Technicality 2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380239" y="622836"/>
            <a:ext cx="4429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transport mechanisms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380250" y="2138525"/>
            <a:ext cx="2076900" cy="2396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440718" y="2211063"/>
            <a:ext cx="168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MCP Host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1175800" y="253335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175800" y="3150875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175800" y="376840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2604600" y="253335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2604600" y="3150875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604600" y="376840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" name="Google Shape;151;p20"/>
          <p:cNvCxnSpPr>
            <a:stCxn id="145" idx="3"/>
            <a:endCxn id="148" idx="1"/>
          </p:cNvCxnSpPr>
          <p:nvPr/>
        </p:nvCxnSpPr>
        <p:spPr>
          <a:xfrm>
            <a:off x="2187100" y="279030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2187100" y="3429475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2187100" y="402535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54" name="Google Shape;154;p20"/>
          <p:cNvSpPr txBox="1"/>
          <p:nvPr/>
        </p:nvSpPr>
        <p:spPr>
          <a:xfrm>
            <a:off x="380239" y="1082561"/>
            <a:ext cx="4429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stdio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MCP server runs on your computer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sse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a legacy approach now deprecated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Streamable HTTP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the updated version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ways to use MCP with n8n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0" name="Google Shape;160;p21"/>
          <p:cNvGrpSpPr/>
          <p:nvPr/>
        </p:nvGrpSpPr>
        <p:grpSpPr>
          <a:xfrm>
            <a:off x="209050" y="622836"/>
            <a:ext cx="4600389" cy="1452389"/>
            <a:chOff x="209050" y="622836"/>
            <a:chExt cx="4600389" cy="1452389"/>
          </a:xfrm>
        </p:grpSpPr>
        <p:sp>
          <p:nvSpPr>
            <p:cNvPr id="161" name="Google Shape;161;p21"/>
            <p:cNvSpPr/>
            <p:nvPr/>
          </p:nvSpPr>
          <p:spPr>
            <a:xfrm>
              <a:off x="209050" y="641525"/>
              <a:ext cx="4429200" cy="14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380239" y="622836"/>
              <a:ext cx="44292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460726" y="956930"/>
              <a:ext cx="15192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MCP Client node to use someone else’s tool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4" name="Google Shape;16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71689" y="716963"/>
              <a:ext cx="2153923" cy="1282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21"/>
          <p:cNvGrpSpPr/>
          <p:nvPr/>
        </p:nvGrpSpPr>
        <p:grpSpPr>
          <a:xfrm>
            <a:off x="209050" y="2131425"/>
            <a:ext cx="4429200" cy="2261400"/>
            <a:chOff x="209050" y="2131425"/>
            <a:chExt cx="4429200" cy="2261400"/>
          </a:xfrm>
        </p:grpSpPr>
        <p:sp>
          <p:nvSpPr>
            <p:cNvPr id="166" name="Google Shape;166;p21"/>
            <p:cNvSpPr/>
            <p:nvPr/>
          </p:nvSpPr>
          <p:spPr>
            <a:xfrm>
              <a:off x="209050" y="2131425"/>
              <a:ext cx="4429200" cy="2261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460726" y="2584297"/>
              <a:ext cx="1519200" cy="11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MCP Server Trigger to share your workflow as a tool</a:t>
              </a:r>
              <a:endParaRPr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168" name="Google Shape;16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71689" y="2182350"/>
              <a:ext cx="2153926" cy="21583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21"/>
          <p:cNvGrpSpPr/>
          <p:nvPr/>
        </p:nvGrpSpPr>
        <p:grpSpPr>
          <a:xfrm>
            <a:off x="209050" y="4449025"/>
            <a:ext cx="4803349" cy="602100"/>
            <a:chOff x="209050" y="4449025"/>
            <a:chExt cx="4803349" cy="602100"/>
          </a:xfrm>
        </p:grpSpPr>
        <p:sp>
          <p:nvSpPr>
            <p:cNvPr id="170" name="Google Shape;170;p21"/>
            <p:cNvSpPr/>
            <p:nvPr/>
          </p:nvSpPr>
          <p:spPr>
            <a:xfrm>
              <a:off x="209050" y="4449025"/>
              <a:ext cx="4429200" cy="602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1"/>
            <p:cNvSpPr txBox="1"/>
            <p:nvPr/>
          </p:nvSpPr>
          <p:spPr>
            <a:xfrm>
              <a:off x="233399" y="4511084"/>
              <a:ext cx="47790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Instance-level MCP: A global </a:t>
              </a: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setting</a:t>
              </a: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give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 access to workflows in an n8n instance </a:t>
              </a:r>
              <a:endParaRPr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MCP isn’t as common with n8n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77" name="Google Shape;177;p22"/>
          <p:cNvGrpSpPr/>
          <p:nvPr/>
        </p:nvGrpSpPr>
        <p:grpSpPr>
          <a:xfrm>
            <a:off x="631950" y="952700"/>
            <a:ext cx="4252775" cy="1229700"/>
            <a:chOff x="631950" y="952700"/>
            <a:chExt cx="4252775" cy="1229700"/>
          </a:xfrm>
        </p:grpSpPr>
        <p:sp>
          <p:nvSpPr>
            <p:cNvPr id="178" name="Google Shape;178;p22"/>
            <p:cNvSpPr txBox="1"/>
            <p:nvPr/>
          </p:nvSpPr>
          <p:spPr>
            <a:xfrm>
              <a:off x="2168225" y="1317500"/>
              <a:ext cx="27165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n8n doesn’t support stdio / local MCP</a:t>
              </a:r>
              <a:endParaRPr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631950" y="952700"/>
              <a:ext cx="1229700" cy="122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4200"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4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0" name="Google Shape;180;p22"/>
          <p:cNvGrpSpPr/>
          <p:nvPr/>
        </p:nvGrpSpPr>
        <p:grpSpPr>
          <a:xfrm>
            <a:off x="631950" y="2476700"/>
            <a:ext cx="4252775" cy="1229700"/>
            <a:chOff x="631950" y="2476700"/>
            <a:chExt cx="4252775" cy="1229700"/>
          </a:xfrm>
        </p:grpSpPr>
        <p:sp>
          <p:nvSpPr>
            <p:cNvPr id="181" name="Google Shape;181;p22"/>
            <p:cNvSpPr/>
            <p:nvPr/>
          </p:nvSpPr>
          <p:spPr>
            <a:xfrm>
              <a:off x="631950" y="2476700"/>
              <a:ext cx="1229700" cy="122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4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4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2168225" y="2733650"/>
              <a:ext cx="2716500" cy="7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n8n already has off-the-shelf Tool Nodes for so many major integrations!</a:t>
              </a:r>
              <a:endParaRPr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Structured Outputs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powerful feature we used last time: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75" y="3176091"/>
            <a:ext cx="2221399" cy="7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75" y="1083472"/>
            <a:ext cx="4310902" cy="202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125" y="3176100"/>
            <a:ext cx="1979049" cy="174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8" name="Google Shape;218;p24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19" name="Google Shape;219;p24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1" name="Google Shape;221;p24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22" name="Google Shape;222;p24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4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4" name="Google Shape;224;p24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25" name="Google Shape;225;p24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4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