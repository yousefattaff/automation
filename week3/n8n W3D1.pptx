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Montserrat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22" Type="http://schemas.openxmlformats.org/officeDocument/2006/relationships/font" Target="fonts/MontserratMedium-regular.fntdata"/><Relationship Id="rId21" Type="http://schemas.openxmlformats.org/officeDocument/2006/relationships/font" Target="fonts/Montserrat-boldItalic.fntdata"/><Relationship Id="rId24" Type="http://schemas.openxmlformats.org/officeDocument/2006/relationships/font" Target="fonts/MontserratMedium-italic.fntdata"/><Relationship Id="rId23" Type="http://schemas.openxmlformats.org/officeDocument/2006/relationships/font" Target="fonts/Montserra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19" Type="http://schemas.openxmlformats.org/officeDocument/2006/relationships/font" Target="fonts/Montserrat-bold.fntdata"/><Relationship Id="rId1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2f4f2e7e1_0_3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2f4f2e7e1_0_3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31ccab5f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g3b31ccab5f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676c49979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8676c49979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676c49979_0_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8676c49979_0_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35746c3b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g3b35746c3b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676c49979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8676c49979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 txBox="1"/>
          <p:nvPr/>
        </p:nvSpPr>
        <p:spPr>
          <a:xfrm>
            <a:off x="-5" y="150275"/>
            <a:ext cx="5143500" cy="43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Prepare to earn your Black Belt</a:t>
            </a:r>
            <a:endParaRPr b="0" i="0" sz="2400" u="none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CAA5DC"/>
          </a:solidFill>
          <a:ln cap="flat" cmpd="sng" w="28575">
            <a:solidFill>
              <a:srgbClr val="58296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90" name="Google Shape;90;p16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91" name="Google Shape;91;p16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6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3" name="Google Shape;93;p16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94" name="Google Shape;94;p16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5" name="Google Shape;95;p16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7" name="Google Shape;97;p16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8" name="Google Shape;98;p16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270975" y="2696882"/>
            <a:ext cx="4409700" cy="1819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298000" y="2734907"/>
            <a:ext cx="4345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rgbClr val="CAA5DC"/>
                </a:solidFill>
                <a:latin typeface="Montserrat"/>
                <a:ea typeface="Montserrat"/>
                <a:cs typeface="Montserrat"/>
                <a:sym typeface="Montserrat"/>
              </a:rPr>
              <a:t>n8n self hosted</a:t>
            </a:r>
            <a:endParaRPr b="1">
              <a:solidFill>
                <a:srgbClr val="CAA5D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CAA5D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Free (fair-code)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Total control &amp; flexibility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Private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but</a:t>
            </a:r>
            <a:endParaRPr b="1" i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Time-consuming</a:t>
            </a: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setup and maintenance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Webhooks need workarounds (“tunnels”)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OAuth is tricky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270975" y="805400"/>
            <a:ext cx="4409700" cy="17898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298000" y="855936"/>
            <a:ext cx="4345200" cy="17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rgbClr val="FBE097"/>
                </a:solidFill>
                <a:latin typeface="Montserrat"/>
                <a:ea typeface="Montserrat"/>
                <a:cs typeface="Montserrat"/>
                <a:sym typeface="Montserrat"/>
              </a:rPr>
              <a:t>n8n cloud</a:t>
            </a:r>
            <a:endParaRPr b="1">
              <a:solidFill>
                <a:srgbClr val="FBE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BE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Instant setup, easy maintenance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Publicly reachable webhooks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Simpler OAuth integrations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but</a:t>
            </a:r>
            <a:endParaRPr b="1" i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Subscription pricing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Less control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Less privacy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297989" y="1319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Cloud vs Self-Hosted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270975" y="4562950"/>
            <a:ext cx="440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n8n self-hosted can then be deployed on your server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(but we won’t cover that on this course)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/>
        </p:nvSpPr>
        <p:spPr>
          <a:xfrm>
            <a:off x="316814" y="5710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Authentication patterns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316814" y="241826"/>
            <a:ext cx="2442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uk" sz="8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Recap</a:t>
            </a:r>
            <a:endParaRPr b="0" i="0" sz="800" u="none" cap="none" strike="noStrike">
              <a:solidFill>
                <a:srgbClr val="88888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5" name="Google Shape;115;p18"/>
          <p:cNvGrpSpPr/>
          <p:nvPr/>
        </p:nvGrpSpPr>
        <p:grpSpPr>
          <a:xfrm>
            <a:off x="148477" y="1300688"/>
            <a:ext cx="5867674" cy="1002900"/>
            <a:chOff x="148477" y="1300688"/>
            <a:chExt cx="5867674" cy="1002900"/>
          </a:xfrm>
        </p:grpSpPr>
        <p:sp>
          <p:nvSpPr>
            <p:cNvPr id="116" name="Google Shape;116;p18"/>
            <p:cNvSpPr txBox="1"/>
            <p:nvPr/>
          </p:nvSpPr>
          <p:spPr>
            <a:xfrm>
              <a:off x="1216450" y="153170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Easy: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API Key Based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8"/>
            <p:cNvSpPr txBox="1"/>
            <p:nvPr/>
          </p:nvSpPr>
          <p:spPr>
            <a:xfrm>
              <a:off x="1216450" y="1753474"/>
              <a:ext cx="47997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Simple password-based access to the third party 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8"/>
            <p:cNvSpPr/>
            <p:nvPr/>
          </p:nvSpPr>
          <p:spPr>
            <a:xfrm>
              <a:off x="148477" y="1300688"/>
              <a:ext cx="1002900" cy="10029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9" name="Google Shape;119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2525" y="1471122"/>
              <a:ext cx="698650" cy="69862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0" name="Google Shape;120;p18"/>
          <p:cNvGrpSpPr/>
          <p:nvPr/>
        </p:nvGrpSpPr>
        <p:grpSpPr>
          <a:xfrm>
            <a:off x="148477" y="2479125"/>
            <a:ext cx="5961873" cy="1002900"/>
            <a:chOff x="148477" y="2479125"/>
            <a:chExt cx="5961873" cy="1002900"/>
          </a:xfrm>
        </p:grpSpPr>
        <p:sp>
          <p:nvSpPr>
            <p:cNvPr id="121" name="Google Shape;121;p18"/>
            <p:cNvSpPr txBox="1"/>
            <p:nvPr/>
          </p:nvSpPr>
          <p:spPr>
            <a:xfrm>
              <a:off x="1216450" y="2701650"/>
              <a:ext cx="48939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Medium: 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Login-style, pre-configured OAuth2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8"/>
            <p:cNvSpPr txBox="1"/>
            <p:nvPr/>
          </p:nvSpPr>
          <p:spPr>
            <a:xfrm>
              <a:off x="1216450" y="2923426"/>
              <a:ext cx="479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One click - n8n has already done the setup, like Google Sheets and Gmail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Authenticating for a specific end-user of the product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148477" y="2479125"/>
              <a:ext cx="1002900" cy="1002900"/>
            </a:xfrm>
            <a:prstGeom prst="ellipse">
              <a:avLst/>
            </a:prstGeom>
            <a:solidFill>
              <a:srgbClr val="58296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4" name="Google Shape;124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27757" y="2658435"/>
              <a:ext cx="644332" cy="6443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8"/>
          <p:cNvGrpSpPr/>
          <p:nvPr/>
        </p:nvGrpSpPr>
        <p:grpSpPr>
          <a:xfrm>
            <a:off x="148477" y="3657563"/>
            <a:ext cx="5867674" cy="1002900"/>
            <a:chOff x="148477" y="3657563"/>
            <a:chExt cx="5867674" cy="1002900"/>
          </a:xfrm>
        </p:grpSpPr>
        <p:sp>
          <p:nvSpPr>
            <p:cNvPr id="126" name="Google Shape;126;p18"/>
            <p:cNvSpPr txBox="1"/>
            <p:nvPr/>
          </p:nvSpPr>
          <p:spPr>
            <a:xfrm>
              <a:off x="1216450" y="3880091"/>
              <a:ext cx="4799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lang="uk" sz="1200">
                  <a:solidFill>
                    <a:schemeClr val="accent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Hard:</a:t>
              </a:r>
              <a:r>
                <a:rPr lang="uk" sz="12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OAuth2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8"/>
            <p:cNvSpPr txBox="1"/>
            <p:nvPr/>
          </p:nvSpPr>
          <p:spPr>
            <a:xfrm>
              <a:off x="1216450" y="4101863"/>
              <a:ext cx="4799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complete multi-step way to build a custom authenticated integration</a:t>
              </a:r>
              <a:endParaRPr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lang="uk" sz="900">
                  <a:solidFill>
                    <a:srgbClr val="88888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REQUIRES PATIENCE AND THICK SKIN</a:t>
              </a:r>
              <a:endParaRPr b="1" sz="900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148477" y="3657563"/>
              <a:ext cx="1002900" cy="1002900"/>
            </a:xfrm>
            <a:prstGeom prst="ellipse">
              <a:avLst/>
            </a:prstGeom>
            <a:solidFill>
              <a:srgbClr val="3A1D4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29" name="Google Shape;129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27750" y="3880090"/>
              <a:ext cx="644349" cy="64434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2487725" y="999503"/>
            <a:ext cx="1946700" cy="303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2534375" y="1912293"/>
            <a:ext cx="1853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rgbClr val="CAA5DC"/>
                </a:solidFill>
                <a:latin typeface="Montserrat"/>
                <a:ea typeface="Montserrat"/>
                <a:cs typeface="Montserrat"/>
                <a:sym typeface="Montserrat"/>
              </a:rPr>
              <a:t>Commercial</a:t>
            </a:r>
            <a:endParaRPr b="1">
              <a:solidFill>
                <a:srgbClr val="CAA5D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CAA5D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Optional: try local once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Then back to cloud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Sign up for paid plan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Consider local later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270975" y="999500"/>
            <a:ext cx="2130600" cy="3033000"/>
          </a:xfrm>
          <a:prstGeom prst="rect">
            <a:avLst/>
          </a:prstGeom>
          <a:solidFill>
            <a:srgbClr val="B18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298000" y="1882335"/>
            <a:ext cx="20169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rgbClr val="FBE097"/>
                </a:solidFill>
                <a:latin typeface="Montserrat"/>
                <a:ea typeface="Montserrat"/>
                <a:cs typeface="Montserrat"/>
                <a:sym typeface="Montserrat"/>
              </a:rPr>
              <a:t>Technical</a:t>
            </a:r>
            <a:endParaRPr b="1">
              <a:solidFill>
                <a:srgbClr val="FBE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FBE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Try local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Run ngrok for webhooks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advanced OAuth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rgbClr val="FBE097"/>
                </a:solidFill>
                <a:latin typeface="Montserrat"/>
                <a:ea typeface="Montserrat"/>
                <a:cs typeface="Montserrat"/>
                <a:sym typeface="Montserrat"/>
              </a:rPr>
              <a:t>Extra </a:t>
            </a:r>
            <a:r>
              <a:rPr b="1" lang="uk">
                <a:solidFill>
                  <a:srgbClr val="FBE097"/>
                </a:solidFill>
                <a:latin typeface="Montserrat"/>
                <a:ea typeface="Montserrat"/>
                <a:cs typeface="Montserrat"/>
                <a:sym typeface="Montserrat"/>
              </a:rPr>
              <a:t>Technical</a:t>
            </a:r>
            <a:endParaRPr b="1">
              <a:solidFill>
                <a:srgbClr val="FBE09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Ollama + local models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Deploy to a server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297989" y="131938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Fork in the road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298000" y="4231175"/>
            <a:ext cx="440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 will set up local now, do a demo, then go back to the cloud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but you can stay local!</a:t>
            </a:r>
            <a:endParaRPr i="1" sz="1000">
              <a:solidFill>
                <a:schemeClr val="dk1"/>
              </a:solidFill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0107" y="1090385"/>
            <a:ext cx="821930" cy="82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851" y="1076925"/>
            <a:ext cx="805423" cy="80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Agentic AI Builder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First n8n AI Agent Live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Foundations: Agentic AI and n8n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Integrations with docs and email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and integrations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Daily Portfolio Rebalancer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Automate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workflows in n8n cloud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888888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Voice Agents with ElevenLabs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Integrating ElevenLabs and n8n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RAG and Agentic RAG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Supabase Vectors and Data ingest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1775A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Product Expert Voice Agent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Accelerate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with Voice Agents and RAG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5829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Self-hosted n8n and Local LLMs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Advanced Integrations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Context Engineering, Sub-Agents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Capstone: Amplify your business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Week 3: </a:t>
            </a: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Amplify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multi-agent systems and MCP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68" name="Google Shape;168;p20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169" name="Google Shape;169;p20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2278877" y="852239"/>
            <a:ext cx="1215893" cy="323100"/>
            <a:chOff x="1670575" y="809164"/>
            <a:chExt cx="1215893" cy="323100"/>
          </a:xfrm>
        </p:grpSpPr>
        <p:sp>
          <p:nvSpPr>
            <p:cNvPr id="172" name="Google Shape;172;p20"/>
            <p:cNvSpPr/>
            <p:nvPr/>
          </p:nvSpPr>
          <p:spPr>
            <a:xfrm>
              <a:off x="16705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189556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Integrations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74" name="Google Shape;174;p20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175" name="Google Shape;175;p20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1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AI Builder: Low-Code AI Agents &amp; Voice Agents in n8n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73%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