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Montserrat SemiBold"/>
      <p:regular r:id="rId20"/>
      <p:bold r:id="rId21"/>
      <p:italic r:id="rId22"/>
      <p:boldItalic r:id="rId23"/>
    </p:embeddedFont>
    <p:embeddedFont>
      <p:font typeface="Montserrat"/>
      <p:regular r:id="rId24"/>
      <p:bold r:id="rId25"/>
      <p:italic r:id="rId26"/>
      <p:boldItalic r:id="rId27"/>
    </p:embeddedFont>
    <p:embeddedFont>
      <p:font typeface="Montserrat Medium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SemiBold-regular.fntdata"/><Relationship Id="rId22" Type="http://schemas.openxmlformats.org/officeDocument/2006/relationships/font" Target="fonts/MontserratSemiBold-italic.fntdata"/><Relationship Id="rId21" Type="http://schemas.openxmlformats.org/officeDocument/2006/relationships/font" Target="fonts/MontserratSemiBold-bold.fntdata"/><Relationship Id="rId24" Type="http://schemas.openxmlformats.org/officeDocument/2006/relationships/font" Target="fonts/Montserrat-regular.fntdata"/><Relationship Id="rId23" Type="http://schemas.openxmlformats.org/officeDocument/2006/relationships/font" Target="fonts/MontserratSemiBold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italic.fntdata"/><Relationship Id="rId25" Type="http://schemas.openxmlformats.org/officeDocument/2006/relationships/font" Target="fonts/Montserrat-bold.fntdata"/><Relationship Id="rId28" Type="http://schemas.openxmlformats.org/officeDocument/2006/relationships/font" Target="fonts/MontserratMedium-regular.fntdata"/><Relationship Id="rId27" Type="http://schemas.openxmlformats.org/officeDocument/2006/relationships/font" Target="fonts/Montserra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Medium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Medium-boldItalic.fntdata"/><Relationship Id="rId30" Type="http://schemas.openxmlformats.org/officeDocument/2006/relationships/font" Target="fonts/MontserratMedium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7158c58547_0_3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" name="Google Shape;53;g37158c58547_0_3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8676c49979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" name="Google Shape;60;g38676c49979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b3c72b8d84_0_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" name="Google Shape;95;g3b3c72b8d84_0_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3c72b8d84_0_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" name="Google Shape;102;g3b3c72b8d84_0_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3c72b8d84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" name="Google Shape;109;g3b3c72b8d84_0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3dd265689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g3b3dd265689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b3dd265689_0_1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g3b3dd265689_0_1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b3dd265689_0_1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" name="Google Shape;147;g3b3dd265689_0_1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b3dd265689_0_1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g3b3dd265689_0_1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b3dd265689_0_2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3" name="Google Shape;173;g3b3dd265689_0_2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b3dd265689_0_2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" name="Google Shape;183;g3b3dd265689_0_2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b3dd265689_0_2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9" name="Google Shape;189;g3b3dd265689_0_2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b3ef7d4447_0_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g3b3ef7d4447_0_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4558ba40b8_0_3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2" name="Google Shape;242;g34558ba40b8_0_3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ий слайд 1">
  <p:cSld name="Титульний слайд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SemiBold"/>
              <a:buNone/>
              <a:defRPr sz="2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Relationship Id="rId5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3429000" y="-25"/>
            <a:ext cx="19569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Google Shape;56;p14"/>
          <p:cNvSpPr txBox="1"/>
          <p:nvPr/>
        </p:nvSpPr>
        <p:spPr>
          <a:xfrm>
            <a:off x="3538375" y="230275"/>
            <a:ext cx="1751100" cy="45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uk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Agentic AI Builder: Low-Code AI Agents &amp; Voice Agents in n8n</a:t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Week 3</a:t>
            </a:r>
            <a:endParaRPr sz="1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Day 4</a:t>
            </a:r>
            <a:endParaRPr sz="1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57" name="Google Shape;5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/>
        </p:nvSpPr>
        <p:spPr>
          <a:xfrm>
            <a:off x="316814" y="1138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 Weeks to Agentic AI Builder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243825" y="3743708"/>
            <a:ext cx="5247000" cy="1029000"/>
          </a:xfrm>
          <a:prstGeom prst="rect">
            <a:avLst/>
          </a:prstGeom>
          <a:solidFill>
            <a:srgbClr val="888888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384025" y="41100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First n8n AI Agent Live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1395072" y="41100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Foundations: Agentic AI and n8n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15"/>
          <p:cNvSpPr/>
          <p:nvPr/>
        </p:nvSpPr>
        <p:spPr>
          <a:xfrm>
            <a:off x="2406118" y="41100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Integrations with docs and email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3417153" y="41100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Data and integrations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" name="Google Shape;68;p15"/>
          <p:cNvSpPr/>
          <p:nvPr/>
        </p:nvSpPr>
        <p:spPr>
          <a:xfrm>
            <a:off x="4445172" y="4110058"/>
            <a:ext cx="934800" cy="538200"/>
          </a:xfrm>
          <a:prstGeom prst="rect">
            <a:avLst/>
          </a:prstGeom>
          <a:solidFill>
            <a:srgbClr val="1775A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Daily Portfolio Rebalancer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393675" y="37437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Week 1: Automate</a:t>
            </a:r>
            <a:r>
              <a:rPr lang="uk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with workflows in n8n cloud</a:t>
            </a:r>
            <a:endParaRPr b="0" i="0" sz="12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243825" y="2638508"/>
            <a:ext cx="5247000" cy="1029000"/>
          </a:xfrm>
          <a:prstGeom prst="rect">
            <a:avLst/>
          </a:prstGeom>
          <a:solidFill>
            <a:srgbClr val="888888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384025" y="30048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Voice Agents with ElevenLabs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1395072" y="30048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Integrating ElevenLabs and n8n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2406118" y="30048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RAG and Agentic RAG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3417153" y="30048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Supabase Vectors and Data ingest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4445172" y="3004858"/>
            <a:ext cx="934800" cy="538200"/>
          </a:xfrm>
          <a:prstGeom prst="rect">
            <a:avLst/>
          </a:prstGeom>
          <a:solidFill>
            <a:srgbClr val="1775A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Product Expert Voice Agent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393675" y="26385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Week 2: Accelerate</a:t>
            </a:r>
            <a:r>
              <a:rPr lang="uk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with Voice Agents and RAG</a:t>
            </a:r>
            <a:endParaRPr b="0" i="0" sz="12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243825" y="15333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384025" y="18996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Self-hosted n8n and Local LLMs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1395072" y="18996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Advanced Integrations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2406118" y="18996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MCP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3417153" y="1899658"/>
            <a:ext cx="934800" cy="538200"/>
          </a:xfrm>
          <a:prstGeom prst="rect">
            <a:avLst/>
          </a:prstGeom>
          <a:solidFill>
            <a:srgbClr val="CAA5DC"/>
          </a:solidFill>
          <a:ln cap="flat" cmpd="sng" w="28575">
            <a:solidFill>
              <a:srgbClr val="5829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Context Engineering, Sub-Agents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4445172" y="18996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Capstone: Amplify your business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393675" y="15333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Week 3: </a:t>
            </a: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Amplify 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with multi-agent systems and MCP  </a:t>
            </a:r>
            <a:endParaRPr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84" name="Google Shape;84;p15"/>
          <p:cNvGrpSpPr/>
          <p:nvPr/>
        </p:nvGrpSpPr>
        <p:grpSpPr>
          <a:xfrm>
            <a:off x="837139" y="852239"/>
            <a:ext cx="1215893" cy="323100"/>
            <a:chOff x="316825" y="809164"/>
            <a:chExt cx="1215893" cy="323100"/>
          </a:xfrm>
        </p:grpSpPr>
        <p:sp>
          <p:nvSpPr>
            <p:cNvPr id="85" name="Google Shape;85;p15"/>
            <p:cNvSpPr/>
            <p:nvPr/>
          </p:nvSpPr>
          <p:spPr>
            <a:xfrm>
              <a:off x="316825" y="879951"/>
              <a:ext cx="237300" cy="178500"/>
            </a:xfrm>
            <a:prstGeom prst="rect">
              <a:avLst/>
            </a:prstGeom>
            <a:solidFill>
              <a:srgbClr val="CAA5DC"/>
            </a:solidFill>
            <a:ln cap="flat" cmpd="sng" w="9525">
              <a:solidFill>
                <a:srgbClr val="572A6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6" name="Google Shape;86;p15"/>
            <p:cNvSpPr txBox="1"/>
            <p:nvPr/>
          </p:nvSpPr>
          <p:spPr>
            <a:xfrm>
              <a:off x="54181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Core skills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87" name="Google Shape;87;p15"/>
          <p:cNvGrpSpPr/>
          <p:nvPr/>
        </p:nvGrpSpPr>
        <p:grpSpPr>
          <a:xfrm>
            <a:off x="2278877" y="852239"/>
            <a:ext cx="1215893" cy="323100"/>
            <a:chOff x="1670575" y="809164"/>
            <a:chExt cx="1215893" cy="323100"/>
          </a:xfrm>
        </p:grpSpPr>
        <p:sp>
          <p:nvSpPr>
            <p:cNvPr id="88" name="Google Shape;88;p15"/>
            <p:cNvSpPr/>
            <p:nvPr/>
          </p:nvSpPr>
          <p:spPr>
            <a:xfrm>
              <a:off x="1670575" y="879951"/>
              <a:ext cx="237300" cy="178500"/>
            </a:xfrm>
            <a:prstGeom prst="rect">
              <a:avLst/>
            </a:prstGeom>
            <a:solidFill>
              <a:srgbClr val="FBE097"/>
            </a:solidFill>
            <a:ln cap="flat" cmpd="sng" w="9525">
              <a:solidFill>
                <a:srgbClr val="B1810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9" name="Google Shape;89;p15"/>
            <p:cNvSpPr txBox="1"/>
            <p:nvPr/>
          </p:nvSpPr>
          <p:spPr>
            <a:xfrm>
              <a:off x="189556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Integrations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90" name="Google Shape;90;p15"/>
          <p:cNvGrpSpPr/>
          <p:nvPr/>
        </p:nvGrpSpPr>
        <p:grpSpPr>
          <a:xfrm>
            <a:off x="3720614" y="852239"/>
            <a:ext cx="1215893" cy="323100"/>
            <a:chOff x="3200300" y="809164"/>
            <a:chExt cx="1215893" cy="323100"/>
          </a:xfrm>
        </p:grpSpPr>
        <p:sp>
          <p:nvSpPr>
            <p:cNvPr id="91" name="Google Shape;91;p15"/>
            <p:cNvSpPr/>
            <p:nvPr/>
          </p:nvSpPr>
          <p:spPr>
            <a:xfrm>
              <a:off x="3200300" y="879951"/>
              <a:ext cx="237300" cy="178500"/>
            </a:xfrm>
            <a:prstGeom prst="rect">
              <a:avLst/>
            </a:prstGeom>
            <a:solidFill>
              <a:srgbClr val="D0EBF8"/>
            </a:solidFill>
            <a:ln cap="flat" cmpd="sng" w="9525">
              <a:solidFill>
                <a:srgbClr val="1775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92" name="Google Shape;92;p15"/>
            <p:cNvSpPr txBox="1"/>
            <p:nvPr/>
          </p:nvSpPr>
          <p:spPr>
            <a:xfrm>
              <a:off x="3425293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Projects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/>
        </p:nvSpPr>
        <p:spPr>
          <a:xfrm>
            <a:off x="316814" y="146727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So, what is MCP?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376789" y="3446086"/>
            <a:ext cx="4429200" cy="13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Model Context Protocol from Anthropic</a:t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“The usb-c port for AI applications”</a:t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“an open-source standard for connecting AI applications to external systems” </a:t>
            </a:r>
            <a:endParaRPr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99" name="Google Shape;9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789" y="651302"/>
            <a:ext cx="4093187" cy="27287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/>
          <p:nvPr/>
        </p:nvSpPr>
        <p:spPr>
          <a:xfrm>
            <a:off x="316814" y="146727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two ways to use MCP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05" name="Google Shape;105;p17"/>
          <p:cNvSpPr/>
          <p:nvPr/>
        </p:nvSpPr>
        <p:spPr>
          <a:xfrm>
            <a:off x="402150" y="847075"/>
            <a:ext cx="5099100" cy="1766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600">
                <a:latin typeface="Montserrat"/>
                <a:ea typeface="Montserrat"/>
                <a:cs typeface="Montserrat"/>
                <a:sym typeface="Montserrat"/>
              </a:rPr>
              <a:t>An easy way to use someone else’s tool</a:t>
            </a:r>
            <a:endParaRPr b="1"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latin typeface="Montserrat"/>
                <a:ea typeface="Montserrat"/>
                <a:cs typeface="Montserrat"/>
                <a:sym typeface="Montserrat"/>
              </a:rPr>
              <a:t>We made use of Firecrawl and Hunter.io tools via MCP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uk" sz="1200">
                <a:latin typeface="Montserrat"/>
                <a:ea typeface="Montserrat"/>
                <a:cs typeface="Montserrat"/>
                <a:sym typeface="Montserrat"/>
              </a:rPr>
              <a:t>To be precise: we created MCP Client Nodes that connected to the Firecrawl and Hunter.io MCP Server nodes</a:t>
            </a:r>
            <a:endParaRPr i="1"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" name="Google Shape;106;p17"/>
          <p:cNvSpPr/>
          <p:nvPr/>
        </p:nvSpPr>
        <p:spPr>
          <a:xfrm>
            <a:off x="402150" y="2770400"/>
            <a:ext cx="5099100" cy="1766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An easy way to share a tool</a:t>
            </a:r>
            <a:endParaRPr b="1"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We turned our entire Prospecting sub-agent into a tool which we made available as an MCP Server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We created an MCP Server Trigger and we connected it to the Claude Chat app</a:t>
            </a:r>
            <a:endParaRPr i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/>
          <p:nvPr/>
        </p:nvSpPr>
        <p:spPr>
          <a:xfrm>
            <a:off x="238239" y="190238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Recap: Structured Outputs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12" name="Google Shape;11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700" y="2795326"/>
            <a:ext cx="2352425" cy="74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8700" y="702700"/>
            <a:ext cx="4155351" cy="1949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78050" y="2795325"/>
            <a:ext cx="1725999" cy="1521351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8"/>
          <p:cNvSpPr txBox="1"/>
          <p:nvPr/>
        </p:nvSpPr>
        <p:spPr>
          <a:xfrm>
            <a:off x="141275" y="4429250"/>
            <a:ext cx="4737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2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Often either Tools or Structured Outputs can be used to achieve the same business goal.</a:t>
            </a:r>
            <a:endParaRPr sz="12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2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Structured Outputs is the ‘boring but bullet-proof’ choice.</a:t>
            </a:r>
            <a:endParaRPr sz="12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/>
        </p:nvSpPr>
        <p:spPr>
          <a:xfrm>
            <a:off x="316814" y="571013"/>
            <a:ext cx="84489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new skill is</a:t>
            </a:r>
            <a:b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Context Engineering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1" name="Google Shape;121;p19"/>
          <p:cNvSpPr txBox="1"/>
          <p:nvPr/>
        </p:nvSpPr>
        <p:spPr>
          <a:xfrm>
            <a:off x="316832" y="241825"/>
            <a:ext cx="3842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uk" sz="8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THE SUCCESSOR TO PROMPT ENGINEERING:</a:t>
            </a:r>
            <a:endParaRPr b="0" i="0" sz="800" u="none" cap="none" strike="noStrike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22" name="Google Shape;122;p19"/>
          <p:cNvGrpSpPr/>
          <p:nvPr/>
        </p:nvGrpSpPr>
        <p:grpSpPr>
          <a:xfrm>
            <a:off x="166602" y="1542438"/>
            <a:ext cx="5867674" cy="1002900"/>
            <a:chOff x="166602" y="1542438"/>
            <a:chExt cx="5867674" cy="1002900"/>
          </a:xfrm>
        </p:grpSpPr>
        <p:grpSp>
          <p:nvGrpSpPr>
            <p:cNvPr id="123" name="Google Shape;123;p19"/>
            <p:cNvGrpSpPr/>
            <p:nvPr/>
          </p:nvGrpSpPr>
          <p:grpSpPr>
            <a:xfrm>
              <a:off x="1234575" y="1773451"/>
              <a:ext cx="4799700" cy="544873"/>
              <a:chOff x="1564455" y="2218001"/>
              <a:chExt cx="6399600" cy="726497"/>
            </a:xfrm>
          </p:grpSpPr>
          <p:sp>
            <p:nvSpPr>
              <p:cNvPr id="124" name="Google Shape;124;p19"/>
              <p:cNvSpPr txBox="1"/>
              <p:nvPr/>
            </p:nvSpPr>
            <p:spPr>
              <a:xfrm>
                <a:off x="1564455" y="2218001"/>
                <a:ext cx="6399600" cy="492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uk" sz="1200">
                    <a:solidFill>
                      <a:schemeClr val="dk1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LLMs can only process a limited size of input</a:t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" name="Google Shape;125;p19"/>
              <p:cNvSpPr txBox="1"/>
              <p:nvPr/>
            </p:nvSpPr>
            <p:spPr>
              <a:xfrm>
                <a:off x="1564455" y="2513698"/>
                <a:ext cx="6399600" cy="430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lang="uk" sz="900">
                    <a:solidFill>
                      <a:srgbClr val="888888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The ‘context window’ includes all the conversation so far</a:t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6" name="Google Shape;126;p19"/>
            <p:cNvSpPr/>
            <p:nvPr/>
          </p:nvSpPr>
          <p:spPr>
            <a:xfrm>
              <a:off x="166602" y="1542438"/>
              <a:ext cx="1002900" cy="1002900"/>
            </a:xfrm>
            <a:prstGeom prst="ellipse">
              <a:avLst/>
            </a:prstGeom>
            <a:solidFill>
              <a:srgbClr val="B179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27" name="Google Shape;127;p1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52262" y="1734263"/>
              <a:ext cx="631575" cy="6315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8" name="Google Shape;128;p19"/>
          <p:cNvGrpSpPr/>
          <p:nvPr/>
        </p:nvGrpSpPr>
        <p:grpSpPr>
          <a:xfrm>
            <a:off x="166602" y="2720875"/>
            <a:ext cx="5867674" cy="1002900"/>
            <a:chOff x="166602" y="2720875"/>
            <a:chExt cx="5867674" cy="1002900"/>
          </a:xfrm>
        </p:grpSpPr>
        <p:grpSp>
          <p:nvGrpSpPr>
            <p:cNvPr id="129" name="Google Shape;129;p19"/>
            <p:cNvGrpSpPr/>
            <p:nvPr/>
          </p:nvGrpSpPr>
          <p:grpSpPr>
            <a:xfrm>
              <a:off x="1234575" y="2943403"/>
              <a:ext cx="4799700" cy="544873"/>
              <a:chOff x="1317134" y="2218001"/>
              <a:chExt cx="6399600" cy="726497"/>
            </a:xfrm>
          </p:grpSpPr>
          <p:sp>
            <p:nvSpPr>
              <p:cNvPr id="130" name="Google Shape;130;p19"/>
              <p:cNvSpPr txBox="1"/>
              <p:nvPr/>
            </p:nvSpPr>
            <p:spPr>
              <a:xfrm>
                <a:off x="1317134" y="2218001"/>
                <a:ext cx="6399600" cy="49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uk" sz="1200">
                    <a:solidFill>
                      <a:schemeClr val="dk1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More tools gives more flexibility but takes space</a:t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" name="Google Shape;131;p19"/>
              <p:cNvSpPr txBox="1"/>
              <p:nvPr/>
            </p:nvSpPr>
            <p:spPr>
              <a:xfrm>
                <a:off x="1317134" y="2513698"/>
                <a:ext cx="6399600" cy="430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lang="uk" sz="900">
                    <a:solidFill>
                      <a:srgbClr val="888888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The model can lose coherence resulting in unreliable outcomes</a:t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2" name="Google Shape;132;p19"/>
            <p:cNvSpPr/>
            <p:nvPr/>
          </p:nvSpPr>
          <p:spPr>
            <a:xfrm>
              <a:off x="166602" y="2720875"/>
              <a:ext cx="1002900" cy="1002900"/>
            </a:xfrm>
            <a:prstGeom prst="ellipse">
              <a:avLst/>
            </a:prstGeom>
            <a:solidFill>
              <a:srgbClr val="58296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33" name="Google Shape;133;p1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52247" y="2965025"/>
              <a:ext cx="588850" cy="5888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4" name="Google Shape;134;p19"/>
          <p:cNvGrpSpPr/>
          <p:nvPr/>
        </p:nvGrpSpPr>
        <p:grpSpPr>
          <a:xfrm>
            <a:off x="166602" y="3899313"/>
            <a:ext cx="5867674" cy="1002900"/>
            <a:chOff x="166602" y="3899313"/>
            <a:chExt cx="5867674" cy="1002900"/>
          </a:xfrm>
        </p:grpSpPr>
        <p:grpSp>
          <p:nvGrpSpPr>
            <p:cNvPr id="135" name="Google Shape;135;p19"/>
            <p:cNvGrpSpPr/>
            <p:nvPr/>
          </p:nvGrpSpPr>
          <p:grpSpPr>
            <a:xfrm>
              <a:off x="1234575" y="4121841"/>
              <a:ext cx="4799700" cy="544873"/>
              <a:chOff x="1317134" y="2218001"/>
              <a:chExt cx="6399600" cy="726497"/>
            </a:xfrm>
          </p:grpSpPr>
          <p:sp>
            <p:nvSpPr>
              <p:cNvPr id="136" name="Google Shape;136;p19"/>
              <p:cNvSpPr txBox="1"/>
              <p:nvPr/>
            </p:nvSpPr>
            <p:spPr>
              <a:xfrm>
                <a:off x="1317134" y="2218001"/>
                <a:ext cx="6399600" cy="49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uk" sz="1200">
                    <a:solidFill>
                      <a:schemeClr val="dk1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Context Engineering is the art of fitting it in perfectly</a:t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" name="Google Shape;137;p19"/>
              <p:cNvSpPr txBox="1"/>
              <p:nvPr/>
            </p:nvSpPr>
            <p:spPr>
              <a:xfrm>
                <a:off x="1317134" y="2513698"/>
                <a:ext cx="6399600" cy="430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lang="uk" sz="900">
                    <a:solidFill>
                      <a:srgbClr val="888888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The best selection of prompts, tools and structured outputs for the goal</a:t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8" name="Google Shape;138;p19"/>
            <p:cNvSpPr/>
            <p:nvPr/>
          </p:nvSpPr>
          <p:spPr>
            <a:xfrm>
              <a:off x="166602" y="3899313"/>
              <a:ext cx="1002900" cy="1002900"/>
            </a:xfrm>
            <a:prstGeom prst="ellipse">
              <a:avLst/>
            </a:prstGeom>
            <a:solidFill>
              <a:srgbClr val="3A1D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39" name="Google Shape;139;p1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73625" y="4106350"/>
              <a:ext cx="588850" cy="5888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7275" y="-42137"/>
            <a:ext cx="5465277" cy="52277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1"/>
          <p:cNvSpPr txBox="1"/>
          <p:nvPr/>
        </p:nvSpPr>
        <p:spPr>
          <a:xfrm>
            <a:off x="316814" y="5710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Sub-Agents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50" name="Google Shape;150;p21"/>
          <p:cNvSpPr txBox="1"/>
          <p:nvPr/>
        </p:nvSpPr>
        <p:spPr>
          <a:xfrm>
            <a:off x="316832" y="241825"/>
            <a:ext cx="3842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uk" sz="8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A CORE AGENTIC AI PATTERN</a:t>
            </a:r>
            <a:endParaRPr b="0" i="0" sz="800" u="none" cap="none" strike="noStrike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" name="Google Shape;151;p21"/>
          <p:cNvSpPr txBox="1"/>
          <p:nvPr/>
        </p:nvSpPr>
        <p:spPr>
          <a:xfrm>
            <a:off x="657226" y="1271582"/>
            <a:ext cx="4639500" cy="15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>
                <a:solidFill>
                  <a:srgbClr val="03214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Divide into smaller, independently testable steps</a:t>
            </a:r>
            <a:endParaRPr>
              <a:solidFill>
                <a:srgbClr val="0321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>
              <a:solidFill>
                <a:srgbClr val="0321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>
                <a:solidFill>
                  <a:srgbClr val="03214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Good for reuse - share the same sub-agent</a:t>
            </a:r>
            <a:endParaRPr>
              <a:solidFill>
                <a:srgbClr val="0321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>
              <a:solidFill>
                <a:srgbClr val="0321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>
                <a:solidFill>
                  <a:srgbClr val="03214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Optimizes context window</a:t>
            </a:r>
            <a:endParaRPr>
              <a:solidFill>
                <a:srgbClr val="0321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>
              <a:solidFill>
                <a:srgbClr val="0321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>
                <a:solidFill>
                  <a:srgbClr val="03214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Easily implemented in n8n with sub-workflows</a:t>
            </a:r>
            <a:endParaRPr>
              <a:solidFill>
                <a:srgbClr val="0321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52" name="Google Shape;152;p21"/>
          <p:cNvSpPr txBox="1"/>
          <p:nvPr/>
        </p:nvSpPr>
        <p:spPr>
          <a:xfrm>
            <a:off x="657225" y="3127202"/>
            <a:ext cx="4463100" cy="13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>
                <a:solidFill>
                  <a:srgbClr val="03214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Beware the Trap! Don’t anthropomorphize</a:t>
            </a:r>
            <a:endParaRPr>
              <a:solidFill>
                <a:srgbClr val="0321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>
              <a:solidFill>
                <a:srgbClr val="0321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>
                <a:solidFill>
                  <a:srgbClr val="03214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Reduces Autonomy; the model has less flexibility on how to tackle problems</a:t>
            </a:r>
            <a:endParaRPr>
              <a:solidFill>
                <a:srgbClr val="0321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>
              <a:solidFill>
                <a:srgbClr val="0321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>
                <a:solidFill>
                  <a:srgbClr val="03214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Typically, more to build! (But easier to test)</a:t>
            </a:r>
            <a:endParaRPr>
              <a:solidFill>
                <a:srgbClr val="0321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53" name="Google Shape;153;p21"/>
          <p:cNvSpPr/>
          <p:nvPr/>
        </p:nvSpPr>
        <p:spPr>
          <a:xfrm>
            <a:off x="419000" y="1257657"/>
            <a:ext cx="148500" cy="1627500"/>
          </a:xfrm>
          <a:prstGeom prst="rect">
            <a:avLst/>
          </a:prstGeom>
          <a:solidFill>
            <a:srgbClr val="4CBB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" name="Google Shape;154;p21"/>
          <p:cNvSpPr/>
          <p:nvPr/>
        </p:nvSpPr>
        <p:spPr>
          <a:xfrm>
            <a:off x="419000" y="3116200"/>
            <a:ext cx="148500" cy="1452600"/>
          </a:xfrm>
          <a:prstGeom prst="rect">
            <a:avLst/>
          </a:prstGeom>
          <a:solidFill>
            <a:srgbClr val="BC10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2"/>
          <p:cNvSpPr txBox="1"/>
          <p:nvPr/>
        </p:nvSpPr>
        <p:spPr>
          <a:xfrm>
            <a:off x="316814" y="5710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“Lethal Trifecta”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60" name="Google Shape;160;p22"/>
          <p:cNvSpPr txBox="1"/>
          <p:nvPr/>
        </p:nvSpPr>
        <p:spPr>
          <a:xfrm>
            <a:off x="316832" y="241825"/>
            <a:ext cx="3842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uk" sz="8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The crucial security term coined by Simon Willison:</a:t>
            </a:r>
            <a:endParaRPr b="0" i="0" sz="800" u="none" cap="none" strike="noStrike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61" name="Google Shape;161;p22"/>
          <p:cNvGrpSpPr/>
          <p:nvPr/>
        </p:nvGrpSpPr>
        <p:grpSpPr>
          <a:xfrm>
            <a:off x="1030525" y="1178925"/>
            <a:ext cx="3000000" cy="2046600"/>
            <a:chOff x="1030525" y="1178925"/>
            <a:chExt cx="3000000" cy="2046600"/>
          </a:xfrm>
        </p:grpSpPr>
        <p:sp>
          <p:nvSpPr>
            <p:cNvPr id="162" name="Google Shape;162;p22"/>
            <p:cNvSpPr/>
            <p:nvPr/>
          </p:nvSpPr>
          <p:spPr>
            <a:xfrm>
              <a:off x="1505950" y="1178925"/>
              <a:ext cx="2046600" cy="2046600"/>
            </a:xfrm>
            <a:prstGeom prst="ellipse">
              <a:avLst/>
            </a:prstGeom>
            <a:solidFill>
              <a:srgbClr val="209DD7">
                <a:alpha val="5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63" name="Google Shape;163;p22"/>
            <p:cNvSpPr txBox="1"/>
            <p:nvPr/>
          </p:nvSpPr>
          <p:spPr>
            <a:xfrm>
              <a:off x="1030525" y="1783136"/>
              <a:ext cx="30000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Access to</a:t>
              </a:r>
              <a:br>
                <a:rPr lang="uk" sz="1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uk" sz="1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private data</a:t>
              </a:r>
              <a:endParaRPr/>
            </a:p>
          </p:txBody>
        </p:sp>
      </p:grpSp>
      <p:grpSp>
        <p:nvGrpSpPr>
          <p:cNvPr id="164" name="Google Shape;164;p22"/>
          <p:cNvGrpSpPr/>
          <p:nvPr/>
        </p:nvGrpSpPr>
        <p:grpSpPr>
          <a:xfrm>
            <a:off x="721925" y="2491158"/>
            <a:ext cx="2099703" cy="2046600"/>
            <a:chOff x="721925" y="2491158"/>
            <a:chExt cx="2099703" cy="2046600"/>
          </a:xfrm>
        </p:grpSpPr>
        <p:sp>
          <p:nvSpPr>
            <p:cNvPr id="165" name="Google Shape;165;p22"/>
            <p:cNvSpPr/>
            <p:nvPr/>
          </p:nvSpPr>
          <p:spPr>
            <a:xfrm>
              <a:off x="775028" y="2491158"/>
              <a:ext cx="2046600" cy="2046600"/>
            </a:xfrm>
            <a:prstGeom prst="ellipse">
              <a:avLst/>
            </a:prstGeom>
            <a:solidFill>
              <a:srgbClr val="753991">
                <a:alpha val="5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66" name="Google Shape;166;p22"/>
            <p:cNvSpPr txBox="1"/>
            <p:nvPr/>
          </p:nvSpPr>
          <p:spPr>
            <a:xfrm>
              <a:off x="721925" y="3394825"/>
              <a:ext cx="17649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Ability to</a:t>
              </a:r>
              <a:br>
                <a:rPr lang="uk" sz="1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uk" sz="1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communicate</a:t>
              </a:r>
              <a:br>
                <a:rPr lang="uk" sz="1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uk" sz="1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externally</a:t>
              </a:r>
              <a:endParaRPr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67" name="Google Shape;167;p22"/>
          <p:cNvGrpSpPr/>
          <p:nvPr/>
        </p:nvGrpSpPr>
        <p:grpSpPr>
          <a:xfrm>
            <a:off x="1954125" y="2491158"/>
            <a:ext cx="3000000" cy="2046600"/>
            <a:chOff x="1954125" y="2491158"/>
            <a:chExt cx="3000000" cy="2046600"/>
          </a:xfrm>
        </p:grpSpPr>
        <p:sp>
          <p:nvSpPr>
            <p:cNvPr id="168" name="Google Shape;168;p22"/>
            <p:cNvSpPr/>
            <p:nvPr/>
          </p:nvSpPr>
          <p:spPr>
            <a:xfrm>
              <a:off x="2299028" y="2491158"/>
              <a:ext cx="2046600" cy="2046600"/>
            </a:xfrm>
            <a:prstGeom prst="ellipse">
              <a:avLst/>
            </a:prstGeom>
            <a:solidFill>
              <a:srgbClr val="ECAD0A">
                <a:alpha val="5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69" name="Google Shape;169;p22"/>
            <p:cNvSpPr txBox="1"/>
            <p:nvPr/>
          </p:nvSpPr>
          <p:spPr>
            <a:xfrm>
              <a:off x="1954125" y="3389419"/>
              <a:ext cx="30000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Exposure to</a:t>
              </a:r>
              <a:br>
                <a:rPr lang="uk" sz="1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uk" sz="1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untrusted</a:t>
              </a:r>
              <a:br>
                <a:rPr lang="uk" sz="1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uk" sz="1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content</a:t>
              </a:r>
              <a:endParaRPr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170" name="Google Shape;17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0518" y="2944225"/>
            <a:ext cx="255599" cy="25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3"/>
          <p:cNvSpPr txBox="1"/>
          <p:nvPr/>
        </p:nvSpPr>
        <p:spPr>
          <a:xfrm>
            <a:off x="316814" y="571013"/>
            <a:ext cx="84489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hallmarks of a strong</a:t>
            </a:r>
            <a:endParaRPr sz="24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Agentic solution</a:t>
            </a:r>
            <a:endParaRPr sz="24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76" name="Google Shape;176;p23"/>
          <p:cNvSpPr txBox="1"/>
          <p:nvPr/>
        </p:nvSpPr>
        <p:spPr>
          <a:xfrm>
            <a:off x="316832" y="241825"/>
            <a:ext cx="3842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uk" sz="8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EVALS!</a:t>
            </a:r>
            <a:endParaRPr b="0" i="0" sz="800" u="none" cap="none" strike="noStrike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7" name="Google Shape;177;p23"/>
          <p:cNvSpPr txBox="1"/>
          <p:nvPr/>
        </p:nvSpPr>
        <p:spPr>
          <a:xfrm>
            <a:off x="672850" y="1586702"/>
            <a:ext cx="4463100" cy="15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>
                <a:solidFill>
                  <a:srgbClr val="03214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An anti-pattern is The Trap / anthroporphizing</a:t>
            </a:r>
            <a:endParaRPr>
              <a:solidFill>
                <a:srgbClr val="0321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>
              <a:solidFill>
                <a:srgbClr val="0321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>
                <a:solidFill>
                  <a:srgbClr val="03214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Another red flag is being overly solution focused: I need an Agent for X</a:t>
            </a:r>
            <a:endParaRPr>
              <a:solidFill>
                <a:srgbClr val="0321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>
              <a:solidFill>
                <a:srgbClr val="0321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>
                <a:solidFill>
                  <a:srgbClr val="03214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And another is taking generated content as the goal: “Provide a business strategy for X”</a:t>
            </a:r>
            <a:endParaRPr>
              <a:solidFill>
                <a:srgbClr val="0321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78" name="Google Shape;178;p23"/>
          <p:cNvSpPr/>
          <p:nvPr/>
        </p:nvSpPr>
        <p:spPr>
          <a:xfrm>
            <a:off x="434625" y="1547754"/>
            <a:ext cx="148500" cy="1718100"/>
          </a:xfrm>
          <a:prstGeom prst="rect">
            <a:avLst/>
          </a:prstGeom>
          <a:solidFill>
            <a:srgbClr val="BC10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9" name="Google Shape;179;p23"/>
          <p:cNvSpPr txBox="1"/>
          <p:nvPr/>
        </p:nvSpPr>
        <p:spPr>
          <a:xfrm>
            <a:off x="672847" y="3557582"/>
            <a:ext cx="4639500" cy="13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>
                <a:solidFill>
                  <a:srgbClr val="03214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 clearly identifiable business problem</a:t>
            </a:r>
            <a:endParaRPr>
              <a:solidFill>
                <a:srgbClr val="0321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>
              <a:solidFill>
                <a:srgbClr val="0321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>
                <a:solidFill>
                  <a:srgbClr val="03214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 metric to evaluate with established success criteria</a:t>
            </a:r>
            <a:endParaRPr>
              <a:solidFill>
                <a:srgbClr val="0321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>
              <a:solidFill>
                <a:srgbClr val="0321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>
                <a:solidFill>
                  <a:srgbClr val="03214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Rigorous testing to demonstrate </a:t>
            </a:r>
            <a:r>
              <a:rPr lang="uk">
                <a:solidFill>
                  <a:srgbClr val="03214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criteria</a:t>
            </a:r>
            <a:r>
              <a:rPr lang="uk">
                <a:solidFill>
                  <a:srgbClr val="03214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met</a:t>
            </a:r>
            <a:endParaRPr>
              <a:solidFill>
                <a:srgbClr val="0321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80" name="Google Shape;180;p23"/>
          <p:cNvSpPr/>
          <p:nvPr/>
        </p:nvSpPr>
        <p:spPr>
          <a:xfrm>
            <a:off x="434622" y="3423890"/>
            <a:ext cx="148500" cy="1627500"/>
          </a:xfrm>
          <a:prstGeom prst="rect">
            <a:avLst/>
          </a:prstGeom>
          <a:solidFill>
            <a:srgbClr val="4CBB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51435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4"/>
          <p:cNvSpPr txBox="1"/>
          <p:nvPr/>
        </p:nvSpPr>
        <p:spPr>
          <a:xfrm>
            <a:off x="27075" y="4501175"/>
            <a:ext cx="5066700" cy="538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2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Capstone: Amplify Your Business</a:t>
            </a:r>
            <a:endParaRPr sz="2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5"/>
          <p:cNvSpPr txBox="1"/>
          <p:nvPr/>
        </p:nvSpPr>
        <p:spPr>
          <a:xfrm>
            <a:off x="308539" y="223138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Capstone: </a:t>
            </a: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Amplify</a:t>
            </a: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Your Business</a:t>
            </a:r>
            <a:endParaRPr sz="24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92" name="Google Shape;192;p25"/>
          <p:cNvSpPr txBox="1"/>
          <p:nvPr/>
        </p:nvSpPr>
        <p:spPr>
          <a:xfrm>
            <a:off x="707950" y="893913"/>
            <a:ext cx="5182800" cy="11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>
                <a:solidFill>
                  <a:srgbClr val="03214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Applicable to all businesses, agencies and yourself!</a:t>
            </a:r>
            <a:endParaRPr>
              <a:solidFill>
                <a:srgbClr val="0321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>
              <a:solidFill>
                <a:srgbClr val="0321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>
                <a:solidFill>
                  <a:srgbClr val="03214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An Agentic solution to generate new business</a:t>
            </a:r>
            <a:endParaRPr>
              <a:solidFill>
                <a:srgbClr val="0321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>
              <a:solidFill>
                <a:srgbClr val="0321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>
                <a:solidFill>
                  <a:srgbClr val="03214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Many opportunities to extend</a:t>
            </a:r>
            <a:endParaRPr>
              <a:solidFill>
                <a:srgbClr val="0321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93" name="Google Shape;193;p25"/>
          <p:cNvSpPr/>
          <p:nvPr/>
        </p:nvSpPr>
        <p:spPr>
          <a:xfrm>
            <a:off x="434625" y="861964"/>
            <a:ext cx="148500" cy="1210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4" name="Google Shape;194;p25"/>
          <p:cNvSpPr txBox="1"/>
          <p:nvPr/>
        </p:nvSpPr>
        <p:spPr>
          <a:xfrm>
            <a:off x="434622" y="2323482"/>
            <a:ext cx="46395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>
                <a:solidFill>
                  <a:srgbClr val="03214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1: Outbound Sales</a:t>
            </a:r>
            <a:endParaRPr>
              <a:solidFill>
                <a:srgbClr val="0321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95" name="Google Shape;195;p25"/>
          <p:cNvSpPr/>
          <p:nvPr/>
        </p:nvSpPr>
        <p:spPr>
          <a:xfrm>
            <a:off x="1732725" y="3026475"/>
            <a:ext cx="1822200" cy="712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Business Development Manager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6" name="Google Shape;196;p25"/>
          <p:cNvSpPr/>
          <p:nvPr/>
        </p:nvSpPr>
        <p:spPr>
          <a:xfrm>
            <a:off x="145775" y="4156975"/>
            <a:ext cx="1462800" cy="712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Prospecting sub-agent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7" name="Google Shape;197;p25"/>
          <p:cNvSpPr/>
          <p:nvPr/>
        </p:nvSpPr>
        <p:spPr>
          <a:xfrm>
            <a:off x="1912425" y="4156975"/>
            <a:ext cx="1462800" cy="712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RevOps</a:t>
            </a:r>
            <a:r>
              <a:rPr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sub-agent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8" name="Google Shape;198;p25"/>
          <p:cNvSpPr/>
          <p:nvPr/>
        </p:nvSpPr>
        <p:spPr>
          <a:xfrm>
            <a:off x="3679075" y="4156975"/>
            <a:ext cx="1462800" cy="712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SDR</a:t>
            </a:r>
            <a:br>
              <a:rPr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sub-agent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99" name="Google Shape;199;p25"/>
          <p:cNvGrpSpPr/>
          <p:nvPr/>
        </p:nvGrpSpPr>
        <p:grpSpPr>
          <a:xfrm>
            <a:off x="877175" y="3738675"/>
            <a:ext cx="3533300" cy="418350"/>
            <a:chOff x="877175" y="3738675"/>
            <a:chExt cx="3533300" cy="418350"/>
          </a:xfrm>
        </p:grpSpPr>
        <p:cxnSp>
          <p:nvCxnSpPr>
            <p:cNvPr id="200" name="Google Shape;200;p25"/>
            <p:cNvCxnSpPr>
              <a:stCxn id="195" idx="2"/>
              <a:endCxn id="197" idx="0"/>
            </p:cNvCxnSpPr>
            <p:nvPr/>
          </p:nvCxnSpPr>
          <p:spPr>
            <a:xfrm>
              <a:off x="2643825" y="3738675"/>
              <a:ext cx="0" cy="4182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1" name="Google Shape;201;p25"/>
            <p:cNvCxnSpPr>
              <a:endCxn id="196" idx="0"/>
            </p:cNvCxnSpPr>
            <p:nvPr/>
          </p:nvCxnSpPr>
          <p:spPr>
            <a:xfrm>
              <a:off x="877175" y="3945775"/>
              <a:ext cx="0" cy="2112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2" name="Google Shape;202;p25"/>
            <p:cNvCxnSpPr/>
            <p:nvPr/>
          </p:nvCxnSpPr>
          <p:spPr>
            <a:xfrm>
              <a:off x="4410475" y="3945825"/>
              <a:ext cx="0" cy="2112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3" name="Google Shape;203;p25"/>
            <p:cNvCxnSpPr/>
            <p:nvPr/>
          </p:nvCxnSpPr>
          <p:spPr>
            <a:xfrm rot="10800000">
              <a:off x="879675" y="3954173"/>
              <a:ext cx="35283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04" name="Google Shape;204;p25"/>
          <p:cNvSpPr/>
          <p:nvPr/>
        </p:nvSpPr>
        <p:spPr>
          <a:xfrm>
            <a:off x="145775" y="4156975"/>
            <a:ext cx="1462800" cy="712200"/>
          </a:xfrm>
          <a:prstGeom prst="rect">
            <a:avLst/>
          </a:prstGeom>
          <a:solidFill>
            <a:srgbClr val="B181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Prospecting sub-agent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6"/>
          <p:cNvSpPr txBox="1"/>
          <p:nvPr/>
        </p:nvSpPr>
        <p:spPr>
          <a:xfrm>
            <a:off x="316814" y="1138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 Weeks to Agentic AI Builder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10" name="Google Shape;210;p26"/>
          <p:cNvSpPr/>
          <p:nvPr/>
        </p:nvSpPr>
        <p:spPr>
          <a:xfrm>
            <a:off x="243825" y="3743708"/>
            <a:ext cx="5247000" cy="1029000"/>
          </a:xfrm>
          <a:prstGeom prst="rect">
            <a:avLst/>
          </a:prstGeom>
          <a:solidFill>
            <a:srgbClr val="888888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1" name="Google Shape;211;p26"/>
          <p:cNvSpPr/>
          <p:nvPr/>
        </p:nvSpPr>
        <p:spPr>
          <a:xfrm>
            <a:off x="384025" y="41100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First n8n AI Agent Live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2" name="Google Shape;212;p26"/>
          <p:cNvSpPr/>
          <p:nvPr/>
        </p:nvSpPr>
        <p:spPr>
          <a:xfrm>
            <a:off x="1395072" y="41100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Foundations: Agentic AI and n8n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3" name="Google Shape;213;p26"/>
          <p:cNvSpPr/>
          <p:nvPr/>
        </p:nvSpPr>
        <p:spPr>
          <a:xfrm>
            <a:off x="2406118" y="41100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Integrations with docs and email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4" name="Google Shape;214;p26"/>
          <p:cNvSpPr/>
          <p:nvPr/>
        </p:nvSpPr>
        <p:spPr>
          <a:xfrm>
            <a:off x="3417153" y="41100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Data and integrations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5" name="Google Shape;215;p26"/>
          <p:cNvSpPr/>
          <p:nvPr/>
        </p:nvSpPr>
        <p:spPr>
          <a:xfrm>
            <a:off x="4445172" y="4110058"/>
            <a:ext cx="934800" cy="538200"/>
          </a:xfrm>
          <a:prstGeom prst="rect">
            <a:avLst/>
          </a:prstGeom>
          <a:solidFill>
            <a:srgbClr val="1775A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Daily Portfolio Rebalancer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6" name="Google Shape;216;p26"/>
          <p:cNvSpPr txBox="1"/>
          <p:nvPr/>
        </p:nvSpPr>
        <p:spPr>
          <a:xfrm>
            <a:off x="393675" y="37437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Week 1: Automate</a:t>
            </a:r>
            <a:r>
              <a:rPr lang="uk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with workflows in n8n cloud</a:t>
            </a:r>
            <a:endParaRPr b="0" i="0" sz="12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17" name="Google Shape;217;p26"/>
          <p:cNvSpPr/>
          <p:nvPr/>
        </p:nvSpPr>
        <p:spPr>
          <a:xfrm>
            <a:off x="243825" y="2638508"/>
            <a:ext cx="5247000" cy="1029000"/>
          </a:xfrm>
          <a:prstGeom prst="rect">
            <a:avLst/>
          </a:prstGeom>
          <a:solidFill>
            <a:srgbClr val="888888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8" name="Google Shape;218;p26"/>
          <p:cNvSpPr/>
          <p:nvPr/>
        </p:nvSpPr>
        <p:spPr>
          <a:xfrm>
            <a:off x="384025" y="30048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Voice Agents with ElevenLabs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9" name="Google Shape;219;p26"/>
          <p:cNvSpPr/>
          <p:nvPr/>
        </p:nvSpPr>
        <p:spPr>
          <a:xfrm>
            <a:off x="1395072" y="30048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Integrating ElevenLabs and n8n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0" name="Google Shape;220;p26"/>
          <p:cNvSpPr/>
          <p:nvPr/>
        </p:nvSpPr>
        <p:spPr>
          <a:xfrm>
            <a:off x="2406118" y="30048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RAG and Agentic RAG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1" name="Google Shape;221;p26"/>
          <p:cNvSpPr/>
          <p:nvPr/>
        </p:nvSpPr>
        <p:spPr>
          <a:xfrm>
            <a:off x="3417153" y="30048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Supabase Vectors and Data ingest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2" name="Google Shape;222;p26"/>
          <p:cNvSpPr/>
          <p:nvPr/>
        </p:nvSpPr>
        <p:spPr>
          <a:xfrm>
            <a:off x="4445172" y="3004858"/>
            <a:ext cx="934800" cy="538200"/>
          </a:xfrm>
          <a:prstGeom prst="rect">
            <a:avLst/>
          </a:prstGeom>
          <a:solidFill>
            <a:srgbClr val="1775A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Product Expert Voice Agent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3" name="Google Shape;223;p26"/>
          <p:cNvSpPr txBox="1"/>
          <p:nvPr/>
        </p:nvSpPr>
        <p:spPr>
          <a:xfrm>
            <a:off x="393675" y="26385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Week 2: Accelerate</a:t>
            </a:r>
            <a:r>
              <a:rPr lang="uk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with Voice Agents and RAG</a:t>
            </a:r>
            <a:endParaRPr b="0" i="0" sz="12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24" name="Google Shape;224;p26"/>
          <p:cNvSpPr/>
          <p:nvPr/>
        </p:nvSpPr>
        <p:spPr>
          <a:xfrm>
            <a:off x="243825" y="15333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5" name="Google Shape;225;p26"/>
          <p:cNvSpPr/>
          <p:nvPr/>
        </p:nvSpPr>
        <p:spPr>
          <a:xfrm>
            <a:off x="384025" y="18996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Self-hosted n8n and Local LLMs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6" name="Google Shape;226;p26"/>
          <p:cNvSpPr/>
          <p:nvPr/>
        </p:nvSpPr>
        <p:spPr>
          <a:xfrm>
            <a:off x="1395072" y="18996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Advanced Integrations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7" name="Google Shape;227;p26"/>
          <p:cNvSpPr/>
          <p:nvPr/>
        </p:nvSpPr>
        <p:spPr>
          <a:xfrm>
            <a:off x="2406118" y="18996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MCP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8" name="Google Shape;228;p26"/>
          <p:cNvSpPr/>
          <p:nvPr/>
        </p:nvSpPr>
        <p:spPr>
          <a:xfrm>
            <a:off x="3417153" y="18996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Context Engineering, Sub-Agents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9" name="Google Shape;229;p26"/>
          <p:cNvSpPr/>
          <p:nvPr/>
        </p:nvSpPr>
        <p:spPr>
          <a:xfrm>
            <a:off x="4445172" y="18996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Capstone: Amplify your business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0" name="Google Shape;230;p26"/>
          <p:cNvSpPr txBox="1"/>
          <p:nvPr/>
        </p:nvSpPr>
        <p:spPr>
          <a:xfrm>
            <a:off x="393675" y="15333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Week 3: </a:t>
            </a: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Amplify 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with multi-agent systems and MCP  </a:t>
            </a:r>
            <a:endParaRPr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231" name="Google Shape;231;p26"/>
          <p:cNvGrpSpPr/>
          <p:nvPr/>
        </p:nvGrpSpPr>
        <p:grpSpPr>
          <a:xfrm>
            <a:off x="837139" y="852239"/>
            <a:ext cx="1215893" cy="323100"/>
            <a:chOff x="316825" y="809164"/>
            <a:chExt cx="1215893" cy="323100"/>
          </a:xfrm>
        </p:grpSpPr>
        <p:sp>
          <p:nvSpPr>
            <p:cNvPr id="232" name="Google Shape;232;p26"/>
            <p:cNvSpPr/>
            <p:nvPr/>
          </p:nvSpPr>
          <p:spPr>
            <a:xfrm>
              <a:off x="316825" y="879951"/>
              <a:ext cx="237300" cy="178500"/>
            </a:xfrm>
            <a:prstGeom prst="rect">
              <a:avLst/>
            </a:prstGeom>
            <a:solidFill>
              <a:srgbClr val="CAA5DC"/>
            </a:solidFill>
            <a:ln cap="flat" cmpd="sng" w="9525">
              <a:solidFill>
                <a:srgbClr val="572A6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33" name="Google Shape;233;p26"/>
            <p:cNvSpPr txBox="1"/>
            <p:nvPr/>
          </p:nvSpPr>
          <p:spPr>
            <a:xfrm>
              <a:off x="54181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Core skills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234" name="Google Shape;234;p26"/>
          <p:cNvGrpSpPr/>
          <p:nvPr/>
        </p:nvGrpSpPr>
        <p:grpSpPr>
          <a:xfrm>
            <a:off x="2278877" y="852239"/>
            <a:ext cx="1215893" cy="323100"/>
            <a:chOff x="1670575" y="809164"/>
            <a:chExt cx="1215893" cy="323100"/>
          </a:xfrm>
        </p:grpSpPr>
        <p:sp>
          <p:nvSpPr>
            <p:cNvPr id="235" name="Google Shape;235;p26"/>
            <p:cNvSpPr/>
            <p:nvPr/>
          </p:nvSpPr>
          <p:spPr>
            <a:xfrm>
              <a:off x="1670575" y="879951"/>
              <a:ext cx="237300" cy="178500"/>
            </a:xfrm>
            <a:prstGeom prst="rect">
              <a:avLst/>
            </a:prstGeom>
            <a:solidFill>
              <a:srgbClr val="FBE097"/>
            </a:solidFill>
            <a:ln cap="flat" cmpd="sng" w="9525">
              <a:solidFill>
                <a:srgbClr val="B1810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36" name="Google Shape;236;p26"/>
            <p:cNvSpPr txBox="1"/>
            <p:nvPr/>
          </p:nvSpPr>
          <p:spPr>
            <a:xfrm>
              <a:off x="189556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Integrations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237" name="Google Shape;237;p26"/>
          <p:cNvGrpSpPr/>
          <p:nvPr/>
        </p:nvGrpSpPr>
        <p:grpSpPr>
          <a:xfrm>
            <a:off x="3720614" y="852239"/>
            <a:ext cx="1215893" cy="323100"/>
            <a:chOff x="3200300" y="809164"/>
            <a:chExt cx="1215893" cy="323100"/>
          </a:xfrm>
        </p:grpSpPr>
        <p:sp>
          <p:nvSpPr>
            <p:cNvPr id="238" name="Google Shape;238;p26"/>
            <p:cNvSpPr/>
            <p:nvPr/>
          </p:nvSpPr>
          <p:spPr>
            <a:xfrm>
              <a:off x="3200300" y="879951"/>
              <a:ext cx="237300" cy="178500"/>
            </a:xfrm>
            <a:prstGeom prst="rect">
              <a:avLst/>
            </a:prstGeom>
            <a:solidFill>
              <a:srgbClr val="D0EBF8"/>
            </a:solidFill>
            <a:ln cap="flat" cmpd="sng" w="9525">
              <a:solidFill>
                <a:srgbClr val="1775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39" name="Google Shape;239;p26"/>
            <p:cNvSpPr txBox="1"/>
            <p:nvPr/>
          </p:nvSpPr>
          <p:spPr>
            <a:xfrm>
              <a:off x="3425293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Projects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7"/>
          <p:cNvSpPr/>
          <p:nvPr/>
        </p:nvSpPr>
        <p:spPr>
          <a:xfrm>
            <a:off x="3429000" y="-25"/>
            <a:ext cx="19569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5" name="Google Shape;245;p27"/>
          <p:cNvSpPr txBox="1"/>
          <p:nvPr/>
        </p:nvSpPr>
        <p:spPr>
          <a:xfrm>
            <a:off x="3538375" y="230275"/>
            <a:ext cx="1751100" cy="46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uk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Agentic AI Builder: Low-Code AI Agents &amp; Voice Agents in n8n</a:t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4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93%</a:t>
            </a:r>
            <a:endParaRPr sz="4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Complete</a:t>
            </a:r>
            <a:endParaRPr sz="1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246" name="Google Shape;24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32147"/>
      </a:dk1>
      <a:lt1>
        <a:srgbClr val="FFFFFF"/>
      </a:lt1>
      <a:dk2>
        <a:srgbClr val="032147"/>
      </a:dk2>
      <a:lt2>
        <a:srgbClr val="EEEEEE"/>
      </a:lt2>
      <a:accent1>
        <a:srgbClr val="209DD7"/>
      </a:accent1>
      <a:accent2>
        <a:srgbClr val="753991"/>
      </a:accent2>
      <a:accent3>
        <a:srgbClr val="ECAD0A"/>
      </a:accent3>
      <a:accent4>
        <a:srgbClr val="4CBB17"/>
      </a:accent4>
      <a:accent5>
        <a:srgbClr val="BC101F"/>
      </a:accent5>
      <a:accent6>
        <a:srgbClr val="BC101F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